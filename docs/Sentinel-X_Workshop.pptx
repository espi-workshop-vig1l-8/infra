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7a7f72fc-a659-9d87-ece5-11acb8e9ab52}">
          <p14:sldIdLst>
            <p14:sldId id="256"/>
          </p14:sldIdLst>
        </p14:section>
        <p14:section name="Contexte" id="{534a349b-26ba-65af-1615-1af7d56f1264}">
          <p14:sldIdLst>
            <p14:sldId id="257"/>
            <p14:sldId id="258"/>
          </p14:sldIdLst>
        </p14:section>
        <p14:section name="Architecture" id="{2d24298f-534c-f5e9-6b4d-90e70b0967ea}">
          <p14:sldIdLst>
            <p14:sldId id="259"/>
            <p14:sldId id="260"/>
          </p14:sldIdLst>
        </p14:section>
        <p14:section name="Nœud" id="{8103edad-63ea-8efe-fec0-13919d9262f0}">
          <p14:sldIdLst>
            <p14:sldId id="261"/>
            <p14:sldId id="262"/>
          </p14:sldIdLst>
        </p14:section>
        <p14:section name="Infra" id="{24b67c9a-3837-00e3-8e93-03b478072cb6}">
          <p14:sldIdLst>
            <p14:sldId id="263"/>
          </p14:sldIdLst>
        </p14:section>
        <p14:section name="IA" id="{6cd4c2af-657c-8a93-b707-ae8f0f3d7e18}">
          <p14:sldIdLst>
            <p14:sldId id="264"/>
            <p14:sldId id="265"/>
          </p14:sldIdLst>
        </p14:section>
        <p14:section name="Sécurité" id="{645f70fe-8ab1-9837-2fca-e76dc86c5acb}">
          <p14:sldIdLst>
            <p14:sldId id="266"/>
            <p14:sldId id="267"/>
            <p14:sldId id="268"/>
          </p14:sldIdLst>
        </p14:section>
        <p14:section name="Conclusion" id="{e46de887-7c0f-0489-2136-a849d560f207}">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Bonjour, nous sommes le groupe 04. Sentinel-X est un boîtier de surveillance autonome pour micro-centrales : un ESP32 mesure, une IA locale détecte, et tout est chiffré. Présentation de l'équipe : Julien (infra, cyber, firmware), Lucas (backend, dashboard), Rem (IA), Latif (sécurité).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sujet impose quatre piliers : Edge/IoT, IA locale, infrastructure et cybersécurité. L'interconnexion de toutes les briques est éliminatoire pour la démo, donc nous avons conçu l'ensemble comme un tout.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Quatre chiffres à retenir : TLS 1.2 minimum vérifié côté nœud, deux niveaux d'alerte, 10 dérives lentes sur 10 détectées en simulation avec 0,07 % de fausses alertes, et 37 ms par image pour la vision contre un objectif de 100 ms. Honnêteté : IA évaluée sur données simulées, vision mesurée sur PC de développement.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le Raspberry Pi est remplacé par le portable Linux d'un membre. Il porte la pile Docker, la webcam et le hotspot. Flux : l'ESP32 publie en MQTTS vers Mosquitto, le backend valide et écrit en base, les deux IA alertent via l'API, le dashboard affiche tout. Principe clé : un seul écrivain en base, le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Réseau dédié à la table, WPA2, 2,4 GHz. L'ESP32 a une IP fixe hors plage DHCP. Surface exposée : un seul port, 18883, lié à l'adresse du hotspot uniquement, car Docker contourne le pare-feu de l'hôte pour les ports publiés. Le dashboard n'écoute que sur la boucle locale. Les ports non standard réduisent le bruit mais ne protègent pas : la protection, c'est TLS, l'authentification et les ACL.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nœud ne contient que l'ESP32 et ses capteurs. Le DHT22 est alimenté par une broche GPIO pour que le firmware puisse le redémarrer. Le MQ-2 est sur l'ADC1 car l'ADC2 est inutilisable avec le Wi-Fi. Faute de buzzer, la LED environnement porte les alertes : fixe pour l'avertissement local, clignotante quand l'IA confirme.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format est versionné (v1). Quatre topics : télémétrie toutes les 2 secondes, événement PIR immédiat, statut retenu avec testament MQTT, et commandes dans l'autre sens. Principe de conception : une panne de capteur envoie null, on ne masque jamais une défaillance.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Sept services orchestrés par Docker Compose. Les images tierces sont épinglées par empreinte, tous les conteneurs tournent sans privilèges. Comme la carte Wi-Fi du portable est prise par le hotspot, on construit les images avec Internet avant la démo, puis tout fonctionne hors ligne.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tenir moins de 100 ms par image, on n'exécute pas YOLO en continu : une soustraction de fond MOG2 repère d'abord les mouvements et seuls les grands déclenchent YOLOv8n. Les alertes partent dans un thread séparé, la boucle vidéo n'attend jamais le réseau. Mesure actuelle : 37 ms par image sur le PC de développement ; à confirmer avec la webcam en démo.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sujet interdit les seuils statiques et nous n'avons aucun exemple réel d'anomalie : un modèle supervisé aurait été entraîné sur des données inventées. L'Isolation Forest est non supervisé, il apprend le normal et isole ce qui s'en écarte. Deux niveaux : avertissement après 2 fenêtres anormales, confirmation après 5 avec la LED du nœud qui clignote. Résultats sur données simulées ; les résultats sur vraies mesures sont à ajouter.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 un seul rempart mais plusieurs couches. TLS vérifié côté nœud, un compte et des ACL par nœud, une validation stricte côté backend, le moindre privilège partout, une surface exposée réduite à un port, et des images épinglées. Même si l'ACL laisse passer un message, le backend vérifie que le device_id correspond au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contrôle de sécurité a été testé volontairement dans le mauvais sens : sans CA, sans mot de passe, avec le mauvais compte, avec un jeton insuffisant. Tous les essais échouent comme prévu. Les mesures sur le montage réel (latence ESP32 vers dashboard, CPU et RAM) restent à ajouter.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Nous assumons nos limites. Le durcissement de l'hôte n'est pas pertinent pour un portable utilisé sur place, mais le serait pour un serveur dédié. Côté électronique, le MQ-2 devrait passer par un pont diviseur. Côté IA, il faut plus de données pour apprendre les variations jour/nuit.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Bilan : toutes les briques sont livrées et interconnectées : nœud, infrastructure, backend, dashboard, deux IA, sécurité. Le modèle de prédiction a été réentraîné sur une heure de mesures réelles en salle. Merci, nous sommes prêts pour vos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20B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25880"/>
            <a:ext cx="6035040" cy="1188720"/>
          </a:xfrm>
          <a:prstGeom prst="rect">
            <a:avLst/>
          </a:prstGeom>
          <a:noFill/>
          <a:ln/>
        </p:spPr>
        <p:txBody>
          <a:bodyPr wrap="square" rtlCol="0"/>
          <a:lstStyle>
            <a:lvl1pPr algn="l" indent="0" marL="0">
              <a:buNone/>
              <a:defRPr lang="en-US" sz="7200" b="1" dirty="0">
                <a:solidFill>
                  <a:schemeClr val="bg1"/>
                </a:solidFill>
              </a:defRPr>
            </a:lvl1pPr>
          </a:lstStyle>
          <a:p>
            <a:pPr algn="l" indent="0" marL="0">
              <a:buNone/>
            </a:pPr>
            <a:endParaRPr lang="en-US" sz="7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20B2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49808"/>
            <a:ext cx="11064240" cy="7772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9B3E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49808"/>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5780"/>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9B3E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4.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3.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4.xml"/><Relationship Id="rId10"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3.xml"/><Relationship Id="rId7"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Anneau radar"/>
          <p:cNvSpPr/>
          <p:nvPr/>
        </p:nvSpPr>
        <p:spPr>
          <a:xfrm>
            <a:off x="9052560" y="2788920"/>
            <a:ext cx="1280160" cy="1280160"/>
          </a:xfrm>
          <a:prstGeom prst="ellipse">
            <a:avLst/>
          </a:prstGeom>
          <a:solidFill>
            <a:srgbClr val="FFFFFF">
              <a:alpha val="0"/>
            </a:srgbClr>
          </a:solidFill>
          <a:ln w="28575">
            <a:solidFill>
              <a:srgbClr val="00C9B7">
                <a:alpha val="65000"/>
              </a:srgbClr>
            </a:solidFill>
            <a:prstDash val="solid"/>
          </a:ln>
        </p:spPr>
      </p:sp>
      <p:sp>
        <p:nvSpPr>
          <p:cNvPr id="3" name="Anneau radar"/>
          <p:cNvSpPr/>
          <p:nvPr/>
        </p:nvSpPr>
        <p:spPr>
          <a:xfrm>
            <a:off x="8412480" y="2148840"/>
            <a:ext cx="2560320" cy="2560320"/>
          </a:xfrm>
          <a:prstGeom prst="ellipse">
            <a:avLst/>
          </a:prstGeom>
          <a:solidFill>
            <a:srgbClr val="FFFFFF">
              <a:alpha val="0"/>
            </a:srgbClr>
          </a:solidFill>
          <a:ln w="28575">
            <a:solidFill>
              <a:srgbClr val="6C3BFF">
                <a:alpha val="65000"/>
              </a:srgbClr>
            </a:solidFill>
            <a:prstDash val="solid"/>
          </a:ln>
        </p:spPr>
      </p:sp>
      <p:sp>
        <p:nvSpPr>
          <p:cNvPr id="4" name="Anneau radar"/>
          <p:cNvSpPr/>
          <p:nvPr/>
        </p:nvSpPr>
        <p:spPr>
          <a:xfrm>
            <a:off x="7772400" y="1508760"/>
            <a:ext cx="3840480" cy="3840480"/>
          </a:xfrm>
          <a:prstGeom prst="ellipse">
            <a:avLst/>
          </a:prstGeom>
          <a:solidFill>
            <a:srgbClr val="FFFFFF">
              <a:alpha val="0"/>
            </a:srgbClr>
          </a:solidFill>
          <a:ln w="28575">
            <a:solidFill>
              <a:srgbClr val="FF4F81">
                <a:alpha val="65000"/>
              </a:srgbClr>
            </a:solidFill>
            <a:prstDash val="solid"/>
          </a:ln>
        </p:spPr>
      </p:sp>
      <p:sp>
        <p:nvSpPr>
          <p:cNvPr id="5" name="Anneau radar"/>
          <p:cNvSpPr/>
          <p:nvPr/>
        </p:nvSpPr>
        <p:spPr>
          <a:xfrm>
            <a:off x="7132320" y="868680"/>
            <a:ext cx="5120640" cy="5120640"/>
          </a:xfrm>
          <a:prstGeom prst="ellipse">
            <a:avLst/>
          </a:prstGeom>
          <a:solidFill>
            <a:srgbClr val="FFFFFF">
              <a:alpha val="0"/>
            </a:srgbClr>
          </a:solidFill>
          <a:ln w="28575">
            <a:solidFill>
              <a:srgbClr val="6C3BFF">
                <a:alpha val="65000"/>
              </a:srgbClr>
            </a:solidFill>
            <a:prstDash val="solid"/>
          </a:ln>
        </p:spPr>
      </p:sp>
      <p:sp>
        <p:nvSpPr>
          <p:cNvPr id="6" name="Anneau radar"/>
          <p:cNvSpPr/>
          <p:nvPr/>
        </p:nvSpPr>
        <p:spPr>
          <a:xfrm>
            <a:off x="6492240" y="228600"/>
            <a:ext cx="6400800" cy="6400800"/>
          </a:xfrm>
          <a:prstGeom prst="ellipse">
            <a:avLst/>
          </a:prstGeom>
          <a:solidFill>
            <a:srgbClr val="FFFFFF">
              <a:alpha val="0"/>
            </a:srgbClr>
          </a:solidFill>
          <a:ln w="28575">
            <a:solidFill>
              <a:srgbClr val="00C9B7">
                <a:alpha val="65000"/>
              </a:srgbClr>
            </a:solidFill>
            <a:prstDash val="solid"/>
          </a:ln>
        </p:spPr>
      </p:sp>
      <p:sp>
        <p:nvSpPr>
          <p:cNvPr id="7" name="Balayage radar"/>
          <p:cNvSpPr/>
          <p:nvPr/>
        </p:nvSpPr>
        <p:spPr>
          <a:xfrm flipV="1">
            <a:off x="9692640" y="804672"/>
            <a:ext cx="1828800" cy="2624328"/>
          </a:xfrm>
          <a:prstGeom prst="line">
            <a:avLst/>
          </a:prstGeom>
          <a:noFill/>
          <a:ln w="38100">
            <a:solidFill>
              <a:srgbClr val="00C9B7">
                <a:alpha val="80000"/>
              </a:srgbClr>
            </a:solidFill>
            <a:prstDash val="solid"/>
          </a:ln>
        </p:spPr>
      </p:sp>
      <p:sp>
        <p:nvSpPr>
          <p:cNvPr id="8" name="Point radar"/>
          <p:cNvSpPr/>
          <p:nvPr/>
        </p:nvSpPr>
        <p:spPr>
          <a:xfrm>
            <a:off x="11026469" y="2057534"/>
            <a:ext cx="274320" cy="274320"/>
          </a:xfrm>
          <a:prstGeom prst="ellipse">
            <a:avLst/>
          </a:prstGeom>
          <a:solidFill>
            <a:srgbClr val="FF4F81"/>
          </a:solidFill>
          <a:ln/>
        </p:spPr>
      </p:sp>
      <p:sp>
        <p:nvSpPr>
          <p:cNvPr id="9" name="Point radar"/>
          <p:cNvSpPr/>
          <p:nvPr/>
        </p:nvSpPr>
        <p:spPr>
          <a:xfrm>
            <a:off x="7149566" y="4167521"/>
            <a:ext cx="274320" cy="274320"/>
          </a:xfrm>
          <a:prstGeom prst="ellipse">
            <a:avLst/>
          </a:prstGeom>
          <a:solidFill>
            <a:srgbClr val="FFB400"/>
          </a:solidFill>
          <a:ln/>
        </p:spPr>
      </p:sp>
      <p:sp>
        <p:nvSpPr>
          <p:cNvPr id="10" name="Point radar"/>
          <p:cNvSpPr/>
          <p:nvPr/>
        </p:nvSpPr>
        <p:spPr>
          <a:xfrm>
            <a:off x="10114787" y="4470347"/>
            <a:ext cx="237744" cy="237744"/>
          </a:xfrm>
          <a:prstGeom prst="ellipse">
            <a:avLst/>
          </a:prstGeom>
          <a:solidFill>
            <a:srgbClr val="7ADB4F"/>
          </a:solidFill>
          <a:ln/>
        </p:spPr>
      </p:sp>
      <p:sp>
        <p:nvSpPr>
          <p:cNvPr id="11" name="Point radar"/>
          <p:cNvSpPr/>
          <p:nvPr/>
        </p:nvSpPr>
        <p:spPr>
          <a:xfrm>
            <a:off x="7719806" y="670226"/>
            <a:ext cx="274320" cy="274320"/>
          </a:xfrm>
          <a:prstGeom prst="ellipse">
            <a:avLst/>
          </a:prstGeom>
          <a:solidFill>
            <a:srgbClr val="00C9B7"/>
          </a:solidFill>
          <a:ln/>
        </p:spPr>
      </p:sp>
      <p:sp>
        <p:nvSpPr>
          <p:cNvPr id="12" name="Point radar"/>
          <p:cNvSpPr/>
          <p:nvPr/>
        </p:nvSpPr>
        <p:spPr>
          <a:xfrm>
            <a:off x="11427730" y="706802"/>
            <a:ext cx="201168" cy="201168"/>
          </a:xfrm>
          <a:prstGeom prst="ellipse">
            <a:avLst/>
          </a:prstGeom>
          <a:solidFill>
            <a:srgbClr val="FFFFFF"/>
          </a:solidFill>
          <a:ln/>
        </p:spPr>
      </p:sp>
      <p:sp>
        <p:nvSpPr>
          <p:cNvPr id="13" name="Point radar"/>
          <p:cNvSpPr/>
          <p:nvPr/>
        </p:nvSpPr>
        <p:spPr>
          <a:xfrm>
            <a:off x="11809358" y="4608576"/>
            <a:ext cx="201168" cy="201168"/>
          </a:xfrm>
          <a:prstGeom prst="ellipse">
            <a:avLst/>
          </a:prstGeom>
          <a:solidFill>
            <a:srgbClr val="3D8BFF"/>
          </a:solidFill>
          <a:ln/>
        </p:spPr>
      </p:sp>
      <p:sp>
        <p:nvSpPr>
          <p:cNvPr id="14" name="Pastille FaEye"/>
          <p:cNvSpPr/>
          <p:nvPr/>
        </p:nvSpPr>
        <p:spPr>
          <a:xfrm>
            <a:off x="9189720" y="2926080"/>
            <a:ext cx="1005840" cy="1005840"/>
          </a:xfrm>
          <a:prstGeom prst="ellipse">
            <a:avLst/>
          </a:prstGeom>
          <a:solidFill>
            <a:srgbClr val="00C9B7"/>
          </a:solidFill>
          <a:ln/>
        </p:spPr>
      </p:sp>
      <p:pic>
        <p:nvPicPr>
          <p:cNvPr id="15" name="Image 0" descr="FaEye">    </p:cNvPr>
          <p:cNvPicPr>
            <a:picLocks noChangeAspect="1"/>
          </p:cNvPicPr>
          <p:nvPr/>
        </p:nvPicPr>
        <p:blipFill>
          <a:blip r:embed="rId1"/>
          <a:stretch>
            <a:fillRect/>
          </a:stretch>
        </p:blipFill>
        <p:spPr>
          <a:xfrm>
            <a:off x="9441180" y="3177540"/>
            <a:ext cx="502920" cy="502920"/>
          </a:xfrm>
          <a:prstGeom prst="rect">
            <a:avLst/>
          </a:prstGeom>
        </p:spPr>
      </p:pic>
      <p:sp>
        <p:nvSpPr>
          <p:cNvPr id="16" name="Étiquette"/>
          <p:cNvSpPr/>
          <p:nvPr/>
        </p:nvSpPr>
        <p:spPr>
          <a:xfrm>
            <a:off x="548640" y="548640"/>
            <a:ext cx="4572000" cy="329184"/>
          </a:xfrm>
          <a:prstGeom prst="roundRect">
            <a:avLst>
              <a:gd name="adj" fmla="val 50000"/>
            </a:avLst>
          </a:prstGeom>
          <a:solidFill>
            <a:srgbClr val="00C9B7"/>
          </a:solidFill>
          <a:ln/>
        </p:spPr>
      </p:sp>
      <p:sp>
        <p:nvSpPr>
          <p:cNvPr id="17" name="Text 14"/>
          <p:cNvSpPr txBox="1"/>
          <p:nvPr/>
        </p:nvSpPr>
        <p:spPr>
          <a:xfrm>
            <a:off x="548640" y="548640"/>
            <a:ext cx="4572000" cy="329184"/>
          </a:xfrm>
          <a:prstGeom prst="rect">
            <a:avLst/>
          </a:prstGeom>
          <a:noFill/>
          <a:ln/>
        </p:spPr>
        <p:txBody>
          <a:bodyPr wrap="square" lIns="0" tIns="0" rIns="0" bIns="0" rtlCol="0" anchor="ctr"/>
          <a:lstStyle/>
          <a:p>
            <a:pPr algn="ctr" indent="0" marL="0">
              <a:buNone/>
            </a:pPr>
            <a:r>
              <a:rPr lang="en-US" sz="1100" b="1" dirty="0">
                <a:solidFill>
                  <a:srgbClr val="120B2E"/>
                </a:solidFill>
              </a:rPr>
              <a:t>EPSI · WORKSHOP NATIONAL BAC+4 · OCTOBRE 2026</a:t>
            </a:r>
            <a:endParaRPr lang="en-US" sz="1100" dirty="0"/>
          </a:p>
        </p:txBody>
      </p:sp>
      <p:sp>
        <p:nvSpPr>
          <p:cNvPr id="18" name="Text 0"/>
          <p:cNvSpPr/>
          <p:nvPr>
            <p:ph idx="100" type="title" hasCustomPrompt="1"/>
          </p:nvPr>
        </p:nvSpPr>
        <p:spPr>
          <a:xfrm>
            <a:off x="548640" y="1325880"/>
            <a:ext cx="6035040" cy="1188720"/>
          </a:xfrm>
          <a:prstGeom prst="rect">
            <a:avLst/>
          </a:prstGeom>
          <a:noFill/>
          <a:ln/>
        </p:spPr>
        <p:txBody>
          <a:bodyPr wrap="square" lIns="0" tIns="0" rIns="0" bIns="0" rtlCol="0" anchor="ctr"/>
          <a:lstStyle/>
          <a:p>
            <a:pPr algn="l" indent="0" marL="0">
              <a:buNone/>
            </a:pPr>
            <a:r>
              <a:rPr lang="en-US" sz="7200" b="1" dirty="0">
                <a:solidFill>
                  <a:schemeClr val="bg1"/>
                </a:solidFill>
              </a:rPr>
              <a:t>Sentinel-X</a:t>
            </a:r>
            <a:endParaRPr lang="en-US" sz="7200" dirty="0"/>
          </a:p>
        </p:txBody>
      </p:sp>
      <p:sp>
        <p:nvSpPr>
          <p:cNvPr id="19" name="Text 16"/>
          <p:cNvSpPr txBox="1"/>
          <p:nvPr/>
        </p:nvSpPr>
        <p:spPr>
          <a:xfrm>
            <a:off x="548640" y="2697480"/>
            <a:ext cx="5669280" cy="914400"/>
          </a:xfrm>
          <a:prstGeom prst="rect">
            <a:avLst/>
          </a:prstGeom>
          <a:noFill/>
          <a:ln/>
        </p:spPr>
        <p:txBody>
          <a:bodyPr wrap="square" lIns="0" tIns="0" rIns="0" bIns="0" rtlCol="0" anchor="t"/>
          <a:lstStyle/>
          <a:p>
            <a:pPr indent="0" marL="0">
              <a:buNone/>
            </a:pPr>
            <a:r>
              <a:rPr lang="en-US" sz="2000" dirty="0">
                <a:solidFill>
                  <a:srgbClr val="B9B3E6"/>
                </a:solidFill>
              </a:rPr>
              <a:t>Surveillance autonome pour micro-centrales : de l'ESP32 à l'IA, chiffré de bout en bout</a:t>
            </a:r>
            <a:endParaRPr lang="en-US" sz="2000" dirty="0"/>
          </a:p>
        </p:txBody>
      </p:sp>
      <p:sp>
        <p:nvSpPr>
          <p:cNvPr id="20" name="Étiquette"/>
          <p:cNvSpPr/>
          <p:nvPr/>
        </p:nvSpPr>
        <p:spPr>
          <a:xfrm>
            <a:off x="548640" y="3840480"/>
            <a:ext cx="2103120" cy="365760"/>
          </a:xfrm>
          <a:prstGeom prst="roundRect">
            <a:avLst>
              <a:gd name="adj" fmla="val 50000"/>
            </a:avLst>
          </a:prstGeom>
          <a:solidFill>
            <a:srgbClr val="2B1B6B"/>
          </a:solidFill>
          <a:ln/>
        </p:spPr>
      </p:sp>
      <p:sp>
        <p:nvSpPr>
          <p:cNvPr id="21" name="Text 18"/>
          <p:cNvSpPr txBox="1"/>
          <p:nvPr/>
        </p:nvSpPr>
        <p:spPr>
          <a:xfrm>
            <a:off x="548640" y="3840480"/>
            <a:ext cx="2103120" cy="365760"/>
          </a:xfrm>
          <a:prstGeom prst="rect">
            <a:avLst/>
          </a:prstGeom>
          <a:noFill/>
          <a:ln/>
        </p:spPr>
        <p:txBody>
          <a:bodyPr wrap="square" lIns="0" tIns="0" rIns="0" bIns="0" rtlCol="0" anchor="ctr"/>
          <a:lstStyle/>
          <a:p>
            <a:pPr algn="ctr" indent="0" marL="0">
              <a:buNone/>
            </a:pPr>
            <a:r>
              <a:rPr lang="en-US" sz="1300" b="1" dirty="0">
                <a:solidFill>
                  <a:srgbClr val="FFFFFF"/>
                </a:solidFill>
              </a:rPr>
              <a:t>Nœud VIG1L-8-NODE04</a:t>
            </a:r>
            <a:endParaRPr lang="en-US" sz="1300" dirty="0"/>
          </a:p>
        </p:txBody>
      </p:sp>
      <p:sp>
        <p:nvSpPr>
          <p:cNvPr id="22" name="Étiquette"/>
          <p:cNvSpPr/>
          <p:nvPr/>
        </p:nvSpPr>
        <p:spPr>
          <a:xfrm>
            <a:off x="2788920" y="3840480"/>
            <a:ext cx="1234440" cy="365760"/>
          </a:xfrm>
          <a:prstGeom prst="roundRect">
            <a:avLst>
              <a:gd name="adj" fmla="val 50000"/>
            </a:avLst>
          </a:prstGeom>
          <a:solidFill>
            <a:srgbClr val="2B1B6B"/>
          </a:solidFill>
          <a:ln/>
        </p:spPr>
      </p:sp>
      <p:sp>
        <p:nvSpPr>
          <p:cNvPr id="23" name="Text 20"/>
          <p:cNvSpPr txBox="1"/>
          <p:nvPr/>
        </p:nvSpPr>
        <p:spPr>
          <a:xfrm>
            <a:off x="2788920" y="3840480"/>
            <a:ext cx="1234440" cy="365760"/>
          </a:xfrm>
          <a:prstGeom prst="rect">
            <a:avLst/>
          </a:prstGeom>
          <a:noFill/>
          <a:ln/>
        </p:spPr>
        <p:txBody>
          <a:bodyPr wrap="square" lIns="0" tIns="0" rIns="0" bIns="0" rtlCol="0" anchor="ctr"/>
          <a:lstStyle/>
          <a:p>
            <a:pPr algn="ctr" indent="0" marL="0">
              <a:buNone/>
            </a:pPr>
            <a:r>
              <a:rPr lang="en-US" sz="1300" b="1" dirty="0">
                <a:solidFill>
                  <a:srgbClr val="FFFFFF"/>
                </a:solidFill>
              </a:rPr>
              <a:t>Groupe 04</a:t>
            </a:r>
            <a:endParaRPr lang="en-US" sz="1300" dirty="0"/>
          </a:p>
        </p:txBody>
      </p:sp>
      <p:sp>
        <p:nvSpPr>
          <p:cNvPr id="24" name="Étiquette"/>
          <p:cNvSpPr/>
          <p:nvPr/>
        </p:nvSpPr>
        <p:spPr>
          <a:xfrm>
            <a:off x="4160520" y="3840480"/>
            <a:ext cx="2011680" cy="365760"/>
          </a:xfrm>
          <a:prstGeom prst="roundRect">
            <a:avLst>
              <a:gd name="adj" fmla="val 50000"/>
            </a:avLst>
          </a:prstGeom>
          <a:solidFill>
            <a:srgbClr val="2B1B6B"/>
          </a:solidFill>
          <a:ln/>
        </p:spPr>
      </p:sp>
      <p:sp>
        <p:nvSpPr>
          <p:cNvPr id="25" name="Text 22"/>
          <p:cNvSpPr txBox="1"/>
          <p:nvPr/>
        </p:nvSpPr>
        <p:spPr>
          <a:xfrm>
            <a:off x="4160520" y="3840480"/>
            <a:ext cx="2011680" cy="365760"/>
          </a:xfrm>
          <a:prstGeom prst="rect">
            <a:avLst/>
          </a:prstGeom>
          <a:noFill/>
          <a:ln/>
        </p:spPr>
        <p:txBody>
          <a:bodyPr wrap="square" lIns="0" tIns="0" rIns="0" bIns="0" rtlCol="0" anchor="ctr"/>
          <a:lstStyle/>
          <a:p>
            <a:pPr algn="ctr" indent="0" marL="0">
              <a:buNone/>
            </a:pPr>
            <a:r>
              <a:rPr lang="en-US" sz="1300" b="1" dirty="0">
                <a:solidFill>
                  <a:srgbClr val="FFFFFF"/>
                </a:solidFill>
              </a:rPr>
              <a:t>Option B · Edge-to-Server</a:t>
            </a:r>
            <a:endParaRPr lang="en-US" sz="1300" dirty="0"/>
          </a:p>
        </p:txBody>
      </p:sp>
      <p:sp>
        <p:nvSpPr>
          <p:cNvPr id="26" name="Membre Julien DAUVERGNE"/>
          <p:cNvSpPr/>
          <p:nvPr/>
        </p:nvSpPr>
        <p:spPr>
          <a:xfrm>
            <a:off x="548640" y="4663440"/>
            <a:ext cx="2834640" cy="713232"/>
          </a:xfrm>
          <a:prstGeom prst="roundRect">
            <a:avLst>
              <a:gd name="adj" fmla="val 19231"/>
            </a:avLst>
          </a:prstGeom>
          <a:solidFill>
            <a:srgbClr val="2B1B6B"/>
          </a:solidFill>
          <a:ln/>
        </p:spPr>
      </p:sp>
      <p:sp>
        <p:nvSpPr>
          <p:cNvPr id="27" name="Initiales"/>
          <p:cNvSpPr/>
          <p:nvPr/>
        </p:nvSpPr>
        <p:spPr>
          <a:xfrm>
            <a:off x="676656" y="4791456"/>
            <a:ext cx="457200" cy="457200"/>
          </a:xfrm>
          <a:prstGeom prst="ellipse">
            <a:avLst/>
          </a:prstGeom>
          <a:solidFill>
            <a:srgbClr val="00C9B7"/>
          </a:solidFill>
          <a:ln/>
        </p:spPr>
      </p:sp>
      <p:sp>
        <p:nvSpPr>
          <p:cNvPr id="28" name="Text 25"/>
          <p:cNvSpPr txBox="1"/>
          <p:nvPr/>
        </p:nvSpPr>
        <p:spPr>
          <a:xfrm>
            <a:off x="676656" y="4791456"/>
            <a:ext cx="457200" cy="457200"/>
          </a:xfrm>
          <a:prstGeom prst="rect">
            <a:avLst/>
          </a:prstGeom>
          <a:noFill/>
          <a:ln/>
        </p:spPr>
        <p:txBody>
          <a:bodyPr wrap="square" lIns="0" tIns="0" rIns="0" bIns="0" rtlCol="0" anchor="ctr"/>
          <a:lstStyle/>
          <a:p>
            <a:pPr algn="ctr" indent="0" marL="0">
              <a:buNone/>
            </a:pPr>
            <a:r>
              <a:rPr lang="en-US" sz="1300" b="1" dirty="0">
                <a:solidFill>
                  <a:srgbClr val="120B2E"/>
                </a:solidFill>
              </a:rPr>
              <a:t>JD</a:t>
            </a:r>
            <a:endParaRPr lang="en-US" sz="1300" dirty="0"/>
          </a:p>
        </p:txBody>
      </p:sp>
      <p:sp>
        <p:nvSpPr>
          <p:cNvPr id="29" name="Text 26"/>
          <p:cNvSpPr txBox="1"/>
          <p:nvPr/>
        </p:nvSpPr>
        <p:spPr>
          <a:xfrm>
            <a:off x="1261872" y="4773168"/>
            <a:ext cx="2057400" cy="256032"/>
          </a:xfrm>
          <a:prstGeom prst="rect">
            <a:avLst/>
          </a:prstGeom>
          <a:noFill/>
          <a:ln/>
        </p:spPr>
        <p:txBody>
          <a:bodyPr wrap="square" lIns="0" tIns="0" rIns="0" bIns="0" rtlCol="0" anchor="t"/>
          <a:lstStyle/>
          <a:p>
            <a:pPr indent="0" marL="0">
              <a:buNone/>
            </a:pPr>
            <a:r>
              <a:rPr lang="en-US" sz="1400" b="1" dirty="0">
                <a:solidFill>
                  <a:schemeClr val="bg1"/>
                </a:solidFill>
              </a:rPr>
              <a:t>Julien DAUVERGNE</a:t>
            </a:r>
            <a:endParaRPr lang="en-US" sz="1400" dirty="0"/>
          </a:p>
        </p:txBody>
      </p:sp>
      <p:sp>
        <p:nvSpPr>
          <p:cNvPr id="30" name="Text 27"/>
          <p:cNvSpPr txBox="1"/>
          <p:nvPr/>
        </p:nvSpPr>
        <p:spPr>
          <a:xfrm>
            <a:off x="1261872" y="5047488"/>
            <a:ext cx="2057400" cy="228600"/>
          </a:xfrm>
          <a:prstGeom prst="rect">
            <a:avLst/>
          </a:prstGeom>
          <a:noFill/>
          <a:ln/>
        </p:spPr>
        <p:txBody>
          <a:bodyPr wrap="square" lIns="0" tIns="0" rIns="0" bIns="0" rtlCol="0" anchor="t"/>
          <a:lstStyle/>
          <a:p>
            <a:pPr indent="0" marL="0">
              <a:buNone/>
            </a:pPr>
            <a:r>
              <a:rPr lang="en-US" sz="1100" dirty="0">
                <a:solidFill>
                  <a:srgbClr val="B9B3E6"/>
                </a:solidFill>
              </a:rPr>
              <a:t>Infra · Cyber · Firmware</a:t>
            </a:r>
            <a:endParaRPr lang="en-US" sz="1100" dirty="0"/>
          </a:p>
        </p:txBody>
      </p:sp>
      <p:sp>
        <p:nvSpPr>
          <p:cNvPr id="31" name="Membre Lucas DIOT"/>
          <p:cNvSpPr/>
          <p:nvPr/>
        </p:nvSpPr>
        <p:spPr>
          <a:xfrm>
            <a:off x="3566160" y="4663440"/>
            <a:ext cx="2834640" cy="713232"/>
          </a:xfrm>
          <a:prstGeom prst="roundRect">
            <a:avLst>
              <a:gd name="adj" fmla="val 19231"/>
            </a:avLst>
          </a:prstGeom>
          <a:solidFill>
            <a:srgbClr val="2B1B6B"/>
          </a:solidFill>
          <a:ln/>
        </p:spPr>
      </p:sp>
      <p:sp>
        <p:nvSpPr>
          <p:cNvPr id="32" name="Initiales"/>
          <p:cNvSpPr/>
          <p:nvPr/>
        </p:nvSpPr>
        <p:spPr>
          <a:xfrm>
            <a:off x="3694176" y="4791456"/>
            <a:ext cx="457200" cy="457200"/>
          </a:xfrm>
          <a:prstGeom prst="ellipse">
            <a:avLst/>
          </a:prstGeom>
          <a:solidFill>
            <a:srgbClr val="FFB400"/>
          </a:solidFill>
          <a:ln/>
        </p:spPr>
      </p:sp>
      <p:sp>
        <p:nvSpPr>
          <p:cNvPr id="33" name="Text 30"/>
          <p:cNvSpPr txBox="1"/>
          <p:nvPr/>
        </p:nvSpPr>
        <p:spPr>
          <a:xfrm>
            <a:off x="3694176" y="4791456"/>
            <a:ext cx="457200" cy="457200"/>
          </a:xfrm>
          <a:prstGeom prst="rect">
            <a:avLst/>
          </a:prstGeom>
          <a:noFill/>
          <a:ln/>
        </p:spPr>
        <p:txBody>
          <a:bodyPr wrap="square" lIns="0" tIns="0" rIns="0" bIns="0" rtlCol="0" anchor="ctr"/>
          <a:lstStyle/>
          <a:p>
            <a:pPr algn="ctr" indent="0" marL="0">
              <a:buNone/>
            </a:pPr>
            <a:r>
              <a:rPr lang="en-US" sz="1300" b="1" dirty="0">
                <a:solidFill>
                  <a:srgbClr val="120B2E"/>
                </a:solidFill>
              </a:rPr>
              <a:t>LD</a:t>
            </a:r>
            <a:endParaRPr lang="en-US" sz="1300" dirty="0"/>
          </a:p>
        </p:txBody>
      </p:sp>
      <p:sp>
        <p:nvSpPr>
          <p:cNvPr id="34" name="Text 31"/>
          <p:cNvSpPr txBox="1"/>
          <p:nvPr/>
        </p:nvSpPr>
        <p:spPr>
          <a:xfrm>
            <a:off x="4279392" y="4773168"/>
            <a:ext cx="2057400" cy="256032"/>
          </a:xfrm>
          <a:prstGeom prst="rect">
            <a:avLst/>
          </a:prstGeom>
          <a:noFill/>
          <a:ln/>
        </p:spPr>
        <p:txBody>
          <a:bodyPr wrap="square" lIns="0" tIns="0" rIns="0" bIns="0" rtlCol="0" anchor="t"/>
          <a:lstStyle/>
          <a:p>
            <a:pPr indent="0" marL="0">
              <a:buNone/>
            </a:pPr>
            <a:r>
              <a:rPr lang="en-US" sz="1400" b="1" dirty="0">
                <a:solidFill>
                  <a:schemeClr val="bg1"/>
                </a:solidFill>
              </a:rPr>
              <a:t>Lucas DIOT</a:t>
            </a:r>
            <a:endParaRPr lang="en-US" sz="1400" dirty="0"/>
          </a:p>
        </p:txBody>
      </p:sp>
      <p:sp>
        <p:nvSpPr>
          <p:cNvPr id="35" name="Text 32"/>
          <p:cNvSpPr txBox="1"/>
          <p:nvPr/>
        </p:nvSpPr>
        <p:spPr>
          <a:xfrm>
            <a:off x="4279392" y="5047488"/>
            <a:ext cx="2057400" cy="228600"/>
          </a:xfrm>
          <a:prstGeom prst="rect">
            <a:avLst/>
          </a:prstGeom>
          <a:noFill/>
          <a:ln/>
        </p:spPr>
        <p:txBody>
          <a:bodyPr wrap="square" lIns="0" tIns="0" rIns="0" bIns="0" rtlCol="0" anchor="t"/>
          <a:lstStyle/>
          <a:p>
            <a:pPr indent="0" marL="0">
              <a:buNone/>
            </a:pPr>
            <a:r>
              <a:rPr lang="en-US" sz="1100" dirty="0">
                <a:solidFill>
                  <a:srgbClr val="B9B3E6"/>
                </a:solidFill>
              </a:rPr>
              <a:t>Backend · Dashboard</a:t>
            </a:r>
            <a:endParaRPr lang="en-US" sz="1100" dirty="0"/>
          </a:p>
        </p:txBody>
      </p:sp>
      <p:sp>
        <p:nvSpPr>
          <p:cNvPr id="36" name="Membre Rem TSHIMANGA"/>
          <p:cNvSpPr/>
          <p:nvPr/>
        </p:nvSpPr>
        <p:spPr>
          <a:xfrm>
            <a:off x="548640" y="5532120"/>
            <a:ext cx="2834640" cy="713232"/>
          </a:xfrm>
          <a:prstGeom prst="roundRect">
            <a:avLst>
              <a:gd name="adj" fmla="val 19231"/>
            </a:avLst>
          </a:prstGeom>
          <a:solidFill>
            <a:srgbClr val="2B1B6B"/>
          </a:solidFill>
          <a:ln/>
        </p:spPr>
      </p:sp>
      <p:sp>
        <p:nvSpPr>
          <p:cNvPr id="37" name="Initiales"/>
          <p:cNvSpPr/>
          <p:nvPr/>
        </p:nvSpPr>
        <p:spPr>
          <a:xfrm>
            <a:off x="676656" y="5660136"/>
            <a:ext cx="457200" cy="457200"/>
          </a:xfrm>
          <a:prstGeom prst="ellipse">
            <a:avLst/>
          </a:prstGeom>
          <a:solidFill>
            <a:srgbClr val="FF4F81"/>
          </a:solidFill>
          <a:ln/>
        </p:spPr>
      </p:sp>
      <p:sp>
        <p:nvSpPr>
          <p:cNvPr id="38" name="Text 35"/>
          <p:cNvSpPr txBox="1"/>
          <p:nvPr/>
        </p:nvSpPr>
        <p:spPr>
          <a:xfrm>
            <a:off x="676656" y="5660136"/>
            <a:ext cx="457200" cy="457200"/>
          </a:xfrm>
          <a:prstGeom prst="rect">
            <a:avLst/>
          </a:prstGeom>
          <a:noFill/>
          <a:ln/>
        </p:spPr>
        <p:txBody>
          <a:bodyPr wrap="square" lIns="0" tIns="0" rIns="0" bIns="0" rtlCol="0" anchor="ctr"/>
          <a:lstStyle/>
          <a:p>
            <a:pPr algn="ctr" indent="0" marL="0">
              <a:buNone/>
            </a:pPr>
            <a:r>
              <a:rPr lang="en-US" sz="1300" b="1" dirty="0">
                <a:solidFill>
                  <a:srgbClr val="120B2E"/>
                </a:solidFill>
              </a:rPr>
              <a:t>RT</a:t>
            </a:r>
            <a:endParaRPr lang="en-US" sz="1300" dirty="0"/>
          </a:p>
        </p:txBody>
      </p:sp>
      <p:sp>
        <p:nvSpPr>
          <p:cNvPr id="39" name="Text 36"/>
          <p:cNvSpPr txBox="1"/>
          <p:nvPr/>
        </p:nvSpPr>
        <p:spPr>
          <a:xfrm>
            <a:off x="1261872" y="5641848"/>
            <a:ext cx="2057400" cy="256032"/>
          </a:xfrm>
          <a:prstGeom prst="rect">
            <a:avLst/>
          </a:prstGeom>
          <a:noFill/>
          <a:ln/>
        </p:spPr>
        <p:txBody>
          <a:bodyPr wrap="square" lIns="0" tIns="0" rIns="0" bIns="0" rtlCol="0" anchor="t"/>
          <a:lstStyle/>
          <a:p>
            <a:pPr indent="0" marL="0">
              <a:buNone/>
            </a:pPr>
            <a:r>
              <a:rPr lang="en-US" sz="1400" b="1" dirty="0">
                <a:solidFill>
                  <a:schemeClr val="bg1"/>
                </a:solidFill>
              </a:rPr>
              <a:t>Rem TSHIMANGA</a:t>
            </a:r>
            <a:endParaRPr lang="en-US" sz="1400" dirty="0"/>
          </a:p>
        </p:txBody>
      </p:sp>
      <p:sp>
        <p:nvSpPr>
          <p:cNvPr id="40" name="Text 37"/>
          <p:cNvSpPr txBox="1"/>
          <p:nvPr/>
        </p:nvSpPr>
        <p:spPr>
          <a:xfrm>
            <a:off x="1261872" y="5916168"/>
            <a:ext cx="2057400" cy="228600"/>
          </a:xfrm>
          <a:prstGeom prst="rect">
            <a:avLst/>
          </a:prstGeom>
          <a:noFill/>
          <a:ln/>
        </p:spPr>
        <p:txBody>
          <a:bodyPr wrap="square" lIns="0" tIns="0" rIns="0" bIns="0" rtlCol="0" anchor="t"/>
          <a:lstStyle/>
          <a:p>
            <a:pPr indent="0" marL="0">
              <a:buNone/>
            </a:pPr>
            <a:r>
              <a:rPr lang="en-US" sz="1100" dirty="0">
                <a:solidFill>
                  <a:srgbClr val="B9B3E6"/>
                </a:solidFill>
              </a:rPr>
              <a:t>IA Vision · Prédiction</a:t>
            </a:r>
            <a:endParaRPr lang="en-US" sz="1100" dirty="0"/>
          </a:p>
        </p:txBody>
      </p:sp>
      <p:sp>
        <p:nvSpPr>
          <p:cNvPr id="41" name="Membre Latif MOUINOU"/>
          <p:cNvSpPr/>
          <p:nvPr/>
        </p:nvSpPr>
        <p:spPr>
          <a:xfrm>
            <a:off x="3566160" y="5532120"/>
            <a:ext cx="2834640" cy="713232"/>
          </a:xfrm>
          <a:prstGeom prst="roundRect">
            <a:avLst>
              <a:gd name="adj" fmla="val 19231"/>
            </a:avLst>
          </a:prstGeom>
          <a:solidFill>
            <a:srgbClr val="2B1B6B"/>
          </a:solidFill>
          <a:ln/>
        </p:spPr>
      </p:sp>
      <p:sp>
        <p:nvSpPr>
          <p:cNvPr id="42" name="Initiales"/>
          <p:cNvSpPr/>
          <p:nvPr/>
        </p:nvSpPr>
        <p:spPr>
          <a:xfrm>
            <a:off x="3694176" y="5660136"/>
            <a:ext cx="457200" cy="457200"/>
          </a:xfrm>
          <a:prstGeom prst="ellipse">
            <a:avLst/>
          </a:prstGeom>
          <a:solidFill>
            <a:srgbClr val="7ADB4F"/>
          </a:solidFill>
          <a:ln/>
        </p:spPr>
      </p:sp>
      <p:sp>
        <p:nvSpPr>
          <p:cNvPr id="43" name="Text 40"/>
          <p:cNvSpPr txBox="1"/>
          <p:nvPr/>
        </p:nvSpPr>
        <p:spPr>
          <a:xfrm>
            <a:off x="3694176" y="5660136"/>
            <a:ext cx="457200" cy="457200"/>
          </a:xfrm>
          <a:prstGeom prst="rect">
            <a:avLst/>
          </a:prstGeom>
          <a:noFill/>
          <a:ln/>
        </p:spPr>
        <p:txBody>
          <a:bodyPr wrap="square" lIns="0" tIns="0" rIns="0" bIns="0" rtlCol="0" anchor="ctr"/>
          <a:lstStyle/>
          <a:p>
            <a:pPr algn="ctr" indent="0" marL="0">
              <a:buNone/>
            </a:pPr>
            <a:r>
              <a:rPr lang="en-US" sz="1300" b="1" dirty="0">
                <a:solidFill>
                  <a:srgbClr val="120B2E"/>
                </a:solidFill>
              </a:rPr>
              <a:t>LM</a:t>
            </a:r>
            <a:endParaRPr lang="en-US" sz="1300" dirty="0"/>
          </a:p>
        </p:txBody>
      </p:sp>
      <p:sp>
        <p:nvSpPr>
          <p:cNvPr id="44" name="Text 41"/>
          <p:cNvSpPr txBox="1"/>
          <p:nvPr/>
        </p:nvSpPr>
        <p:spPr>
          <a:xfrm>
            <a:off x="4279392" y="5641848"/>
            <a:ext cx="2057400" cy="256032"/>
          </a:xfrm>
          <a:prstGeom prst="rect">
            <a:avLst/>
          </a:prstGeom>
          <a:noFill/>
          <a:ln/>
        </p:spPr>
        <p:txBody>
          <a:bodyPr wrap="square" lIns="0" tIns="0" rIns="0" bIns="0" rtlCol="0" anchor="t"/>
          <a:lstStyle/>
          <a:p>
            <a:pPr indent="0" marL="0">
              <a:buNone/>
            </a:pPr>
            <a:r>
              <a:rPr lang="en-US" sz="1400" b="1" dirty="0">
                <a:solidFill>
                  <a:schemeClr val="bg1"/>
                </a:solidFill>
              </a:rPr>
              <a:t>Latif MOUINOU</a:t>
            </a:r>
            <a:endParaRPr lang="en-US" sz="1400" dirty="0"/>
          </a:p>
        </p:txBody>
      </p:sp>
      <p:sp>
        <p:nvSpPr>
          <p:cNvPr id="45" name="Text 42"/>
          <p:cNvSpPr txBox="1"/>
          <p:nvPr/>
        </p:nvSpPr>
        <p:spPr>
          <a:xfrm>
            <a:off x="4279392" y="5916168"/>
            <a:ext cx="2057400" cy="228600"/>
          </a:xfrm>
          <a:prstGeom prst="rect">
            <a:avLst/>
          </a:prstGeom>
          <a:noFill/>
          <a:ln/>
        </p:spPr>
        <p:txBody>
          <a:bodyPr wrap="square" lIns="0" tIns="0" rIns="0" bIns="0" rtlCol="0" anchor="t"/>
          <a:lstStyle/>
          <a:p>
            <a:pPr indent="0" marL="0">
              <a:buNone/>
            </a:pPr>
            <a:r>
              <a:rPr lang="en-US" sz="1100" dirty="0">
                <a:solidFill>
                  <a:srgbClr val="B9B3E6"/>
                </a:solidFill>
              </a:rPr>
              <a:t>Sécurité</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Anneau radar"/>
          <p:cNvSpPr/>
          <p:nvPr/>
        </p:nvSpPr>
        <p:spPr>
          <a:xfrm>
            <a:off x="11457432" y="-731520"/>
            <a:ext cx="1463040" cy="1463040"/>
          </a:xfrm>
          <a:prstGeom prst="ellipse">
            <a:avLst/>
          </a:prstGeom>
          <a:solidFill>
            <a:srgbClr val="FFFFFF">
              <a:alpha val="0"/>
            </a:srgbClr>
          </a:solidFill>
          <a:ln w="19050">
            <a:solidFill>
              <a:srgbClr val="00C9B7">
                <a:alpha val="35000"/>
              </a:srgbClr>
            </a:solidFill>
            <a:prstDash val="solid"/>
          </a:ln>
        </p:spPr>
      </p:sp>
      <p:sp>
        <p:nvSpPr>
          <p:cNvPr id="3" name="Anneau radar"/>
          <p:cNvSpPr/>
          <p:nvPr/>
        </p:nvSpPr>
        <p:spPr>
          <a:xfrm>
            <a:off x="11000232" y="-1188720"/>
            <a:ext cx="2377440" cy="2377440"/>
          </a:xfrm>
          <a:prstGeom prst="ellipse">
            <a:avLst/>
          </a:prstGeom>
          <a:solidFill>
            <a:srgbClr val="FFFFFF">
              <a:alpha val="0"/>
            </a:srgbClr>
          </a:solidFill>
          <a:ln w="19050">
            <a:solidFill>
              <a:srgbClr val="6C3BFF">
                <a:alpha val="35000"/>
              </a:srgbClr>
            </a:solidFill>
            <a:prstDash val="solid"/>
          </a:ln>
        </p:spPr>
      </p:sp>
      <p:sp>
        <p:nvSpPr>
          <p:cNvPr id="4" name="Anneau radar"/>
          <p:cNvSpPr/>
          <p:nvPr/>
        </p:nvSpPr>
        <p:spPr>
          <a:xfrm>
            <a:off x="10543032" y="-1645920"/>
            <a:ext cx="3291840" cy="3291840"/>
          </a:xfrm>
          <a:prstGeom prst="ellipse">
            <a:avLst/>
          </a:prstGeom>
          <a:solidFill>
            <a:srgbClr val="FFFFFF">
              <a:alpha val="0"/>
            </a:srgbClr>
          </a:solidFill>
          <a:ln w="19050">
            <a:solidFill>
              <a:srgbClr val="FF4F81">
                <a:alpha val="35000"/>
              </a:srgbClr>
            </a:solidFill>
            <a:prstDash val="solid"/>
          </a:ln>
        </p:spPr>
      </p:sp>
      <p:sp>
        <p:nvSpPr>
          <p:cNvPr id="5" name="Surtitre"/>
          <p:cNvSpPr/>
          <p:nvPr/>
        </p:nvSpPr>
        <p:spPr>
          <a:xfrm>
            <a:off x="548640" y="384048"/>
            <a:ext cx="961949" cy="292608"/>
          </a:xfrm>
          <a:prstGeom prst="roundRect">
            <a:avLst>
              <a:gd name="adj" fmla="val 50000"/>
            </a:avLst>
          </a:prstGeom>
          <a:solidFill>
            <a:srgbClr val="6C3BFF"/>
          </a:solidFill>
          <a:ln/>
        </p:spPr>
      </p:sp>
      <p:sp>
        <p:nvSpPr>
          <p:cNvPr id="6" name="Text 4"/>
          <p:cNvSpPr txBox="1"/>
          <p:nvPr/>
        </p:nvSpPr>
        <p:spPr>
          <a:xfrm>
            <a:off x="548640" y="384048"/>
            <a:ext cx="961949"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 BESOIN</a:t>
            </a:r>
            <a:endParaRPr lang="en-US" sz="1100" dirty="0"/>
          </a:p>
        </p:txBody>
      </p:sp>
      <p:sp>
        <p:nvSpPr>
          <p:cNvPr id="7" name="Text 0"/>
          <p:cNvSpPr/>
          <p:nvPr>
            <p:ph idx="100" type="title" hasCustomPrompt="1"/>
          </p:nvPr>
        </p:nvSpPr>
        <p:spPr>
          <a:xfrm>
            <a:off x="548640" y="749808"/>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4 piliers, 1 seul boîtier</a:t>
            </a:r>
            <a:endParaRPr lang="en-US" sz="3400" dirty="0"/>
          </a:p>
        </p:txBody>
      </p:sp>
      <p:sp>
        <p:nvSpPr>
          <p:cNvPr id="8" name="Pilier Edge &amp; IoT"/>
          <p:cNvSpPr/>
          <p:nvPr/>
        </p:nvSpPr>
        <p:spPr>
          <a:xfrm>
            <a:off x="548640" y="1783080"/>
            <a:ext cx="2606040" cy="3520440"/>
          </a:xfrm>
          <a:prstGeom prst="roundRect">
            <a:avLst>
              <a:gd name="adj" fmla="val 5263"/>
            </a:avLst>
          </a:prstGeom>
          <a:solidFill>
            <a:srgbClr val="00C9B7"/>
          </a:solidFill>
          <a:ln/>
          <a:effectLst>
            <a:outerShdw sx="100000" sy="100000" kx="0" ky="0" algn="bl" rotWithShape="0" blurRad="127000" dist="38100" dir="5400000">
              <a:srgbClr val="000000">
                <a:alpha val="20000"/>
              </a:srgbClr>
            </a:outerShdw>
          </a:effectLst>
        </p:spPr>
      </p:sp>
      <p:sp>
        <p:nvSpPr>
          <p:cNvPr id="9" name="Pastille FaMicrochip"/>
          <p:cNvSpPr/>
          <p:nvPr/>
        </p:nvSpPr>
        <p:spPr>
          <a:xfrm>
            <a:off x="822960" y="2057400"/>
            <a:ext cx="868680" cy="868680"/>
          </a:xfrm>
          <a:prstGeom prst="ellipse">
            <a:avLst/>
          </a:prstGeom>
          <a:solidFill>
            <a:srgbClr val="FFFFFF"/>
          </a:solidFill>
          <a:ln/>
        </p:spPr>
      </p:sp>
      <p:pic>
        <p:nvPicPr>
          <p:cNvPr id="10" name="Image 0" descr="FaMicrochip">    </p:cNvPr>
          <p:cNvPicPr>
            <a:picLocks noChangeAspect="1"/>
          </p:cNvPicPr>
          <p:nvPr/>
        </p:nvPicPr>
        <p:blipFill>
          <a:blip r:embed="rId1"/>
          <a:stretch>
            <a:fillRect/>
          </a:stretch>
        </p:blipFill>
        <p:spPr>
          <a:xfrm>
            <a:off x="1040130" y="2274570"/>
            <a:ext cx="434340" cy="434340"/>
          </a:xfrm>
          <a:prstGeom prst="rect">
            <a:avLst/>
          </a:prstGeom>
        </p:spPr>
      </p:pic>
      <p:sp>
        <p:nvSpPr>
          <p:cNvPr id="11" name="Text 8"/>
          <p:cNvSpPr txBox="1"/>
          <p:nvPr/>
        </p:nvSpPr>
        <p:spPr>
          <a:xfrm>
            <a:off x="822960" y="3200400"/>
            <a:ext cx="2103120" cy="457200"/>
          </a:xfrm>
          <a:prstGeom prst="rect">
            <a:avLst/>
          </a:prstGeom>
          <a:noFill/>
          <a:ln/>
        </p:spPr>
        <p:txBody>
          <a:bodyPr wrap="square" lIns="0" tIns="0" rIns="0" bIns="0" rtlCol="0" anchor="t"/>
          <a:lstStyle/>
          <a:p>
            <a:pPr indent="0" marL="0">
              <a:buNone/>
            </a:pPr>
            <a:r>
              <a:rPr lang="en-US" sz="2200" b="1" dirty="0">
                <a:solidFill>
                  <a:srgbClr val="120B2E"/>
                </a:solidFill>
                <a:latin typeface="+mj-lt" pitchFamily="34" charset="0"/>
                <a:ea typeface="+mj-lt" pitchFamily="34" charset="-122"/>
                <a:cs typeface="+mj-lt" pitchFamily="34" charset="-120"/>
              </a:rPr>
              <a:t>Edge &amp; IoT</a:t>
            </a:r>
            <a:endParaRPr lang="en-US" sz="2200" dirty="0"/>
          </a:p>
        </p:txBody>
      </p:sp>
      <p:sp>
        <p:nvSpPr>
          <p:cNvPr id="12" name="Text 9"/>
          <p:cNvSpPr txBox="1"/>
          <p:nvPr/>
        </p:nvSpPr>
        <p:spPr>
          <a:xfrm>
            <a:off x="822960" y="3749040"/>
            <a:ext cx="2103120" cy="1371600"/>
          </a:xfrm>
          <a:prstGeom prst="rect">
            <a:avLst/>
          </a:prstGeom>
          <a:noFill/>
          <a:ln/>
        </p:spPr>
        <p:txBody>
          <a:bodyPr wrap="square" lIns="0" tIns="0" rIns="0" bIns="0" rtlCol="0" anchor="t"/>
          <a:lstStyle/>
          <a:p>
            <a:pPr indent="0" marL="0">
              <a:buNone/>
            </a:pPr>
            <a:r>
              <a:rPr lang="en-US" sz="1700" dirty="0">
                <a:solidFill>
                  <a:srgbClr val="120B2E"/>
                </a:solidFill>
              </a:rPr>
              <a:t>Un seul ESP32 capte, alerte localement et publie en MQTT.</a:t>
            </a:r>
            <a:endParaRPr lang="en-US" sz="1700" dirty="0"/>
          </a:p>
        </p:txBody>
      </p:sp>
      <p:sp>
        <p:nvSpPr>
          <p:cNvPr id="13" name="Pilier IA locale"/>
          <p:cNvSpPr/>
          <p:nvPr/>
        </p:nvSpPr>
        <p:spPr>
          <a:xfrm>
            <a:off x="3364992" y="1783080"/>
            <a:ext cx="2606040" cy="3520440"/>
          </a:xfrm>
          <a:prstGeom prst="roundRect">
            <a:avLst>
              <a:gd name="adj" fmla="val 5263"/>
            </a:avLst>
          </a:prstGeom>
          <a:solidFill>
            <a:srgbClr val="FF4F81"/>
          </a:solidFill>
          <a:ln/>
          <a:effectLst>
            <a:outerShdw sx="100000" sy="100000" kx="0" ky="0" algn="bl" rotWithShape="0" blurRad="127000" dist="38100" dir="5400000">
              <a:srgbClr val="000000">
                <a:alpha val="20000"/>
              </a:srgbClr>
            </a:outerShdw>
          </a:effectLst>
        </p:spPr>
      </p:sp>
      <p:sp>
        <p:nvSpPr>
          <p:cNvPr id="14" name="Pastille FaBrain"/>
          <p:cNvSpPr/>
          <p:nvPr/>
        </p:nvSpPr>
        <p:spPr>
          <a:xfrm>
            <a:off x="3639312" y="2057400"/>
            <a:ext cx="868680" cy="868680"/>
          </a:xfrm>
          <a:prstGeom prst="ellipse">
            <a:avLst/>
          </a:prstGeom>
          <a:solidFill>
            <a:srgbClr val="FFFFFF"/>
          </a:solidFill>
          <a:ln/>
        </p:spPr>
      </p:sp>
      <p:pic>
        <p:nvPicPr>
          <p:cNvPr id="15" name="Image 1" descr="FaBrain">    </p:cNvPr>
          <p:cNvPicPr>
            <a:picLocks noChangeAspect="1"/>
          </p:cNvPicPr>
          <p:nvPr/>
        </p:nvPicPr>
        <p:blipFill>
          <a:blip r:embed="rId2"/>
          <a:stretch>
            <a:fillRect/>
          </a:stretch>
        </p:blipFill>
        <p:spPr>
          <a:xfrm>
            <a:off x="3856482" y="2274570"/>
            <a:ext cx="434340" cy="434340"/>
          </a:xfrm>
          <a:prstGeom prst="rect">
            <a:avLst/>
          </a:prstGeom>
        </p:spPr>
      </p:pic>
      <p:sp>
        <p:nvSpPr>
          <p:cNvPr id="16" name="Text 12"/>
          <p:cNvSpPr txBox="1"/>
          <p:nvPr/>
        </p:nvSpPr>
        <p:spPr>
          <a:xfrm>
            <a:off x="3639312" y="3200400"/>
            <a:ext cx="2103120" cy="457200"/>
          </a:xfrm>
          <a:prstGeom prst="rect">
            <a:avLst/>
          </a:prstGeom>
          <a:noFill/>
          <a:ln/>
        </p:spPr>
        <p:txBody>
          <a:bodyPr wrap="square" lIns="0" tIns="0" rIns="0" bIns="0" rtlCol="0" anchor="t"/>
          <a:lstStyle/>
          <a:p>
            <a:pPr indent="0" marL="0">
              <a:buNone/>
            </a:pPr>
            <a:r>
              <a:rPr lang="en-US" sz="2200" b="1" dirty="0">
                <a:solidFill>
                  <a:srgbClr val="120B2E"/>
                </a:solidFill>
                <a:latin typeface="+mj-lt" pitchFamily="34" charset="0"/>
                <a:ea typeface="+mj-lt" pitchFamily="34" charset="-122"/>
                <a:cs typeface="+mj-lt" pitchFamily="34" charset="-120"/>
              </a:rPr>
              <a:t>IA locale</a:t>
            </a:r>
            <a:endParaRPr lang="en-US" sz="2200" dirty="0"/>
          </a:p>
        </p:txBody>
      </p:sp>
      <p:sp>
        <p:nvSpPr>
          <p:cNvPr id="17" name="Text 13"/>
          <p:cNvSpPr txBox="1"/>
          <p:nvPr/>
        </p:nvSpPr>
        <p:spPr>
          <a:xfrm>
            <a:off x="3639312" y="3749040"/>
            <a:ext cx="2103120" cy="1371600"/>
          </a:xfrm>
          <a:prstGeom prst="rect">
            <a:avLst/>
          </a:prstGeom>
          <a:noFill/>
          <a:ln/>
        </p:spPr>
        <p:txBody>
          <a:bodyPr wrap="square" lIns="0" tIns="0" rIns="0" bIns="0" rtlCol="0" anchor="t"/>
          <a:lstStyle/>
          <a:p>
            <a:pPr indent="0" marL="0">
              <a:buNone/>
            </a:pPr>
            <a:r>
              <a:rPr lang="en-US" sz="1700" dirty="0">
                <a:solidFill>
                  <a:srgbClr val="120B2E"/>
                </a:solidFill>
              </a:rPr>
              <a:t>Vision sur webcam et détection prédictive, sans seuils statiques.</a:t>
            </a:r>
            <a:endParaRPr lang="en-US" sz="1700" dirty="0"/>
          </a:p>
        </p:txBody>
      </p:sp>
      <p:sp>
        <p:nvSpPr>
          <p:cNvPr id="18" name="Pilier Infrastructure"/>
          <p:cNvSpPr/>
          <p:nvPr/>
        </p:nvSpPr>
        <p:spPr>
          <a:xfrm>
            <a:off x="6181344" y="1783080"/>
            <a:ext cx="2606040" cy="3520440"/>
          </a:xfrm>
          <a:prstGeom prst="roundRect">
            <a:avLst>
              <a:gd name="adj" fmla="val 5263"/>
            </a:avLst>
          </a:prstGeom>
          <a:solidFill>
            <a:srgbClr val="FFB400"/>
          </a:solidFill>
          <a:ln/>
          <a:effectLst>
            <a:outerShdw sx="100000" sy="100000" kx="0" ky="0" algn="bl" rotWithShape="0" blurRad="127000" dist="38100" dir="5400000">
              <a:srgbClr val="000000">
                <a:alpha val="20000"/>
              </a:srgbClr>
            </a:outerShdw>
          </a:effectLst>
        </p:spPr>
      </p:sp>
      <p:sp>
        <p:nvSpPr>
          <p:cNvPr id="19" name="Pastille FaDocker"/>
          <p:cNvSpPr/>
          <p:nvPr/>
        </p:nvSpPr>
        <p:spPr>
          <a:xfrm>
            <a:off x="6455664" y="2057400"/>
            <a:ext cx="868680" cy="868680"/>
          </a:xfrm>
          <a:prstGeom prst="ellipse">
            <a:avLst/>
          </a:prstGeom>
          <a:solidFill>
            <a:srgbClr val="FFFFFF"/>
          </a:solidFill>
          <a:ln/>
        </p:spPr>
      </p:sp>
      <p:pic>
        <p:nvPicPr>
          <p:cNvPr id="20" name="Image 2" descr="FaDocker">    </p:cNvPr>
          <p:cNvPicPr>
            <a:picLocks noChangeAspect="1"/>
          </p:cNvPicPr>
          <p:nvPr/>
        </p:nvPicPr>
        <p:blipFill>
          <a:blip r:embed="rId3"/>
          <a:stretch>
            <a:fillRect/>
          </a:stretch>
        </p:blipFill>
        <p:spPr>
          <a:xfrm>
            <a:off x="6672834" y="2274570"/>
            <a:ext cx="434340" cy="434340"/>
          </a:xfrm>
          <a:prstGeom prst="rect">
            <a:avLst/>
          </a:prstGeom>
        </p:spPr>
      </p:pic>
      <p:sp>
        <p:nvSpPr>
          <p:cNvPr id="21" name="Text 16"/>
          <p:cNvSpPr txBox="1"/>
          <p:nvPr/>
        </p:nvSpPr>
        <p:spPr>
          <a:xfrm>
            <a:off x="6455664" y="3200400"/>
            <a:ext cx="2103120" cy="457200"/>
          </a:xfrm>
          <a:prstGeom prst="rect">
            <a:avLst/>
          </a:prstGeom>
          <a:noFill/>
          <a:ln/>
        </p:spPr>
        <p:txBody>
          <a:bodyPr wrap="square" lIns="0" tIns="0" rIns="0" bIns="0" rtlCol="0" anchor="t"/>
          <a:lstStyle/>
          <a:p>
            <a:pPr indent="0" marL="0">
              <a:buNone/>
            </a:pPr>
            <a:r>
              <a:rPr lang="en-US" sz="2200" b="1" dirty="0">
                <a:solidFill>
                  <a:srgbClr val="120B2E"/>
                </a:solidFill>
                <a:latin typeface="+mj-lt" pitchFamily="34" charset="0"/>
                <a:ea typeface="+mj-lt" pitchFamily="34" charset="-122"/>
                <a:cs typeface="+mj-lt" pitchFamily="34" charset="-120"/>
              </a:rPr>
              <a:t>Infrastructure</a:t>
            </a:r>
            <a:endParaRPr lang="en-US" sz="2200" dirty="0"/>
          </a:p>
        </p:txBody>
      </p:sp>
      <p:sp>
        <p:nvSpPr>
          <p:cNvPr id="22" name="Text 17"/>
          <p:cNvSpPr txBox="1"/>
          <p:nvPr/>
        </p:nvSpPr>
        <p:spPr>
          <a:xfrm>
            <a:off x="6455664" y="3749040"/>
            <a:ext cx="2103120" cy="1371600"/>
          </a:xfrm>
          <a:prstGeom prst="rect">
            <a:avLst/>
          </a:prstGeom>
          <a:noFill/>
          <a:ln/>
        </p:spPr>
        <p:txBody>
          <a:bodyPr wrap="square" lIns="0" tIns="0" rIns="0" bIns="0" rtlCol="0" anchor="t"/>
          <a:lstStyle/>
          <a:p>
            <a:pPr indent="0" marL="0">
              <a:buNone/>
            </a:pPr>
            <a:r>
              <a:rPr lang="en-US" sz="1700" dirty="0">
                <a:solidFill>
                  <a:srgbClr val="120B2E"/>
                </a:solidFill>
              </a:rPr>
              <a:t>Conteneurs résilients sur un réseau de table isolé.</a:t>
            </a:r>
            <a:endParaRPr lang="en-US" sz="1700" dirty="0"/>
          </a:p>
        </p:txBody>
      </p:sp>
      <p:sp>
        <p:nvSpPr>
          <p:cNvPr id="23" name="Pilier Cybersécurité"/>
          <p:cNvSpPr/>
          <p:nvPr/>
        </p:nvSpPr>
        <p:spPr>
          <a:xfrm>
            <a:off x="8997696" y="1783080"/>
            <a:ext cx="2606040" cy="3520440"/>
          </a:xfrm>
          <a:prstGeom prst="roundRect">
            <a:avLst>
              <a:gd name="adj" fmla="val 5263"/>
            </a:avLst>
          </a:prstGeom>
          <a:solidFill>
            <a:srgbClr val="6C3BFF"/>
          </a:solidFill>
          <a:ln/>
          <a:effectLst>
            <a:outerShdw sx="100000" sy="100000" kx="0" ky="0" algn="bl" rotWithShape="0" blurRad="127000" dist="38100" dir="5400000">
              <a:srgbClr val="000000">
                <a:alpha val="20000"/>
              </a:srgbClr>
            </a:outerShdw>
          </a:effectLst>
        </p:spPr>
      </p:sp>
      <p:sp>
        <p:nvSpPr>
          <p:cNvPr id="24" name="Pastille FaShieldAlt"/>
          <p:cNvSpPr/>
          <p:nvPr/>
        </p:nvSpPr>
        <p:spPr>
          <a:xfrm>
            <a:off x="9272016" y="2057400"/>
            <a:ext cx="868680" cy="868680"/>
          </a:xfrm>
          <a:prstGeom prst="ellipse">
            <a:avLst/>
          </a:prstGeom>
          <a:solidFill>
            <a:srgbClr val="FFFFFF"/>
          </a:solidFill>
          <a:ln/>
        </p:spPr>
      </p:sp>
      <p:pic>
        <p:nvPicPr>
          <p:cNvPr id="25" name="Image 3" descr="FaShieldAlt">    </p:cNvPr>
          <p:cNvPicPr>
            <a:picLocks noChangeAspect="1"/>
          </p:cNvPicPr>
          <p:nvPr/>
        </p:nvPicPr>
        <p:blipFill>
          <a:blip r:embed="rId4"/>
          <a:stretch>
            <a:fillRect/>
          </a:stretch>
        </p:blipFill>
        <p:spPr>
          <a:xfrm>
            <a:off x="9489186" y="2274570"/>
            <a:ext cx="434340" cy="434340"/>
          </a:xfrm>
          <a:prstGeom prst="rect">
            <a:avLst/>
          </a:prstGeom>
        </p:spPr>
      </p:pic>
      <p:sp>
        <p:nvSpPr>
          <p:cNvPr id="26" name="Text 20"/>
          <p:cNvSpPr txBox="1"/>
          <p:nvPr/>
        </p:nvSpPr>
        <p:spPr>
          <a:xfrm>
            <a:off x="9272016" y="3200400"/>
            <a:ext cx="2103120" cy="457200"/>
          </a:xfrm>
          <a:prstGeom prst="rect">
            <a:avLst/>
          </a:prstGeom>
          <a:noFill/>
          <a:ln/>
        </p:spPr>
        <p:txBody>
          <a:bodyPr wrap="square" lIns="0" tIns="0" rIns="0" bIns="0" rtlCol="0" anchor="t"/>
          <a:lstStyle/>
          <a:p>
            <a:pPr indent="0" marL="0">
              <a:buNone/>
            </a:pPr>
            <a:r>
              <a:rPr lang="en-US" sz="2200" b="1" dirty="0">
                <a:solidFill>
                  <a:srgbClr val="FFFFFF"/>
                </a:solidFill>
                <a:latin typeface="+mj-lt" pitchFamily="34" charset="0"/>
                <a:ea typeface="+mj-lt" pitchFamily="34" charset="-122"/>
                <a:cs typeface="+mj-lt" pitchFamily="34" charset="-120"/>
              </a:rPr>
              <a:t>Cybersécurité</a:t>
            </a:r>
            <a:endParaRPr lang="en-US" sz="2200" dirty="0"/>
          </a:p>
        </p:txBody>
      </p:sp>
      <p:sp>
        <p:nvSpPr>
          <p:cNvPr id="27" name="Text 21"/>
          <p:cNvSpPr txBox="1"/>
          <p:nvPr/>
        </p:nvSpPr>
        <p:spPr>
          <a:xfrm>
            <a:off x="9272016" y="3749040"/>
            <a:ext cx="2103120" cy="1371600"/>
          </a:xfrm>
          <a:prstGeom prst="rect">
            <a:avLst/>
          </a:prstGeom>
          <a:noFill/>
          <a:ln/>
        </p:spPr>
        <p:txBody>
          <a:bodyPr wrap="square" lIns="0" tIns="0" rIns="0" bIns="0" rtlCol="0" anchor="t"/>
          <a:lstStyle/>
          <a:p>
            <a:pPr indent="0" marL="0">
              <a:buNone/>
            </a:pPr>
            <a:r>
              <a:rPr lang="en-US" sz="1700" dirty="0">
                <a:solidFill>
                  <a:srgbClr val="FFFFFF"/>
                </a:solidFill>
              </a:rPr>
              <a:t>Chiffrement de bout en bout, durcissement.</a:t>
            </a:r>
            <a:endParaRPr lang="en-US" sz="1700" dirty="0"/>
          </a:p>
        </p:txBody>
      </p:sp>
      <p:sp>
        <p:nvSpPr>
          <p:cNvPr id="28" name="Bandeau éliminatoire"/>
          <p:cNvSpPr/>
          <p:nvPr/>
        </p:nvSpPr>
        <p:spPr>
          <a:xfrm>
            <a:off x="548640" y="5532120"/>
            <a:ext cx="11064240" cy="685800"/>
          </a:xfrm>
          <a:prstGeom prst="roundRect">
            <a:avLst>
              <a:gd name="adj" fmla="val 20000"/>
            </a:avLst>
          </a:prstGeom>
          <a:solidFill>
            <a:srgbClr val="120B2E"/>
          </a:solidFill>
          <a:ln/>
          <a:effectLst>
            <a:outerShdw sx="100000" sy="100000" kx="0" ky="0" algn="bl" rotWithShape="0" blurRad="127000" dist="38100" dir="5400000">
              <a:srgbClr val="000000">
                <a:alpha val="20000"/>
              </a:srgbClr>
            </a:outerShdw>
          </a:effectLst>
        </p:spPr>
      </p:sp>
      <p:sp>
        <p:nvSpPr>
          <p:cNvPr id="29" name="Text 23"/>
          <p:cNvSpPr txBox="1"/>
          <p:nvPr/>
        </p:nvSpPr>
        <p:spPr>
          <a:xfrm>
            <a:off x="822960" y="5532120"/>
            <a:ext cx="10607040" cy="685800"/>
          </a:xfrm>
          <a:prstGeom prst="rect">
            <a:avLst/>
          </a:prstGeom>
          <a:noFill/>
          <a:ln/>
        </p:spPr>
        <p:txBody>
          <a:bodyPr wrap="square" lIns="0" tIns="0" rIns="0" bIns="0" rtlCol="0" anchor="ctr"/>
          <a:lstStyle/>
          <a:p>
            <a:pPr indent="0" marL="0">
              <a:buNone/>
            </a:pPr>
            <a:r>
              <a:rPr lang="en-US" sz="1600" b="1" dirty="0">
                <a:solidFill>
                  <a:schemeClr val="bg1"/>
                </a:solidFill>
              </a:rPr>
              <a:t>L'interconnexion de toutes les briques est éliminatoire pour la démo</a:t>
            </a:r>
            <a:pPr indent="0" marL="0">
              <a:buNone/>
            </a:pPr>
            <a:r>
              <a:rPr lang="en-US" sz="1600" dirty="0">
                <a:solidFill>
                  <a:srgbClr val="00C9B7"/>
                </a:solidFill>
              </a:rPr>
              <a:t>  —  c'est exactement ce que nous avons livré.</a:t>
            </a:r>
            <a:endParaRPr lang="en-US" sz="16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578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urtitre"/>
          <p:cNvSpPr/>
          <p:nvPr/>
        </p:nvSpPr>
        <p:spPr>
          <a:xfrm>
            <a:off x="548640" y="384048"/>
            <a:ext cx="782726" cy="292608"/>
          </a:xfrm>
          <a:prstGeom prst="roundRect">
            <a:avLst>
              <a:gd name="adj" fmla="val 50000"/>
            </a:avLst>
          </a:prstGeom>
          <a:solidFill>
            <a:srgbClr val="00C9B7"/>
          </a:solidFill>
          <a:ln/>
        </p:spPr>
      </p:sp>
      <p:sp>
        <p:nvSpPr>
          <p:cNvPr id="3" name="Text 1"/>
          <p:cNvSpPr txBox="1"/>
          <p:nvPr/>
        </p:nvSpPr>
        <p:spPr>
          <a:xfrm>
            <a:off x="548640" y="384048"/>
            <a:ext cx="782726" cy="292608"/>
          </a:xfrm>
          <a:prstGeom prst="rect">
            <a:avLst/>
          </a:prstGeom>
          <a:noFill/>
          <a:ln/>
        </p:spPr>
        <p:txBody>
          <a:bodyPr wrap="square" lIns="0" tIns="0" rIns="0" bIns="0" rtlCol="0" anchor="ctr"/>
          <a:lstStyle/>
          <a:p>
            <a:pPr algn="ctr" indent="0" marL="0">
              <a:buNone/>
            </a:pPr>
            <a:r>
              <a:rPr lang="en-US" sz="1100" b="1" spc="100" kern="0" dirty="0">
                <a:solidFill>
                  <a:srgbClr val="120B2E"/>
                </a:solidFill>
              </a:rPr>
              <a:t>EN BREF</a:t>
            </a:r>
            <a:endParaRPr lang="en-US" sz="1100" dirty="0"/>
          </a:p>
        </p:txBody>
      </p:sp>
      <p:sp>
        <p:nvSpPr>
          <p:cNvPr id="4" name="Text 0"/>
          <p:cNvSpPr/>
          <p:nvPr>
            <p:ph idx="100" type="title" hasCustomPrompt="1"/>
          </p:nvPr>
        </p:nvSpPr>
        <p:spPr>
          <a:xfrm>
            <a:off x="548640" y="749808"/>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Sentinel-X en 4 chiffres</a:t>
            </a:r>
            <a:endParaRPr lang="en-US" sz="3400" dirty="0"/>
          </a:p>
        </p:txBody>
      </p:sp>
      <p:sp>
        <p:nvSpPr>
          <p:cNvPr id="5" name="Chiffre 1.2+"/>
          <p:cNvSpPr/>
          <p:nvPr/>
        </p:nvSpPr>
        <p:spPr>
          <a:xfrm>
            <a:off x="548640" y="1828800"/>
            <a:ext cx="2606040" cy="3840480"/>
          </a:xfrm>
          <a:prstGeom prst="roundRect">
            <a:avLst>
              <a:gd name="adj" fmla="val 5263"/>
            </a:avLst>
          </a:prstGeom>
          <a:solidFill>
            <a:srgbClr val="2B1B6B"/>
          </a:solidFill>
          <a:ln/>
          <a:effectLst>
            <a:outerShdw sx="100000" sy="100000" kx="0" ky="0" algn="bl" rotWithShape="0" blurRad="127000" dist="38100" dir="5400000">
              <a:srgbClr val="000000">
                <a:alpha val="20000"/>
              </a:srgbClr>
            </a:outerShdw>
          </a:effectLst>
        </p:spPr>
      </p:sp>
      <p:sp>
        <p:nvSpPr>
          <p:cNvPr id="6" name="Étiquette"/>
          <p:cNvSpPr/>
          <p:nvPr/>
        </p:nvSpPr>
        <p:spPr>
          <a:xfrm>
            <a:off x="822960" y="2103120"/>
            <a:ext cx="1325880" cy="292608"/>
          </a:xfrm>
          <a:prstGeom prst="roundRect">
            <a:avLst>
              <a:gd name="adj" fmla="val 50000"/>
            </a:avLst>
          </a:prstGeom>
          <a:solidFill>
            <a:srgbClr val="00C9B7"/>
          </a:solidFill>
          <a:ln/>
        </p:spPr>
      </p:sp>
      <p:sp>
        <p:nvSpPr>
          <p:cNvPr id="7" name="Text 5"/>
          <p:cNvSpPr txBox="1"/>
          <p:nvPr/>
        </p:nvSpPr>
        <p:spPr>
          <a:xfrm>
            <a:off x="822960" y="2103120"/>
            <a:ext cx="1325880" cy="292608"/>
          </a:xfrm>
          <a:prstGeom prst="rect">
            <a:avLst/>
          </a:prstGeom>
          <a:noFill/>
          <a:ln/>
        </p:spPr>
        <p:txBody>
          <a:bodyPr wrap="square" lIns="0" tIns="0" rIns="0" bIns="0" rtlCol="0" anchor="ctr"/>
          <a:lstStyle/>
          <a:p>
            <a:pPr algn="ctr" indent="0" marL="0">
              <a:buNone/>
            </a:pPr>
            <a:r>
              <a:rPr lang="en-US" sz="1100" b="1" dirty="0">
                <a:solidFill>
                  <a:srgbClr val="120B2E"/>
                </a:solidFill>
              </a:rPr>
              <a:t>SÉCURITÉ</a:t>
            </a:r>
            <a:endParaRPr lang="en-US" sz="1100" dirty="0"/>
          </a:p>
        </p:txBody>
      </p:sp>
      <p:sp>
        <p:nvSpPr>
          <p:cNvPr id="8" name="Text 6"/>
          <p:cNvSpPr txBox="1"/>
          <p:nvPr/>
        </p:nvSpPr>
        <p:spPr>
          <a:xfrm>
            <a:off x="822960" y="2697480"/>
            <a:ext cx="2194560" cy="1005840"/>
          </a:xfrm>
          <a:prstGeom prst="rect">
            <a:avLst/>
          </a:prstGeom>
          <a:noFill/>
          <a:ln/>
        </p:spPr>
        <p:txBody>
          <a:bodyPr wrap="square" lIns="0" tIns="0" rIns="0" bIns="0" rtlCol="0" anchor="ctr"/>
          <a:lstStyle/>
          <a:p>
            <a:pPr indent="0" marL="0">
              <a:buNone/>
            </a:pPr>
            <a:r>
              <a:rPr lang="en-US" sz="5400" b="1" dirty="0">
                <a:solidFill>
                  <a:srgbClr val="00C9B7"/>
                </a:solidFill>
                <a:latin typeface="+mj-lt" pitchFamily="34" charset="0"/>
                <a:ea typeface="+mj-lt" pitchFamily="34" charset="-122"/>
                <a:cs typeface="+mj-lt" pitchFamily="34" charset="-120"/>
              </a:rPr>
              <a:t>1.2+</a:t>
            </a:r>
            <a:endParaRPr lang="en-US" sz="5400" dirty="0"/>
          </a:p>
        </p:txBody>
      </p:sp>
      <p:sp>
        <p:nvSpPr>
          <p:cNvPr id="9" name="Text 7"/>
          <p:cNvSpPr txBox="1"/>
          <p:nvPr/>
        </p:nvSpPr>
        <p:spPr>
          <a:xfrm>
            <a:off x="822960" y="3840480"/>
            <a:ext cx="2103120" cy="640080"/>
          </a:xfrm>
          <a:prstGeom prst="rect">
            <a:avLst/>
          </a:prstGeom>
          <a:noFill/>
          <a:ln/>
        </p:spPr>
        <p:txBody>
          <a:bodyPr wrap="square" lIns="0" tIns="0" rIns="0" bIns="0" rtlCol="0" anchor="t"/>
          <a:lstStyle/>
          <a:p>
            <a:pPr indent="0" marL="0">
              <a:buNone/>
            </a:pPr>
            <a:r>
              <a:rPr lang="en-US" sz="1800" b="1" dirty="0">
                <a:solidFill>
                  <a:schemeClr val="bg1"/>
                </a:solidFill>
              </a:rPr>
              <a:t>TLS, de l'ESP32 au broker</a:t>
            </a:r>
            <a:endParaRPr lang="en-US" sz="1800" dirty="0"/>
          </a:p>
        </p:txBody>
      </p:sp>
      <p:sp>
        <p:nvSpPr>
          <p:cNvPr id="10" name="Text 8"/>
          <p:cNvSpPr txBox="1"/>
          <p:nvPr/>
        </p:nvSpPr>
        <p:spPr>
          <a:xfrm>
            <a:off x="822960" y="4572000"/>
            <a:ext cx="2103120" cy="914400"/>
          </a:xfrm>
          <a:prstGeom prst="rect">
            <a:avLst/>
          </a:prstGeom>
          <a:noFill/>
          <a:ln/>
        </p:spPr>
        <p:txBody>
          <a:bodyPr wrap="square" lIns="0" tIns="0" rIns="0" bIns="0" rtlCol="0" anchor="t"/>
          <a:lstStyle/>
          <a:p>
            <a:pPr indent="0" marL="0">
              <a:buNone/>
            </a:pPr>
            <a:r>
              <a:rPr lang="en-US" sz="1400" dirty="0">
                <a:solidFill>
                  <a:srgbClr val="B9B3E6"/>
                </a:solidFill>
              </a:rPr>
              <a:t>CA locale vérifiée par le nœud : un faux broker est refusé</a:t>
            </a:r>
            <a:endParaRPr lang="en-US" sz="1400" dirty="0"/>
          </a:p>
        </p:txBody>
      </p:sp>
      <p:sp>
        <p:nvSpPr>
          <p:cNvPr id="11" name="Chiffre 2"/>
          <p:cNvSpPr/>
          <p:nvPr/>
        </p:nvSpPr>
        <p:spPr>
          <a:xfrm>
            <a:off x="3364992" y="1828800"/>
            <a:ext cx="2606040" cy="3840480"/>
          </a:xfrm>
          <a:prstGeom prst="roundRect">
            <a:avLst>
              <a:gd name="adj" fmla="val 5263"/>
            </a:avLst>
          </a:prstGeom>
          <a:solidFill>
            <a:srgbClr val="2B1B6B"/>
          </a:solidFill>
          <a:ln/>
          <a:effectLst>
            <a:outerShdw sx="100000" sy="100000" kx="0" ky="0" algn="bl" rotWithShape="0" blurRad="127000" dist="38100" dir="5400000">
              <a:srgbClr val="000000">
                <a:alpha val="20000"/>
              </a:srgbClr>
            </a:outerShdw>
          </a:effectLst>
        </p:spPr>
      </p:sp>
      <p:sp>
        <p:nvSpPr>
          <p:cNvPr id="12" name="Étiquette"/>
          <p:cNvSpPr/>
          <p:nvPr/>
        </p:nvSpPr>
        <p:spPr>
          <a:xfrm>
            <a:off x="3639312" y="2103120"/>
            <a:ext cx="1325880" cy="292608"/>
          </a:xfrm>
          <a:prstGeom prst="roundRect">
            <a:avLst>
              <a:gd name="adj" fmla="val 50000"/>
            </a:avLst>
          </a:prstGeom>
          <a:solidFill>
            <a:srgbClr val="FFB400"/>
          </a:solidFill>
          <a:ln/>
        </p:spPr>
      </p:sp>
      <p:sp>
        <p:nvSpPr>
          <p:cNvPr id="13" name="Text 11"/>
          <p:cNvSpPr txBox="1"/>
          <p:nvPr/>
        </p:nvSpPr>
        <p:spPr>
          <a:xfrm>
            <a:off x="3639312" y="2103120"/>
            <a:ext cx="1325880" cy="292608"/>
          </a:xfrm>
          <a:prstGeom prst="rect">
            <a:avLst/>
          </a:prstGeom>
          <a:noFill/>
          <a:ln/>
        </p:spPr>
        <p:txBody>
          <a:bodyPr wrap="square" lIns="0" tIns="0" rIns="0" bIns="0" rtlCol="0" anchor="ctr"/>
          <a:lstStyle/>
          <a:p>
            <a:pPr algn="ctr" indent="0" marL="0">
              <a:buNone/>
            </a:pPr>
            <a:r>
              <a:rPr lang="en-US" sz="1100" b="1" dirty="0">
                <a:solidFill>
                  <a:srgbClr val="120B2E"/>
                </a:solidFill>
              </a:rPr>
              <a:t>ALERTES</a:t>
            </a:r>
            <a:endParaRPr lang="en-US" sz="1100" dirty="0"/>
          </a:p>
        </p:txBody>
      </p:sp>
      <p:sp>
        <p:nvSpPr>
          <p:cNvPr id="14" name="Text 12"/>
          <p:cNvSpPr txBox="1"/>
          <p:nvPr/>
        </p:nvSpPr>
        <p:spPr>
          <a:xfrm>
            <a:off x="3639312" y="2697480"/>
            <a:ext cx="2194560" cy="1005840"/>
          </a:xfrm>
          <a:prstGeom prst="rect">
            <a:avLst/>
          </a:prstGeom>
          <a:noFill/>
          <a:ln/>
        </p:spPr>
        <p:txBody>
          <a:bodyPr wrap="square" lIns="0" tIns="0" rIns="0" bIns="0" rtlCol="0" anchor="ctr"/>
          <a:lstStyle/>
          <a:p>
            <a:pPr indent="0" marL="0">
              <a:buNone/>
            </a:pPr>
            <a:r>
              <a:rPr lang="en-US" sz="5400" b="1" dirty="0">
                <a:solidFill>
                  <a:srgbClr val="FFB400"/>
                </a:solidFill>
                <a:latin typeface="+mj-lt" pitchFamily="34" charset="0"/>
                <a:ea typeface="+mj-lt" pitchFamily="34" charset="-122"/>
                <a:cs typeface="+mj-lt" pitchFamily="34" charset="-120"/>
              </a:rPr>
              <a:t>2</a:t>
            </a:r>
            <a:endParaRPr lang="en-US" sz="5400" dirty="0"/>
          </a:p>
        </p:txBody>
      </p:sp>
      <p:sp>
        <p:nvSpPr>
          <p:cNvPr id="15" name="Text 13"/>
          <p:cNvSpPr txBox="1"/>
          <p:nvPr/>
        </p:nvSpPr>
        <p:spPr>
          <a:xfrm>
            <a:off x="3639312" y="3840480"/>
            <a:ext cx="2103120" cy="640080"/>
          </a:xfrm>
          <a:prstGeom prst="rect">
            <a:avLst/>
          </a:prstGeom>
          <a:noFill/>
          <a:ln/>
        </p:spPr>
        <p:txBody>
          <a:bodyPr wrap="square" lIns="0" tIns="0" rIns="0" bIns="0" rtlCol="0" anchor="t"/>
          <a:lstStyle/>
          <a:p>
            <a:pPr indent="0" marL="0">
              <a:buNone/>
            </a:pPr>
            <a:r>
              <a:rPr lang="en-US" sz="1800" b="1" dirty="0">
                <a:solidFill>
                  <a:schemeClr val="bg1"/>
                </a:solidFill>
              </a:rPr>
              <a:t>niveaux d'alerte IA</a:t>
            </a:r>
            <a:endParaRPr lang="en-US" sz="1800" dirty="0"/>
          </a:p>
        </p:txBody>
      </p:sp>
      <p:sp>
        <p:nvSpPr>
          <p:cNvPr id="16" name="Text 14"/>
          <p:cNvSpPr txBox="1"/>
          <p:nvPr/>
        </p:nvSpPr>
        <p:spPr>
          <a:xfrm>
            <a:off x="3639312" y="4572000"/>
            <a:ext cx="2103120" cy="914400"/>
          </a:xfrm>
          <a:prstGeom prst="rect">
            <a:avLst/>
          </a:prstGeom>
          <a:noFill/>
          <a:ln/>
        </p:spPr>
        <p:txBody>
          <a:bodyPr wrap="square" lIns="0" tIns="0" rIns="0" bIns="0" rtlCol="0" anchor="t"/>
          <a:lstStyle/>
          <a:p>
            <a:pPr indent="0" marL="0">
              <a:buNone/>
            </a:pPr>
            <a:r>
              <a:rPr lang="en-US" sz="1400" dirty="0">
                <a:solidFill>
                  <a:srgbClr val="B9B3E6"/>
                </a:solidFill>
              </a:rPr>
              <a:t>Avertissement puis confirmation, avec LED du nœud</a:t>
            </a:r>
            <a:endParaRPr lang="en-US" sz="1400" dirty="0"/>
          </a:p>
        </p:txBody>
      </p:sp>
      <p:sp>
        <p:nvSpPr>
          <p:cNvPr id="17" name="Chiffre 10/10"/>
          <p:cNvSpPr/>
          <p:nvPr/>
        </p:nvSpPr>
        <p:spPr>
          <a:xfrm>
            <a:off x="6181344" y="1828800"/>
            <a:ext cx="2606040" cy="3840480"/>
          </a:xfrm>
          <a:prstGeom prst="roundRect">
            <a:avLst>
              <a:gd name="adj" fmla="val 5263"/>
            </a:avLst>
          </a:prstGeom>
          <a:solidFill>
            <a:srgbClr val="2B1B6B"/>
          </a:solidFill>
          <a:ln/>
          <a:effectLst>
            <a:outerShdw sx="100000" sy="100000" kx="0" ky="0" algn="bl" rotWithShape="0" blurRad="127000" dist="38100" dir="5400000">
              <a:srgbClr val="000000">
                <a:alpha val="20000"/>
              </a:srgbClr>
            </a:outerShdw>
          </a:effectLst>
        </p:spPr>
      </p:sp>
      <p:sp>
        <p:nvSpPr>
          <p:cNvPr id="18" name="Étiquette"/>
          <p:cNvSpPr/>
          <p:nvPr/>
        </p:nvSpPr>
        <p:spPr>
          <a:xfrm>
            <a:off x="6455664" y="2103120"/>
            <a:ext cx="1325880" cy="292608"/>
          </a:xfrm>
          <a:prstGeom prst="roundRect">
            <a:avLst>
              <a:gd name="adj" fmla="val 50000"/>
            </a:avLst>
          </a:prstGeom>
          <a:solidFill>
            <a:srgbClr val="FF4F81"/>
          </a:solidFill>
          <a:ln/>
        </p:spPr>
      </p:sp>
      <p:sp>
        <p:nvSpPr>
          <p:cNvPr id="19" name="Text 17"/>
          <p:cNvSpPr txBox="1"/>
          <p:nvPr/>
        </p:nvSpPr>
        <p:spPr>
          <a:xfrm>
            <a:off x="6455664" y="2103120"/>
            <a:ext cx="1325880" cy="292608"/>
          </a:xfrm>
          <a:prstGeom prst="rect">
            <a:avLst/>
          </a:prstGeom>
          <a:noFill/>
          <a:ln/>
        </p:spPr>
        <p:txBody>
          <a:bodyPr wrap="square" lIns="0" tIns="0" rIns="0" bIns="0" rtlCol="0" anchor="ctr"/>
          <a:lstStyle/>
          <a:p>
            <a:pPr algn="ctr" indent="0" marL="0">
              <a:buNone/>
            </a:pPr>
            <a:r>
              <a:rPr lang="en-US" sz="1100" b="1" dirty="0">
                <a:solidFill>
                  <a:srgbClr val="120B2E"/>
                </a:solidFill>
              </a:rPr>
              <a:t>PRÉDICTION</a:t>
            </a:r>
            <a:endParaRPr lang="en-US" sz="1100" dirty="0"/>
          </a:p>
        </p:txBody>
      </p:sp>
      <p:sp>
        <p:nvSpPr>
          <p:cNvPr id="20" name="Text 18"/>
          <p:cNvSpPr txBox="1"/>
          <p:nvPr/>
        </p:nvSpPr>
        <p:spPr>
          <a:xfrm>
            <a:off x="6455664" y="2697480"/>
            <a:ext cx="2194560" cy="1005840"/>
          </a:xfrm>
          <a:prstGeom prst="rect">
            <a:avLst/>
          </a:prstGeom>
          <a:noFill/>
          <a:ln/>
        </p:spPr>
        <p:txBody>
          <a:bodyPr wrap="square" lIns="0" tIns="0" rIns="0" bIns="0" rtlCol="0" anchor="ctr"/>
          <a:lstStyle/>
          <a:p>
            <a:pPr indent="0" marL="0">
              <a:buNone/>
            </a:pPr>
            <a:r>
              <a:rPr lang="en-US" sz="5400" b="1" dirty="0">
                <a:solidFill>
                  <a:srgbClr val="FF4F81"/>
                </a:solidFill>
                <a:latin typeface="+mj-lt" pitchFamily="34" charset="0"/>
                <a:ea typeface="+mj-lt" pitchFamily="34" charset="-122"/>
                <a:cs typeface="+mj-lt" pitchFamily="34" charset="-120"/>
              </a:rPr>
              <a:t>10/10</a:t>
            </a:r>
            <a:endParaRPr lang="en-US" sz="5400" dirty="0"/>
          </a:p>
        </p:txBody>
      </p:sp>
      <p:sp>
        <p:nvSpPr>
          <p:cNvPr id="21" name="Text 19"/>
          <p:cNvSpPr txBox="1"/>
          <p:nvPr/>
        </p:nvSpPr>
        <p:spPr>
          <a:xfrm>
            <a:off x="6455664" y="3840480"/>
            <a:ext cx="2103120" cy="640080"/>
          </a:xfrm>
          <a:prstGeom prst="rect">
            <a:avLst/>
          </a:prstGeom>
          <a:noFill/>
          <a:ln/>
        </p:spPr>
        <p:txBody>
          <a:bodyPr wrap="square" lIns="0" tIns="0" rIns="0" bIns="0" rtlCol="0" anchor="t"/>
          <a:lstStyle/>
          <a:p>
            <a:pPr indent="0" marL="0">
              <a:buNone/>
            </a:pPr>
            <a:r>
              <a:rPr lang="en-US" sz="1800" b="1" dirty="0">
                <a:solidFill>
                  <a:schemeClr val="bg1"/>
                </a:solidFill>
              </a:rPr>
              <a:t>dérives lentes détectées</a:t>
            </a:r>
            <a:endParaRPr lang="en-US" sz="1800" dirty="0"/>
          </a:p>
        </p:txBody>
      </p:sp>
      <p:sp>
        <p:nvSpPr>
          <p:cNvPr id="22" name="Text 20"/>
          <p:cNvSpPr txBox="1"/>
          <p:nvPr/>
        </p:nvSpPr>
        <p:spPr>
          <a:xfrm>
            <a:off x="6455664" y="4572000"/>
            <a:ext cx="2103120" cy="914400"/>
          </a:xfrm>
          <a:prstGeom prst="rect">
            <a:avLst/>
          </a:prstGeom>
          <a:noFill/>
          <a:ln/>
        </p:spPr>
        <p:txBody>
          <a:bodyPr wrap="square" lIns="0" tIns="0" rIns="0" bIns="0" rtlCol="0" anchor="t"/>
          <a:lstStyle/>
          <a:p>
            <a:pPr indent="0" marL="0">
              <a:buNone/>
            </a:pPr>
            <a:r>
              <a:rPr lang="en-US" sz="1400" dirty="0">
                <a:solidFill>
                  <a:srgbClr val="B9B3E6"/>
                </a:solidFill>
              </a:rPr>
              <a:t>0,07 % de fausses alertes (données simulées)</a:t>
            </a:r>
            <a:endParaRPr lang="en-US" sz="1400" dirty="0"/>
          </a:p>
        </p:txBody>
      </p:sp>
      <p:sp>
        <p:nvSpPr>
          <p:cNvPr id="23" name="Chiffre 37 ms"/>
          <p:cNvSpPr/>
          <p:nvPr/>
        </p:nvSpPr>
        <p:spPr>
          <a:xfrm>
            <a:off x="8997696" y="1828800"/>
            <a:ext cx="2606040" cy="3840480"/>
          </a:xfrm>
          <a:prstGeom prst="roundRect">
            <a:avLst>
              <a:gd name="adj" fmla="val 5263"/>
            </a:avLst>
          </a:prstGeom>
          <a:solidFill>
            <a:srgbClr val="2B1B6B"/>
          </a:solidFill>
          <a:ln/>
          <a:effectLst>
            <a:outerShdw sx="100000" sy="100000" kx="0" ky="0" algn="bl" rotWithShape="0" blurRad="127000" dist="38100" dir="5400000">
              <a:srgbClr val="000000">
                <a:alpha val="20000"/>
              </a:srgbClr>
            </a:outerShdw>
          </a:effectLst>
        </p:spPr>
      </p:sp>
      <p:sp>
        <p:nvSpPr>
          <p:cNvPr id="24" name="Étiquette"/>
          <p:cNvSpPr/>
          <p:nvPr/>
        </p:nvSpPr>
        <p:spPr>
          <a:xfrm>
            <a:off x="9272016" y="2103120"/>
            <a:ext cx="1325880" cy="292608"/>
          </a:xfrm>
          <a:prstGeom prst="roundRect">
            <a:avLst>
              <a:gd name="adj" fmla="val 50000"/>
            </a:avLst>
          </a:prstGeom>
          <a:solidFill>
            <a:srgbClr val="7ADB4F"/>
          </a:solidFill>
          <a:ln/>
        </p:spPr>
      </p:sp>
      <p:sp>
        <p:nvSpPr>
          <p:cNvPr id="25" name="Text 23"/>
          <p:cNvSpPr txBox="1"/>
          <p:nvPr/>
        </p:nvSpPr>
        <p:spPr>
          <a:xfrm>
            <a:off x="9272016" y="2103120"/>
            <a:ext cx="1325880" cy="292608"/>
          </a:xfrm>
          <a:prstGeom prst="rect">
            <a:avLst/>
          </a:prstGeom>
          <a:noFill/>
          <a:ln/>
        </p:spPr>
        <p:txBody>
          <a:bodyPr wrap="square" lIns="0" tIns="0" rIns="0" bIns="0" rtlCol="0" anchor="ctr"/>
          <a:lstStyle/>
          <a:p>
            <a:pPr algn="ctr" indent="0" marL="0">
              <a:buNone/>
            </a:pPr>
            <a:r>
              <a:rPr lang="en-US" sz="1100" b="1" dirty="0">
                <a:solidFill>
                  <a:srgbClr val="120B2E"/>
                </a:solidFill>
              </a:rPr>
              <a:t>VISION</a:t>
            </a:r>
            <a:endParaRPr lang="en-US" sz="1100" dirty="0"/>
          </a:p>
        </p:txBody>
      </p:sp>
      <p:sp>
        <p:nvSpPr>
          <p:cNvPr id="26" name="Text 24"/>
          <p:cNvSpPr txBox="1"/>
          <p:nvPr/>
        </p:nvSpPr>
        <p:spPr>
          <a:xfrm>
            <a:off x="9272016" y="2697480"/>
            <a:ext cx="2194560" cy="1005840"/>
          </a:xfrm>
          <a:prstGeom prst="rect">
            <a:avLst/>
          </a:prstGeom>
          <a:noFill/>
          <a:ln/>
        </p:spPr>
        <p:txBody>
          <a:bodyPr wrap="square" lIns="0" tIns="0" rIns="0" bIns="0" rtlCol="0" anchor="ctr"/>
          <a:lstStyle/>
          <a:p>
            <a:pPr indent="0" marL="0">
              <a:buNone/>
            </a:pPr>
            <a:r>
              <a:rPr lang="en-US" sz="5400" b="1" dirty="0">
                <a:solidFill>
                  <a:srgbClr val="7ADB4F"/>
                </a:solidFill>
                <a:latin typeface="+mj-lt" pitchFamily="34" charset="0"/>
                <a:ea typeface="+mj-lt" pitchFamily="34" charset="-122"/>
                <a:cs typeface="+mj-lt" pitchFamily="34" charset="-120"/>
              </a:rPr>
              <a:t>37 ms</a:t>
            </a:r>
            <a:endParaRPr lang="en-US" sz="5400" dirty="0"/>
          </a:p>
        </p:txBody>
      </p:sp>
      <p:sp>
        <p:nvSpPr>
          <p:cNvPr id="27" name="Text 25"/>
          <p:cNvSpPr txBox="1"/>
          <p:nvPr/>
        </p:nvSpPr>
        <p:spPr>
          <a:xfrm>
            <a:off x="9272016" y="3840480"/>
            <a:ext cx="2103120" cy="640080"/>
          </a:xfrm>
          <a:prstGeom prst="rect">
            <a:avLst/>
          </a:prstGeom>
          <a:noFill/>
          <a:ln/>
        </p:spPr>
        <p:txBody>
          <a:bodyPr wrap="square" lIns="0" tIns="0" rIns="0" bIns="0" rtlCol="0" anchor="t"/>
          <a:lstStyle/>
          <a:p>
            <a:pPr indent="0" marL="0">
              <a:buNone/>
            </a:pPr>
            <a:r>
              <a:rPr lang="en-US" sz="1800" b="1" dirty="0">
                <a:solidFill>
                  <a:schemeClr val="bg1"/>
                </a:solidFill>
              </a:rPr>
              <a:t>par image, YOLOv8n</a:t>
            </a:r>
            <a:endParaRPr lang="en-US" sz="1800" dirty="0"/>
          </a:p>
        </p:txBody>
      </p:sp>
      <p:sp>
        <p:nvSpPr>
          <p:cNvPr id="28" name="Text 26"/>
          <p:cNvSpPr txBox="1"/>
          <p:nvPr/>
        </p:nvSpPr>
        <p:spPr>
          <a:xfrm>
            <a:off x="9272016" y="4572000"/>
            <a:ext cx="2103120" cy="914400"/>
          </a:xfrm>
          <a:prstGeom prst="rect">
            <a:avLst/>
          </a:prstGeom>
          <a:noFill/>
          <a:ln/>
        </p:spPr>
        <p:txBody>
          <a:bodyPr wrap="square" lIns="0" tIns="0" rIns="0" bIns="0" rtlCol="0" anchor="t"/>
          <a:lstStyle/>
          <a:p>
            <a:pPr indent="0" marL="0">
              <a:buNone/>
            </a:pPr>
            <a:r>
              <a:rPr lang="en-US" sz="1400" dirty="0">
                <a:solidFill>
                  <a:srgbClr val="B9B3E6"/>
                </a:solidFill>
              </a:rPr>
              <a:t>PC de développement, CPU · objectif &lt; 100 ms</a:t>
            </a:r>
            <a:endParaRPr lang="en-US" sz="1400" dirty="0"/>
          </a:p>
        </p:txBody>
      </p:sp>
      <p:sp>
        <p:nvSpPr>
          <p:cNvPr id="29" name="Text 27"/>
          <p:cNvSpPr txBox="1"/>
          <p:nvPr/>
        </p:nvSpPr>
        <p:spPr>
          <a:xfrm>
            <a:off x="548640" y="5897880"/>
            <a:ext cx="10241280" cy="274320"/>
          </a:xfrm>
          <a:prstGeom prst="rect">
            <a:avLst/>
          </a:prstGeom>
          <a:noFill/>
          <a:ln/>
        </p:spPr>
        <p:txBody>
          <a:bodyPr wrap="square" lIns="0" tIns="0" rIns="0" bIns="0" rtlCol="0" anchor="t"/>
          <a:lstStyle/>
          <a:p>
            <a:pPr indent="0" marL="0">
              <a:buNone/>
            </a:pPr>
            <a:r>
              <a:rPr lang="en-US" sz="1200" i="1" dirty="0">
                <a:solidFill>
                  <a:srgbClr val="B9B3E6"/>
                </a:solidFill>
              </a:rPr>
              <a:t>Chiffres d'IA issus de données simulées et de tests en conteneur ; modèle réentraîné sur 1 h de mesures réelles en salle.</a:t>
            </a:r>
            <a:endParaRPr lang="en-US" sz="12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9B3E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Anneau radar"/>
          <p:cNvSpPr/>
          <p:nvPr/>
        </p:nvSpPr>
        <p:spPr>
          <a:xfrm>
            <a:off x="11457432" y="-731520"/>
            <a:ext cx="1463040" cy="1463040"/>
          </a:xfrm>
          <a:prstGeom prst="ellipse">
            <a:avLst/>
          </a:prstGeom>
          <a:solidFill>
            <a:srgbClr val="FFFFFF">
              <a:alpha val="0"/>
            </a:srgbClr>
          </a:solidFill>
          <a:ln w="19050">
            <a:solidFill>
              <a:srgbClr val="00C9B7">
                <a:alpha val="35000"/>
              </a:srgbClr>
            </a:solidFill>
            <a:prstDash val="solid"/>
          </a:ln>
        </p:spPr>
      </p:sp>
      <p:sp>
        <p:nvSpPr>
          <p:cNvPr id="3" name="Anneau radar"/>
          <p:cNvSpPr/>
          <p:nvPr/>
        </p:nvSpPr>
        <p:spPr>
          <a:xfrm>
            <a:off x="11000232" y="-1188720"/>
            <a:ext cx="2377440" cy="2377440"/>
          </a:xfrm>
          <a:prstGeom prst="ellipse">
            <a:avLst/>
          </a:prstGeom>
          <a:solidFill>
            <a:srgbClr val="FFFFFF">
              <a:alpha val="0"/>
            </a:srgbClr>
          </a:solidFill>
          <a:ln w="19050">
            <a:solidFill>
              <a:srgbClr val="6C3BFF">
                <a:alpha val="35000"/>
              </a:srgbClr>
            </a:solidFill>
            <a:prstDash val="solid"/>
          </a:ln>
        </p:spPr>
      </p:sp>
      <p:sp>
        <p:nvSpPr>
          <p:cNvPr id="4" name="Anneau radar"/>
          <p:cNvSpPr/>
          <p:nvPr/>
        </p:nvSpPr>
        <p:spPr>
          <a:xfrm>
            <a:off x="10543032" y="-1645920"/>
            <a:ext cx="3291840" cy="3291840"/>
          </a:xfrm>
          <a:prstGeom prst="ellipse">
            <a:avLst/>
          </a:prstGeom>
          <a:solidFill>
            <a:srgbClr val="FFFFFF">
              <a:alpha val="0"/>
            </a:srgbClr>
          </a:solidFill>
          <a:ln w="19050">
            <a:solidFill>
              <a:srgbClr val="FF4F81">
                <a:alpha val="35000"/>
              </a:srgbClr>
            </a:solidFill>
            <a:prstDash val="solid"/>
          </a:ln>
        </p:spPr>
      </p:sp>
      <p:sp>
        <p:nvSpPr>
          <p:cNvPr id="5" name="Surtitre"/>
          <p:cNvSpPr/>
          <p:nvPr/>
        </p:nvSpPr>
        <p:spPr>
          <a:xfrm>
            <a:off x="548640" y="384048"/>
            <a:ext cx="1230782" cy="292608"/>
          </a:xfrm>
          <a:prstGeom prst="roundRect">
            <a:avLst>
              <a:gd name="adj" fmla="val 50000"/>
            </a:avLst>
          </a:prstGeom>
          <a:solidFill>
            <a:srgbClr val="6C3BFF"/>
          </a:solidFill>
          <a:ln/>
        </p:spPr>
      </p:sp>
      <p:sp>
        <p:nvSpPr>
          <p:cNvPr id="6" name="Text 4"/>
          <p:cNvSpPr txBox="1"/>
          <p:nvPr/>
        </p:nvSpPr>
        <p:spPr>
          <a:xfrm>
            <a:off x="548640" y="384048"/>
            <a:ext cx="1230782"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ARCHITECTURE</a:t>
            </a:r>
            <a:endParaRPr lang="en-US" sz="1100" dirty="0"/>
          </a:p>
        </p:txBody>
      </p:sp>
      <p:sp>
        <p:nvSpPr>
          <p:cNvPr id="7" name="Text 0"/>
          <p:cNvSpPr/>
          <p:nvPr>
            <p:ph idx="100" type="title" hasCustomPrompt="1"/>
          </p:nvPr>
        </p:nvSpPr>
        <p:spPr>
          <a:xfrm>
            <a:off x="548640" y="749808"/>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Edge-to-Server : le portable devient serveur</a:t>
            </a:r>
            <a:endParaRPr lang="en-US" sz="3400" dirty="0"/>
          </a:p>
        </p:txBody>
      </p:sp>
      <p:sp>
        <p:nvSpPr>
          <p:cNvPr id="8" name="Panneau PC Serveur Local"/>
          <p:cNvSpPr/>
          <p:nvPr/>
        </p:nvSpPr>
        <p:spPr>
          <a:xfrm>
            <a:off x="4206240" y="1737360"/>
            <a:ext cx="7406640" cy="4526280"/>
          </a:xfrm>
          <a:prstGeom prst="roundRect">
            <a:avLst>
              <a:gd name="adj" fmla="val 4040"/>
            </a:avLst>
          </a:prstGeom>
          <a:solidFill>
            <a:srgbClr val="F3F0FF"/>
          </a:solidFill>
          <a:ln w="19050">
            <a:solidFill>
              <a:srgbClr val="6C3BFF"/>
            </a:solidFill>
            <a:prstDash val="dash"/>
          </a:ln>
        </p:spPr>
      </p:sp>
      <p:sp>
        <p:nvSpPr>
          <p:cNvPr id="9" name="Text 7"/>
          <p:cNvSpPr txBox="1"/>
          <p:nvPr/>
        </p:nvSpPr>
        <p:spPr>
          <a:xfrm>
            <a:off x="4434840" y="1847088"/>
            <a:ext cx="6949440" cy="274320"/>
          </a:xfrm>
          <a:prstGeom prst="rect">
            <a:avLst/>
          </a:prstGeom>
          <a:noFill/>
          <a:ln/>
        </p:spPr>
        <p:txBody>
          <a:bodyPr wrap="square" lIns="0" tIns="0" rIns="0" bIns="0" rtlCol="0" anchor="t"/>
          <a:lstStyle/>
          <a:p>
            <a:pPr indent="0" marL="0">
              <a:buNone/>
            </a:pPr>
            <a:r>
              <a:rPr lang="en-US" sz="1200" b="1" dirty="0">
                <a:solidFill>
                  <a:srgbClr val="6C3BFF"/>
                </a:solidFill>
              </a:rPr>
              <a:t>PC SERVEUR LOCAL · portable Linux · Docker Compose · hotspot 192.168.10.1</a:t>
            </a:r>
            <a:endParaRPr lang="en-US" sz="1200" dirty="0"/>
          </a:p>
        </p:txBody>
      </p:sp>
      <p:sp>
        <p:nvSpPr>
          <p:cNvPr id="10" name="Nœud ESP32"/>
          <p:cNvSpPr/>
          <p:nvPr/>
        </p:nvSpPr>
        <p:spPr>
          <a:xfrm>
            <a:off x="548640" y="2514600"/>
            <a:ext cx="2377440" cy="868680"/>
          </a:xfrm>
          <a:prstGeom prst="roundRect">
            <a:avLst>
              <a:gd name="adj" fmla="val 15789"/>
            </a:avLst>
          </a:prstGeom>
          <a:solidFill>
            <a:srgbClr val="00C9B7"/>
          </a:solidFill>
          <a:ln/>
          <a:effectLst>
            <a:outerShdw sx="100000" sy="100000" kx="0" ky="0" algn="bl" rotWithShape="0" blurRad="127000" dist="38100" dir="5400000">
              <a:srgbClr val="000000">
                <a:alpha val="20000"/>
              </a:srgbClr>
            </a:outerShdw>
          </a:effectLst>
        </p:spPr>
      </p:sp>
      <p:sp>
        <p:nvSpPr>
          <p:cNvPr id="11" name="Text 9"/>
          <p:cNvSpPr txBox="1"/>
          <p:nvPr/>
        </p:nvSpPr>
        <p:spPr>
          <a:xfrm>
            <a:off x="640080" y="2642616"/>
            <a:ext cx="2194560" cy="292608"/>
          </a:xfrm>
          <a:prstGeom prst="rect">
            <a:avLst/>
          </a:prstGeom>
          <a:noFill/>
          <a:ln/>
        </p:spPr>
        <p:txBody>
          <a:bodyPr wrap="square" lIns="0" tIns="0" rIns="0" bIns="0" rtlCol="0" anchor="t"/>
          <a:lstStyle/>
          <a:p>
            <a:pPr algn="ctr" indent="0" marL="0">
              <a:buNone/>
            </a:pPr>
            <a:r>
              <a:rPr lang="en-US" sz="1500" b="1" dirty="0">
                <a:solidFill>
                  <a:srgbClr val="120B2E"/>
                </a:solidFill>
              </a:rPr>
              <a:t>Nœud ESP32</a:t>
            </a:r>
            <a:endParaRPr lang="en-US" sz="1500" dirty="0"/>
          </a:p>
        </p:txBody>
      </p:sp>
      <p:sp>
        <p:nvSpPr>
          <p:cNvPr id="12" name="Text 10"/>
          <p:cNvSpPr txBox="1"/>
          <p:nvPr/>
        </p:nvSpPr>
        <p:spPr>
          <a:xfrm>
            <a:off x="640080" y="2971800"/>
            <a:ext cx="2194560" cy="365760"/>
          </a:xfrm>
          <a:prstGeom prst="rect">
            <a:avLst/>
          </a:prstGeom>
          <a:noFill/>
          <a:ln/>
        </p:spPr>
        <p:txBody>
          <a:bodyPr wrap="square" lIns="0" tIns="0" rIns="0" bIns="0" rtlCol="0" anchor="t"/>
          <a:lstStyle/>
          <a:p>
            <a:pPr algn="ctr" indent="0" marL="0">
              <a:buNone/>
            </a:pPr>
            <a:r>
              <a:rPr lang="en-US" sz="1200" dirty="0">
                <a:solidFill>
                  <a:srgbClr val="120B2E"/>
                </a:solidFill>
              </a:rPr>
              <a:t>DHT22 · MQ-2 · PIR · LED</a:t>
            </a:r>
            <a:endParaRPr lang="en-US" sz="1200" dirty="0"/>
          </a:p>
        </p:txBody>
      </p:sp>
      <p:sp>
        <p:nvSpPr>
          <p:cNvPr id="13" name="Webcam USB"/>
          <p:cNvSpPr/>
          <p:nvPr/>
        </p:nvSpPr>
        <p:spPr>
          <a:xfrm>
            <a:off x="548640" y="4160520"/>
            <a:ext cx="2377440" cy="868680"/>
          </a:xfrm>
          <a:prstGeom prst="roundRect">
            <a:avLst>
              <a:gd name="adj" fmla="val 15789"/>
            </a:avLst>
          </a:prstGeom>
          <a:solidFill>
            <a:srgbClr val="00C9B7"/>
          </a:solidFill>
          <a:ln/>
          <a:effectLst>
            <a:outerShdw sx="100000" sy="100000" kx="0" ky="0" algn="bl" rotWithShape="0" blurRad="127000" dist="38100" dir="5400000">
              <a:srgbClr val="000000">
                <a:alpha val="20000"/>
              </a:srgbClr>
            </a:outerShdw>
          </a:effectLst>
        </p:spPr>
      </p:sp>
      <p:sp>
        <p:nvSpPr>
          <p:cNvPr id="14" name="Text 12"/>
          <p:cNvSpPr txBox="1"/>
          <p:nvPr/>
        </p:nvSpPr>
        <p:spPr>
          <a:xfrm>
            <a:off x="640080" y="4288536"/>
            <a:ext cx="2194560" cy="292608"/>
          </a:xfrm>
          <a:prstGeom prst="rect">
            <a:avLst/>
          </a:prstGeom>
          <a:noFill/>
          <a:ln/>
        </p:spPr>
        <p:txBody>
          <a:bodyPr wrap="square" lIns="0" tIns="0" rIns="0" bIns="0" rtlCol="0" anchor="t"/>
          <a:lstStyle/>
          <a:p>
            <a:pPr algn="ctr" indent="0" marL="0">
              <a:buNone/>
            </a:pPr>
            <a:r>
              <a:rPr lang="en-US" sz="1500" b="1" dirty="0">
                <a:solidFill>
                  <a:srgbClr val="120B2E"/>
                </a:solidFill>
              </a:rPr>
              <a:t>Webcam USB</a:t>
            </a:r>
            <a:endParaRPr lang="en-US" sz="1500" dirty="0"/>
          </a:p>
        </p:txBody>
      </p:sp>
      <p:sp>
        <p:nvSpPr>
          <p:cNvPr id="15" name="Text 13"/>
          <p:cNvSpPr txBox="1"/>
          <p:nvPr/>
        </p:nvSpPr>
        <p:spPr>
          <a:xfrm>
            <a:off x="640080" y="4617720"/>
            <a:ext cx="2194560" cy="365760"/>
          </a:xfrm>
          <a:prstGeom prst="rect">
            <a:avLst/>
          </a:prstGeom>
          <a:noFill/>
          <a:ln/>
        </p:spPr>
        <p:txBody>
          <a:bodyPr wrap="square" lIns="0" tIns="0" rIns="0" bIns="0" rtlCol="0" anchor="t"/>
          <a:lstStyle/>
          <a:p>
            <a:pPr algn="ctr" indent="0" marL="0">
              <a:buNone/>
            </a:pPr>
            <a:r>
              <a:rPr lang="en-US" sz="1200" dirty="0">
                <a:solidFill>
                  <a:srgbClr val="120B2E"/>
                </a:solidFill>
              </a:rPr>
              <a:t>/dev/video0</a:t>
            </a:r>
            <a:endParaRPr lang="en-US" sz="1200" dirty="0"/>
          </a:p>
        </p:txBody>
      </p:sp>
      <p:sp>
        <p:nvSpPr>
          <p:cNvPr id="16" name="Mosquitto"/>
          <p:cNvSpPr/>
          <p:nvPr/>
        </p:nvSpPr>
        <p:spPr>
          <a:xfrm>
            <a:off x="4526280" y="2514600"/>
            <a:ext cx="2011680" cy="868680"/>
          </a:xfrm>
          <a:prstGeom prst="roundRect">
            <a:avLst>
              <a:gd name="adj" fmla="val 15789"/>
            </a:avLst>
          </a:prstGeom>
          <a:solidFill>
            <a:srgbClr val="6C3BFF"/>
          </a:solidFill>
          <a:ln/>
          <a:effectLst>
            <a:outerShdw sx="100000" sy="100000" kx="0" ky="0" algn="bl" rotWithShape="0" blurRad="127000" dist="38100" dir="5400000">
              <a:srgbClr val="000000">
                <a:alpha val="20000"/>
              </a:srgbClr>
            </a:outerShdw>
          </a:effectLst>
        </p:spPr>
      </p:sp>
      <p:sp>
        <p:nvSpPr>
          <p:cNvPr id="17" name="Text 15"/>
          <p:cNvSpPr txBox="1"/>
          <p:nvPr/>
        </p:nvSpPr>
        <p:spPr>
          <a:xfrm>
            <a:off x="4617720" y="2642616"/>
            <a:ext cx="1828800" cy="292608"/>
          </a:xfrm>
          <a:prstGeom prst="rect">
            <a:avLst/>
          </a:prstGeom>
          <a:noFill/>
          <a:ln/>
        </p:spPr>
        <p:txBody>
          <a:bodyPr wrap="square" lIns="0" tIns="0" rIns="0" bIns="0" rtlCol="0" anchor="t"/>
          <a:lstStyle/>
          <a:p>
            <a:pPr algn="ctr" indent="0" marL="0">
              <a:buNone/>
            </a:pPr>
            <a:r>
              <a:rPr lang="en-US" sz="1500" b="1" dirty="0">
                <a:solidFill>
                  <a:srgbClr val="FFFFFF"/>
                </a:solidFill>
              </a:rPr>
              <a:t>Mosquitto</a:t>
            </a:r>
            <a:endParaRPr lang="en-US" sz="1500" dirty="0"/>
          </a:p>
        </p:txBody>
      </p:sp>
      <p:sp>
        <p:nvSpPr>
          <p:cNvPr id="18" name="Text 16"/>
          <p:cNvSpPr txBox="1"/>
          <p:nvPr/>
        </p:nvSpPr>
        <p:spPr>
          <a:xfrm>
            <a:off x="4617720" y="2971800"/>
            <a:ext cx="1828800" cy="365760"/>
          </a:xfrm>
          <a:prstGeom prst="rect">
            <a:avLst/>
          </a:prstGeom>
          <a:noFill/>
          <a:ln/>
        </p:spPr>
        <p:txBody>
          <a:bodyPr wrap="square" lIns="0" tIns="0" rIns="0" bIns="0" rtlCol="0" anchor="t"/>
          <a:lstStyle/>
          <a:p>
            <a:pPr algn="ctr" indent="0" marL="0">
              <a:buNone/>
            </a:pPr>
            <a:r>
              <a:rPr lang="en-US" sz="1200" dirty="0">
                <a:solidFill>
                  <a:srgbClr val="FFFFFF"/>
                </a:solidFill>
              </a:rPr>
              <a:t>broker TLS</a:t>
            </a:r>
            <a:endParaRPr lang="en-US" sz="1200" dirty="0"/>
          </a:p>
        </p:txBody>
      </p:sp>
      <p:sp>
        <p:nvSpPr>
          <p:cNvPr id="19" name="Backend Go"/>
          <p:cNvSpPr/>
          <p:nvPr/>
        </p:nvSpPr>
        <p:spPr>
          <a:xfrm>
            <a:off x="7178040" y="2514600"/>
            <a:ext cx="2011680" cy="868680"/>
          </a:xfrm>
          <a:prstGeom prst="roundRect">
            <a:avLst>
              <a:gd name="adj" fmla="val 15789"/>
            </a:avLst>
          </a:prstGeom>
          <a:solidFill>
            <a:srgbClr val="3D8BFF"/>
          </a:solidFill>
          <a:ln/>
          <a:effectLst>
            <a:outerShdw sx="100000" sy="100000" kx="0" ky="0" algn="bl" rotWithShape="0" blurRad="127000" dist="38100" dir="5400000">
              <a:srgbClr val="000000">
                <a:alpha val="20000"/>
              </a:srgbClr>
            </a:outerShdw>
          </a:effectLst>
        </p:spPr>
      </p:sp>
      <p:sp>
        <p:nvSpPr>
          <p:cNvPr id="20" name="Text 18"/>
          <p:cNvSpPr txBox="1"/>
          <p:nvPr/>
        </p:nvSpPr>
        <p:spPr>
          <a:xfrm>
            <a:off x="7269480" y="2642616"/>
            <a:ext cx="1828800" cy="292608"/>
          </a:xfrm>
          <a:prstGeom prst="rect">
            <a:avLst/>
          </a:prstGeom>
          <a:noFill/>
          <a:ln/>
        </p:spPr>
        <p:txBody>
          <a:bodyPr wrap="square" lIns="0" tIns="0" rIns="0" bIns="0" rtlCol="0" anchor="t"/>
          <a:lstStyle/>
          <a:p>
            <a:pPr algn="ctr" indent="0" marL="0">
              <a:buNone/>
            </a:pPr>
            <a:r>
              <a:rPr lang="en-US" sz="1500" b="1" dirty="0">
                <a:solidFill>
                  <a:srgbClr val="120B2E"/>
                </a:solidFill>
              </a:rPr>
              <a:t>Backend Go</a:t>
            </a:r>
            <a:endParaRPr lang="en-US" sz="1500" dirty="0"/>
          </a:p>
        </p:txBody>
      </p:sp>
      <p:sp>
        <p:nvSpPr>
          <p:cNvPr id="21" name="Text 19"/>
          <p:cNvSpPr txBox="1"/>
          <p:nvPr/>
        </p:nvSpPr>
        <p:spPr>
          <a:xfrm>
            <a:off x="7269480" y="2971800"/>
            <a:ext cx="1828800" cy="365760"/>
          </a:xfrm>
          <a:prstGeom prst="rect">
            <a:avLst/>
          </a:prstGeom>
          <a:noFill/>
          <a:ln/>
        </p:spPr>
        <p:txBody>
          <a:bodyPr wrap="square" lIns="0" tIns="0" rIns="0" bIns="0" rtlCol="0" anchor="t"/>
          <a:lstStyle/>
          <a:p>
            <a:pPr algn="ctr" indent="0" marL="0">
              <a:buNone/>
            </a:pPr>
            <a:r>
              <a:rPr lang="en-US" sz="1200" dirty="0">
                <a:solidFill>
                  <a:srgbClr val="120B2E"/>
                </a:solidFill>
              </a:rPr>
              <a:t>API REST · WebSocket</a:t>
            </a:r>
            <a:endParaRPr lang="en-US" sz="1200" dirty="0"/>
          </a:p>
        </p:txBody>
      </p:sp>
      <p:sp>
        <p:nvSpPr>
          <p:cNvPr id="22" name="CouchDB"/>
          <p:cNvSpPr/>
          <p:nvPr/>
        </p:nvSpPr>
        <p:spPr>
          <a:xfrm>
            <a:off x="9509760" y="2514600"/>
            <a:ext cx="1920240" cy="868680"/>
          </a:xfrm>
          <a:prstGeom prst="roundRect">
            <a:avLst>
              <a:gd name="adj" fmla="val 15789"/>
            </a:avLst>
          </a:prstGeom>
          <a:solidFill>
            <a:srgbClr val="FFB400"/>
          </a:solidFill>
          <a:ln/>
          <a:effectLst>
            <a:outerShdw sx="100000" sy="100000" kx="0" ky="0" algn="bl" rotWithShape="0" blurRad="127000" dist="38100" dir="5400000">
              <a:srgbClr val="000000">
                <a:alpha val="20000"/>
              </a:srgbClr>
            </a:outerShdw>
          </a:effectLst>
        </p:spPr>
      </p:sp>
      <p:sp>
        <p:nvSpPr>
          <p:cNvPr id="23" name="Text 21"/>
          <p:cNvSpPr txBox="1"/>
          <p:nvPr/>
        </p:nvSpPr>
        <p:spPr>
          <a:xfrm>
            <a:off x="9601200" y="2642616"/>
            <a:ext cx="1737360" cy="292608"/>
          </a:xfrm>
          <a:prstGeom prst="rect">
            <a:avLst/>
          </a:prstGeom>
          <a:noFill/>
          <a:ln/>
        </p:spPr>
        <p:txBody>
          <a:bodyPr wrap="square" lIns="0" tIns="0" rIns="0" bIns="0" rtlCol="0" anchor="t"/>
          <a:lstStyle/>
          <a:p>
            <a:pPr algn="ctr" indent="0" marL="0">
              <a:buNone/>
            </a:pPr>
            <a:r>
              <a:rPr lang="en-US" sz="1500" b="1" dirty="0">
                <a:solidFill>
                  <a:srgbClr val="120B2E"/>
                </a:solidFill>
              </a:rPr>
              <a:t>CouchDB</a:t>
            </a:r>
            <a:endParaRPr lang="en-US" sz="1500" dirty="0"/>
          </a:p>
        </p:txBody>
      </p:sp>
      <p:sp>
        <p:nvSpPr>
          <p:cNvPr id="24" name="Text 22"/>
          <p:cNvSpPr txBox="1"/>
          <p:nvPr/>
        </p:nvSpPr>
        <p:spPr>
          <a:xfrm>
            <a:off x="9601200" y="2971800"/>
            <a:ext cx="1737360" cy="365760"/>
          </a:xfrm>
          <a:prstGeom prst="rect">
            <a:avLst/>
          </a:prstGeom>
          <a:noFill/>
          <a:ln/>
        </p:spPr>
        <p:txBody>
          <a:bodyPr wrap="square" lIns="0" tIns="0" rIns="0" bIns="0" rtlCol="0" anchor="t"/>
          <a:lstStyle/>
          <a:p>
            <a:pPr algn="ctr" indent="0" marL="0">
              <a:buNone/>
            </a:pPr>
            <a:r>
              <a:rPr lang="en-US" sz="1200" dirty="0">
                <a:solidFill>
                  <a:srgbClr val="120B2E"/>
                </a:solidFill>
              </a:rPr>
              <a:t>telemetry · events</a:t>
            </a:r>
            <a:endParaRPr lang="en-US" sz="1200" dirty="0"/>
          </a:p>
        </p:txBody>
      </p:sp>
      <p:sp>
        <p:nvSpPr>
          <p:cNvPr id="25" name="IA Vision"/>
          <p:cNvSpPr/>
          <p:nvPr/>
        </p:nvSpPr>
        <p:spPr>
          <a:xfrm>
            <a:off x="4526280" y="4160520"/>
            <a:ext cx="2011680" cy="868680"/>
          </a:xfrm>
          <a:prstGeom prst="roundRect">
            <a:avLst>
              <a:gd name="adj" fmla="val 15789"/>
            </a:avLst>
          </a:prstGeom>
          <a:solidFill>
            <a:srgbClr val="FF4F81"/>
          </a:solidFill>
          <a:ln/>
          <a:effectLst>
            <a:outerShdw sx="100000" sy="100000" kx="0" ky="0" algn="bl" rotWithShape="0" blurRad="127000" dist="38100" dir="5400000">
              <a:srgbClr val="000000">
                <a:alpha val="20000"/>
              </a:srgbClr>
            </a:outerShdw>
          </a:effectLst>
        </p:spPr>
      </p:sp>
      <p:sp>
        <p:nvSpPr>
          <p:cNvPr id="26" name="Text 24"/>
          <p:cNvSpPr txBox="1"/>
          <p:nvPr/>
        </p:nvSpPr>
        <p:spPr>
          <a:xfrm>
            <a:off x="4617720" y="4288536"/>
            <a:ext cx="1828800" cy="292608"/>
          </a:xfrm>
          <a:prstGeom prst="rect">
            <a:avLst/>
          </a:prstGeom>
          <a:noFill/>
          <a:ln/>
        </p:spPr>
        <p:txBody>
          <a:bodyPr wrap="square" lIns="0" tIns="0" rIns="0" bIns="0" rtlCol="0" anchor="t"/>
          <a:lstStyle/>
          <a:p>
            <a:pPr algn="ctr" indent="0" marL="0">
              <a:buNone/>
            </a:pPr>
            <a:r>
              <a:rPr lang="en-US" sz="1500" b="1" dirty="0">
                <a:solidFill>
                  <a:srgbClr val="120B2E"/>
                </a:solidFill>
              </a:rPr>
              <a:t>IA Vision</a:t>
            </a:r>
            <a:endParaRPr lang="en-US" sz="1500" dirty="0"/>
          </a:p>
        </p:txBody>
      </p:sp>
      <p:sp>
        <p:nvSpPr>
          <p:cNvPr id="27" name="Text 25"/>
          <p:cNvSpPr txBox="1"/>
          <p:nvPr/>
        </p:nvSpPr>
        <p:spPr>
          <a:xfrm>
            <a:off x="4617720" y="4617720"/>
            <a:ext cx="1828800" cy="365760"/>
          </a:xfrm>
          <a:prstGeom prst="rect">
            <a:avLst/>
          </a:prstGeom>
          <a:noFill/>
          <a:ln/>
        </p:spPr>
        <p:txBody>
          <a:bodyPr wrap="square" lIns="0" tIns="0" rIns="0" bIns="0" rtlCol="0" anchor="t"/>
          <a:lstStyle/>
          <a:p>
            <a:pPr algn="ctr" indent="0" marL="0">
              <a:buNone/>
            </a:pPr>
            <a:r>
              <a:rPr lang="en-US" sz="1200" dirty="0">
                <a:solidFill>
                  <a:srgbClr val="120B2E"/>
                </a:solidFill>
              </a:rPr>
              <a:t>MOG2 + YOLOv8n</a:t>
            </a:r>
            <a:endParaRPr lang="en-US" sz="1200" dirty="0"/>
          </a:p>
        </p:txBody>
      </p:sp>
      <p:sp>
        <p:nvSpPr>
          <p:cNvPr id="28" name="Dashboard"/>
          <p:cNvSpPr/>
          <p:nvPr/>
        </p:nvSpPr>
        <p:spPr>
          <a:xfrm>
            <a:off x="7178040" y="4160520"/>
            <a:ext cx="2011680" cy="868680"/>
          </a:xfrm>
          <a:prstGeom prst="roundRect">
            <a:avLst>
              <a:gd name="adj" fmla="val 15789"/>
            </a:avLst>
          </a:prstGeom>
          <a:solidFill>
            <a:srgbClr val="3D8BFF"/>
          </a:solidFill>
          <a:ln/>
          <a:effectLst>
            <a:outerShdw sx="100000" sy="100000" kx="0" ky="0" algn="bl" rotWithShape="0" blurRad="127000" dist="38100" dir="5400000">
              <a:srgbClr val="000000">
                <a:alpha val="20000"/>
              </a:srgbClr>
            </a:outerShdw>
          </a:effectLst>
        </p:spPr>
      </p:sp>
      <p:sp>
        <p:nvSpPr>
          <p:cNvPr id="29" name="Text 27"/>
          <p:cNvSpPr txBox="1"/>
          <p:nvPr/>
        </p:nvSpPr>
        <p:spPr>
          <a:xfrm>
            <a:off x="7269480" y="4288536"/>
            <a:ext cx="1828800" cy="292608"/>
          </a:xfrm>
          <a:prstGeom prst="rect">
            <a:avLst/>
          </a:prstGeom>
          <a:noFill/>
          <a:ln/>
        </p:spPr>
        <p:txBody>
          <a:bodyPr wrap="square" lIns="0" tIns="0" rIns="0" bIns="0" rtlCol="0" anchor="t"/>
          <a:lstStyle/>
          <a:p>
            <a:pPr algn="ctr" indent="0" marL="0">
              <a:buNone/>
            </a:pPr>
            <a:r>
              <a:rPr lang="en-US" sz="1500" b="1" dirty="0">
                <a:solidFill>
                  <a:srgbClr val="120B2E"/>
                </a:solidFill>
              </a:rPr>
              <a:t>Dashboard</a:t>
            </a:r>
            <a:endParaRPr lang="en-US" sz="1500" dirty="0"/>
          </a:p>
        </p:txBody>
      </p:sp>
      <p:sp>
        <p:nvSpPr>
          <p:cNvPr id="30" name="Text 28"/>
          <p:cNvSpPr txBox="1"/>
          <p:nvPr/>
        </p:nvSpPr>
        <p:spPr>
          <a:xfrm>
            <a:off x="7269480" y="4617720"/>
            <a:ext cx="1828800" cy="365760"/>
          </a:xfrm>
          <a:prstGeom prst="rect">
            <a:avLst/>
          </a:prstGeom>
          <a:noFill/>
          <a:ln/>
        </p:spPr>
        <p:txBody>
          <a:bodyPr wrap="square" lIns="0" tIns="0" rIns="0" bIns="0" rtlCol="0" anchor="t"/>
          <a:lstStyle/>
          <a:p>
            <a:pPr algn="ctr" indent="0" marL="0">
              <a:buNone/>
            </a:pPr>
            <a:r>
              <a:rPr lang="en-US" sz="1200" dirty="0">
                <a:solidFill>
                  <a:srgbClr val="120B2E"/>
                </a:solidFill>
              </a:rPr>
              <a:t>React · 127.0.0.1</a:t>
            </a:r>
            <a:endParaRPr lang="en-US" sz="1200" dirty="0"/>
          </a:p>
        </p:txBody>
      </p:sp>
      <p:sp>
        <p:nvSpPr>
          <p:cNvPr id="31" name="IA Prédiction"/>
          <p:cNvSpPr/>
          <p:nvPr/>
        </p:nvSpPr>
        <p:spPr>
          <a:xfrm>
            <a:off x="9509760" y="4160520"/>
            <a:ext cx="1920240" cy="868680"/>
          </a:xfrm>
          <a:prstGeom prst="roundRect">
            <a:avLst>
              <a:gd name="adj" fmla="val 15789"/>
            </a:avLst>
          </a:prstGeom>
          <a:solidFill>
            <a:srgbClr val="FF4F81"/>
          </a:solidFill>
          <a:ln/>
          <a:effectLst>
            <a:outerShdw sx="100000" sy="100000" kx="0" ky="0" algn="bl" rotWithShape="0" blurRad="127000" dist="38100" dir="5400000">
              <a:srgbClr val="000000">
                <a:alpha val="20000"/>
              </a:srgbClr>
            </a:outerShdw>
          </a:effectLst>
        </p:spPr>
      </p:sp>
      <p:sp>
        <p:nvSpPr>
          <p:cNvPr id="32" name="Text 30"/>
          <p:cNvSpPr txBox="1"/>
          <p:nvPr/>
        </p:nvSpPr>
        <p:spPr>
          <a:xfrm>
            <a:off x="9601200" y="4288536"/>
            <a:ext cx="1737360" cy="292608"/>
          </a:xfrm>
          <a:prstGeom prst="rect">
            <a:avLst/>
          </a:prstGeom>
          <a:noFill/>
          <a:ln/>
        </p:spPr>
        <p:txBody>
          <a:bodyPr wrap="square" lIns="0" tIns="0" rIns="0" bIns="0" rtlCol="0" anchor="t"/>
          <a:lstStyle/>
          <a:p>
            <a:pPr algn="ctr" indent="0" marL="0">
              <a:buNone/>
            </a:pPr>
            <a:r>
              <a:rPr lang="en-US" sz="1500" b="1" dirty="0">
                <a:solidFill>
                  <a:srgbClr val="120B2E"/>
                </a:solidFill>
              </a:rPr>
              <a:t>IA Prédiction</a:t>
            </a:r>
            <a:endParaRPr lang="en-US" sz="1500" dirty="0"/>
          </a:p>
        </p:txBody>
      </p:sp>
      <p:sp>
        <p:nvSpPr>
          <p:cNvPr id="33" name="Text 31"/>
          <p:cNvSpPr txBox="1"/>
          <p:nvPr/>
        </p:nvSpPr>
        <p:spPr>
          <a:xfrm>
            <a:off x="9601200" y="4617720"/>
            <a:ext cx="1737360" cy="365760"/>
          </a:xfrm>
          <a:prstGeom prst="rect">
            <a:avLst/>
          </a:prstGeom>
          <a:noFill/>
          <a:ln/>
        </p:spPr>
        <p:txBody>
          <a:bodyPr wrap="square" lIns="0" tIns="0" rIns="0" bIns="0" rtlCol="0" anchor="t"/>
          <a:lstStyle/>
          <a:p>
            <a:pPr algn="ctr" indent="0" marL="0">
              <a:buNone/>
            </a:pPr>
            <a:r>
              <a:rPr lang="en-US" sz="1200" dirty="0">
                <a:solidFill>
                  <a:srgbClr val="120B2E"/>
                </a:solidFill>
              </a:rPr>
              <a:t>Isolation Forest</a:t>
            </a:r>
            <a:endParaRPr lang="en-US" sz="1200" dirty="0"/>
          </a:p>
        </p:txBody>
      </p:sp>
      <p:sp>
        <p:nvSpPr>
          <p:cNvPr id="34" name="Flèche"/>
          <p:cNvSpPr/>
          <p:nvPr/>
        </p:nvSpPr>
        <p:spPr>
          <a:xfrm>
            <a:off x="2926080" y="2944368"/>
            <a:ext cx="1600200" cy="0"/>
          </a:xfrm>
          <a:prstGeom prst="line">
            <a:avLst/>
          </a:prstGeom>
          <a:noFill/>
          <a:ln w="31750">
            <a:solidFill>
              <a:srgbClr val="6C3BFF"/>
            </a:solidFill>
            <a:prstDash val="solid"/>
            <a:tailEnd type="triangle"/>
          </a:ln>
        </p:spPr>
      </p:sp>
      <p:sp>
        <p:nvSpPr>
          <p:cNvPr id="35" name="Text 33"/>
          <p:cNvSpPr txBox="1"/>
          <p:nvPr/>
        </p:nvSpPr>
        <p:spPr>
          <a:xfrm>
            <a:off x="2926080" y="2578608"/>
            <a:ext cx="1280160" cy="320040"/>
          </a:xfrm>
          <a:prstGeom prst="rect">
            <a:avLst/>
          </a:prstGeom>
          <a:noFill/>
          <a:ln/>
        </p:spPr>
        <p:txBody>
          <a:bodyPr wrap="square" lIns="0" tIns="0" rIns="0" bIns="0" rtlCol="0" anchor="t"/>
          <a:lstStyle/>
          <a:p>
            <a:pPr algn="ctr" indent="0" marL="0">
              <a:buNone/>
            </a:pPr>
            <a:r>
              <a:rPr lang="en-US" sz="1200" b="1" dirty="0">
                <a:solidFill>
                  <a:srgbClr val="6C3BFF"/>
                </a:solidFill>
              </a:rPr>
              <a:t>MQTTS · TLS 1.2+</a:t>
            </a:r>
            <a:endParaRPr lang="en-US" sz="1200" dirty="0"/>
          </a:p>
        </p:txBody>
      </p:sp>
      <p:sp>
        <p:nvSpPr>
          <p:cNvPr id="36" name="Flèche"/>
          <p:cNvSpPr/>
          <p:nvPr/>
        </p:nvSpPr>
        <p:spPr>
          <a:xfrm>
            <a:off x="2926080" y="4590288"/>
            <a:ext cx="1600200" cy="0"/>
          </a:xfrm>
          <a:prstGeom prst="line">
            <a:avLst/>
          </a:prstGeom>
          <a:noFill/>
          <a:ln w="31750">
            <a:solidFill>
              <a:srgbClr val="00C9B7"/>
            </a:solidFill>
            <a:prstDash val="solid"/>
            <a:tailEnd type="triangle"/>
          </a:ln>
        </p:spPr>
      </p:sp>
      <p:sp>
        <p:nvSpPr>
          <p:cNvPr id="37" name="Flèche"/>
          <p:cNvSpPr/>
          <p:nvPr/>
        </p:nvSpPr>
        <p:spPr>
          <a:xfrm>
            <a:off x="6537960" y="2944368"/>
            <a:ext cx="640080" cy="0"/>
          </a:xfrm>
          <a:prstGeom prst="line">
            <a:avLst/>
          </a:prstGeom>
          <a:noFill/>
          <a:ln w="31750">
            <a:solidFill>
              <a:srgbClr val="120B2E"/>
            </a:solidFill>
            <a:prstDash val="solid"/>
            <a:tailEnd type="triangle"/>
          </a:ln>
        </p:spPr>
      </p:sp>
      <p:sp>
        <p:nvSpPr>
          <p:cNvPr id="38" name="Flèche"/>
          <p:cNvSpPr/>
          <p:nvPr/>
        </p:nvSpPr>
        <p:spPr>
          <a:xfrm>
            <a:off x="9189720" y="2944368"/>
            <a:ext cx="320040" cy="0"/>
          </a:xfrm>
          <a:prstGeom prst="line">
            <a:avLst/>
          </a:prstGeom>
          <a:noFill/>
          <a:ln w="31750">
            <a:solidFill>
              <a:srgbClr val="120B2E"/>
            </a:solidFill>
            <a:prstDash val="solid"/>
            <a:tailEnd type="triangle"/>
          </a:ln>
        </p:spPr>
      </p:sp>
      <p:sp>
        <p:nvSpPr>
          <p:cNvPr id="39" name="Trait"/>
          <p:cNvSpPr/>
          <p:nvPr/>
        </p:nvSpPr>
        <p:spPr>
          <a:xfrm>
            <a:off x="8183880" y="3383280"/>
            <a:ext cx="0" cy="384048"/>
          </a:xfrm>
          <a:prstGeom prst="line">
            <a:avLst/>
          </a:prstGeom>
          <a:noFill/>
          <a:ln w="25400">
            <a:solidFill>
              <a:srgbClr val="120B2E"/>
            </a:solidFill>
            <a:prstDash val="solid"/>
          </a:ln>
        </p:spPr>
      </p:sp>
      <p:sp>
        <p:nvSpPr>
          <p:cNvPr id="40" name="Trait"/>
          <p:cNvSpPr/>
          <p:nvPr/>
        </p:nvSpPr>
        <p:spPr>
          <a:xfrm>
            <a:off x="5532120" y="3767328"/>
            <a:ext cx="4937760" cy="0"/>
          </a:xfrm>
          <a:prstGeom prst="line">
            <a:avLst/>
          </a:prstGeom>
          <a:noFill/>
          <a:ln w="25400">
            <a:solidFill>
              <a:srgbClr val="120B2E"/>
            </a:solidFill>
            <a:prstDash val="solid"/>
          </a:ln>
        </p:spPr>
      </p:sp>
      <p:sp>
        <p:nvSpPr>
          <p:cNvPr id="41" name="Trait"/>
          <p:cNvSpPr/>
          <p:nvPr/>
        </p:nvSpPr>
        <p:spPr>
          <a:xfrm>
            <a:off x="5532120" y="3767328"/>
            <a:ext cx="0" cy="393192"/>
          </a:xfrm>
          <a:prstGeom prst="line">
            <a:avLst/>
          </a:prstGeom>
          <a:noFill/>
          <a:ln w="25400">
            <a:solidFill>
              <a:srgbClr val="120B2E"/>
            </a:solidFill>
            <a:prstDash val="solid"/>
          </a:ln>
        </p:spPr>
      </p:sp>
      <p:sp>
        <p:nvSpPr>
          <p:cNvPr id="42" name="Trait"/>
          <p:cNvSpPr/>
          <p:nvPr/>
        </p:nvSpPr>
        <p:spPr>
          <a:xfrm>
            <a:off x="8183880" y="3767328"/>
            <a:ext cx="0" cy="393192"/>
          </a:xfrm>
          <a:prstGeom prst="line">
            <a:avLst/>
          </a:prstGeom>
          <a:noFill/>
          <a:ln w="25400">
            <a:solidFill>
              <a:srgbClr val="120B2E"/>
            </a:solidFill>
            <a:prstDash val="solid"/>
          </a:ln>
        </p:spPr>
      </p:sp>
      <p:sp>
        <p:nvSpPr>
          <p:cNvPr id="43" name="Trait"/>
          <p:cNvSpPr/>
          <p:nvPr/>
        </p:nvSpPr>
        <p:spPr>
          <a:xfrm>
            <a:off x="10469880" y="3767328"/>
            <a:ext cx="0" cy="393192"/>
          </a:xfrm>
          <a:prstGeom prst="line">
            <a:avLst/>
          </a:prstGeom>
          <a:noFill/>
          <a:ln w="25400">
            <a:solidFill>
              <a:srgbClr val="120B2E"/>
            </a:solidFill>
            <a:prstDash val="solid"/>
          </a:ln>
        </p:spPr>
      </p:sp>
      <p:sp>
        <p:nvSpPr>
          <p:cNvPr id="44" name="Text 42"/>
          <p:cNvSpPr txBox="1"/>
          <p:nvPr/>
        </p:nvSpPr>
        <p:spPr>
          <a:xfrm>
            <a:off x="8321040" y="3493008"/>
            <a:ext cx="2103120" cy="228600"/>
          </a:xfrm>
          <a:prstGeom prst="rect">
            <a:avLst/>
          </a:prstGeom>
          <a:noFill/>
          <a:ln/>
        </p:spPr>
        <p:txBody>
          <a:bodyPr wrap="square" lIns="0" tIns="0" rIns="0" bIns="0" rtlCol="0" anchor="t"/>
          <a:lstStyle/>
          <a:p>
            <a:pPr indent="0" marL="0">
              <a:buNone/>
            </a:pPr>
            <a:r>
              <a:rPr lang="en-US" sz="1100" i="1" dirty="0">
                <a:solidFill>
                  <a:srgbClr val="5B5780"/>
                </a:solidFill>
              </a:rPr>
              <a:t>alertes · session · API</a:t>
            </a:r>
            <a:endParaRPr lang="en-US" sz="1100" dirty="0"/>
          </a:p>
        </p:txBody>
      </p:sp>
      <p:sp>
        <p:nvSpPr>
          <p:cNvPr id="45" name="Étiquette"/>
          <p:cNvSpPr/>
          <p:nvPr/>
        </p:nvSpPr>
        <p:spPr>
          <a:xfrm>
            <a:off x="4526280" y="5440680"/>
            <a:ext cx="2468880" cy="457200"/>
          </a:xfrm>
          <a:prstGeom prst="roundRect">
            <a:avLst>
              <a:gd name="adj" fmla="val 50000"/>
            </a:avLst>
          </a:prstGeom>
          <a:solidFill>
            <a:srgbClr val="6C3BFF"/>
          </a:solidFill>
          <a:ln/>
        </p:spPr>
      </p:sp>
      <p:sp>
        <p:nvSpPr>
          <p:cNvPr id="46" name="Text 44"/>
          <p:cNvSpPr txBox="1"/>
          <p:nvPr/>
        </p:nvSpPr>
        <p:spPr>
          <a:xfrm>
            <a:off x="4526280" y="5440680"/>
            <a:ext cx="2468880" cy="457200"/>
          </a:xfrm>
          <a:prstGeom prst="rect">
            <a:avLst/>
          </a:prstGeom>
          <a:noFill/>
          <a:ln/>
        </p:spPr>
        <p:txBody>
          <a:bodyPr wrap="square" lIns="0" tIns="0" rIns="0" bIns="0" rtlCol="0" anchor="ctr"/>
          <a:lstStyle/>
          <a:p>
            <a:pPr algn="ctr" indent="0" marL="0">
              <a:buNone/>
            </a:pPr>
            <a:r>
              <a:rPr lang="en-US" sz="1200" b="1" dirty="0">
                <a:solidFill>
                  <a:srgbClr val="FFFFFF"/>
                </a:solidFill>
              </a:rPr>
              <a:t>1 seul port exposé : 18883</a:t>
            </a:r>
            <a:endParaRPr lang="en-US" sz="1200" dirty="0"/>
          </a:p>
        </p:txBody>
      </p:sp>
      <p:sp>
        <p:nvSpPr>
          <p:cNvPr id="47" name="Étiquette"/>
          <p:cNvSpPr/>
          <p:nvPr/>
        </p:nvSpPr>
        <p:spPr>
          <a:xfrm>
            <a:off x="7178040" y="5440680"/>
            <a:ext cx="1920240" cy="457200"/>
          </a:xfrm>
          <a:prstGeom prst="roundRect">
            <a:avLst>
              <a:gd name="adj" fmla="val 50000"/>
            </a:avLst>
          </a:prstGeom>
          <a:solidFill>
            <a:srgbClr val="00C9B7"/>
          </a:solidFill>
          <a:ln/>
        </p:spPr>
      </p:sp>
      <p:sp>
        <p:nvSpPr>
          <p:cNvPr id="48" name="Text 46"/>
          <p:cNvSpPr txBox="1"/>
          <p:nvPr/>
        </p:nvSpPr>
        <p:spPr>
          <a:xfrm>
            <a:off x="7178040" y="5440680"/>
            <a:ext cx="1920240" cy="457200"/>
          </a:xfrm>
          <a:prstGeom prst="rect">
            <a:avLst/>
          </a:prstGeom>
          <a:noFill/>
          <a:ln/>
        </p:spPr>
        <p:txBody>
          <a:bodyPr wrap="square" lIns="0" tIns="0" rIns="0" bIns="0" rtlCol="0" anchor="ctr"/>
          <a:lstStyle/>
          <a:p>
            <a:pPr algn="ctr" indent="0" marL="0">
              <a:buNone/>
            </a:pPr>
            <a:r>
              <a:rPr lang="en-US" sz="1200" b="1" dirty="0">
                <a:solidFill>
                  <a:srgbClr val="120B2E"/>
                </a:solidFill>
              </a:rPr>
              <a:t>conteneurs non root</a:t>
            </a:r>
            <a:endParaRPr lang="en-US" sz="1200" dirty="0"/>
          </a:p>
        </p:txBody>
      </p:sp>
      <p:sp>
        <p:nvSpPr>
          <p:cNvPr id="49" name="Étiquette"/>
          <p:cNvSpPr/>
          <p:nvPr/>
        </p:nvSpPr>
        <p:spPr>
          <a:xfrm>
            <a:off x="9281160" y="5440680"/>
            <a:ext cx="2240280" cy="457200"/>
          </a:xfrm>
          <a:prstGeom prst="roundRect">
            <a:avLst>
              <a:gd name="adj" fmla="val 50000"/>
            </a:avLst>
          </a:prstGeom>
          <a:solidFill>
            <a:srgbClr val="FFB400"/>
          </a:solidFill>
          <a:ln/>
        </p:spPr>
      </p:sp>
      <p:sp>
        <p:nvSpPr>
          <p:cNvPr id="50" name="Text 48"/>
          <p:cNvSpPr txBox="1"/>
          <p:nvPr/>
        </p:nvSpPr>
        <p:spPr>
          <a:xfrm>
            <a:off x="9281160" y="5440680"/>
            <a:ext cx="2240280" cy="457200"/>
          </a:xfrm>
          <a:prstGeom prst="rect">
            <a:avLst/>
          </a:prstGeom>
          <a:noFill/>
          <a:ln/>
        </p:spPr>
        <p:txBody>
          <a:bodyPr wrap="square" lIns="0" tIns="0" rIns="0" bIns="0" rtlCol="0" anchor="ctr"/>
          <a:lstStyle/>
          <a:p>
            <a:pPr algn="ctr" indent="0" marL="0">
              <a:buNone/>
            </a:pPr>
            <a:r>
              <a:rPr lang="en-US" sz="1200" b="1" dirty="0">
                <a:solidFill>
                  <a:srgbClr val="120B2E"/>
                </a:solidFill>
              </a:rPr>
              <a:t>hors ligne après build</a:t>
            </a:r>
            <a:endParaRPr lang="en-US" sz="1200" dirty="0"/>
          </a:p>
        </p:txBody>
      </p:sp>
      <p:sp>
        <p:nvSpPr>
          <p:cNvPr id="51" name="Text 49"/>
          <p:cNvSpPr txBox="1"/>
          <p:nvPr/>
        </p:nvSpPr>
        <p:spPr>
          <a:xfrm>
            <a:off x="548640" y="5486400"/>
            <a:ext cx="3474720" cy="731520"/>
          </a:xfrm>
          <a:prstGeom prst="rect">
            <a:avLst/>
          </a:prstGeom>
          <a:noFill/>
          <a:ln/>
        </p:spPr>
        <p:txBody>
          <a:bodyPr wrap="square" lIns="0" tIns="0" rIns="0" bIns="0" rtlCol="0" anchor="t"/>
          <a:lstStyle/>
          <a:p>
            <a:pPr indent="0" marL="0">
              <a:buNone/>
            </a:pPr>
            <a:r>
              <a:rPr lang="en-US" sz="1400" dirty="0">
                <a:solidFill>
                  <a:srgbClr val="5B5780"/>
                </a:solidFill>
              </a:rPr>
              <a:t>Un seul écrivain en base : le backend. Les IA lisent, puis alertent via l'API.</a:t>
            </a:r>
            <a:endParaRPr lang="en-US" sz="14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578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Anneau radar"/>
          <p:cNvSpPr/>
          <p:nvPr/>
        </p:nvSpPr>
        <p:spPr>
          <a:xfrm>
            <a:off x="11457432" y="-731520"/>
            <a:ext cx="1463040" cy="1463040"/>
          </a:xfrm>
          <a:prstGeom prst="ellipse">
            <a:avLst/>
          </a:prstGeom>
          <a:solidFill>
            <a:srgbClr val="FFFFFF">
              <a:alpha val="0"/>
            </a:srgbClr>
          </a:solidFill>
          <a:ln w="19050">
            <a:solidFill>
              <a:srgbClr val="00C9B7">
                <a:alpha val="35000"/>
              </a:srgbClr>
            </a:solidFill>
            <a:prstDash val="solid"/>
          </a:ln>
        </p:spPr>
      </p:sp>
      <p:sp>
        <p:nvSpPr>
          <p:cNvPr id="3" name="Anneau radar"/>
          <p:cNvSpPr/>
          <p:nvPr/>
        </p:nvSpPr>
        <p:spPr>
          <a:xfrm>
            <a:off x="11000232" y="-1188720"/>
            <a:ext cx="2377440" cy="2377440"/>
          </a:xfrm>
          <a:prstGeom prst="ellipse">
            <a:avLst/>
          </a:prstGeom>
          <a:solidFill>
            <a:srgbClr val="FFFFFF">
              <a:alpha val="0"/>
            </a:srgbClr>
          </a:solidFill>
          <a:ln w="19050">
            <a:solidFill>
              <a:srgbClr val="6C3BFF">
                <a:alpha val="35000"/>
              </a:srgbClr>
            </a:solidFill>
            <a:prstDash val="solid"/>
          </a:ln>
        </p:spPr>
      </p:sp>
      <p:sp>
        <p:nvSpPr>
          <p:cNvPr id="4" name="Anneau radar"/>
          <p:cNvSpPr/>
          <p:nvPr/>
        </p:nvSpPr>
        <p:spPr>
          <a:xfrm>
            <a:off x="10543032" y="-1645920"/>
            <a:ext cx="3291840" cy="3291840"/>
          </a:xfrm>
          <a:prstGeom prst="ellipse">
            <a:avLst/>
          </a:prstGeom>
          <a:solidFill>
            <a:srgbClr val="FFFFFF">
              <a:alpha val="0"/>
            </a:srgbClr>
          </a:solidFill>
          <a:ln w="19050">
            <a:solidFill>
              <a:srgbClr val="FF4F81">
                <a:alpha val="35000"/>
              </a:srgbClr>
            </a:solidFill>
            <a:prstDash val="solid"/>
          </a:ln>
        </p:spPr>
      </p:sp>
      <p:sp>
        <p:nvSpPr>
          <p:cNvPr id="5" name="Surtitre"/>
          <p:cNvSpPr/>
          <p:nvPr/>
        </p:nvSpPr>
        <p:spPr>
          <a:xfrm>
            <a:off x="548640" y="384048"/>
            <a:ext cx="1499616" cy="292608"/>
          </a:xfrm>
          <a:prstGeom prst="roundRect">
            <a:avLst>
              <a:gd name="adj" fmla="val 50000"/>
            </a:avLst>
          </a:prstGeom>
          <a:solidFill>
            <a:srgbClr val="00C9B7"/>
          </a:solidFill>
          <a:ln/>
        </p:spPr>
      </p:sp>
      <p:sp>
        <p:nvSpPr>
          <p:cNvPr id="6" name="Text 4"/>
          <p:cNvSpPr txBox="1"/>
          <p:nvPr/>
        </p:nvSpPr>
        <p:spPr>
          <a:xfrm>
            <a:off x="548640" y="384048"/>
            <a:ext cx="1499616" cy="292608"/>
          </a:xfrm>
          <a:prstGeom prst="rect">
            <a:avLst/>
          </a:prstGeom>
          <a:noFill/>
          <a:ln/>
        </p:spPr>
        <p:txBody>
          <a:bodyPr wrap="square" lIns="0" tIns="0" rIns="0" bIns="0" rtlCol="0" anchor="ctr"/>
          <a:lstStyle/>
          <a:p>
            <a:pPr algn="ctr" indent="0" marL="0">
              <a:buNone/>
            </a:pPr>
            <a:r>
              <a:rPr lang="en-US" sz="1100" b="1" spc="100" kern="0" dirty="0">
                <a:solidFill>
                  <a:srgbClr val="120B2E"/>
                </a:solidFill>
              </a:rPr>
              <a:t>RÉSEAU DE TABLE</a:t>
            </a:r>
            <a:endParaRPr lang="en-US" sz="1100" dirty="0"/>
          </a:p>
        </p:txBody>
      </p:sp>
      <p:sp>
        <p:nvSpPr>
          <p:cNvPr id="7" name="Text 0"/>
          <p:cNvSpPr/>
          <p:nvPr>
            <p:ph idx="100" type="title" hasCustomPrompt="1"/>
          </p:nvPr>
        </p:nvSpPr>
        <p:spPr>
          <a:xfrm>
            <a:off x="548640" y="749808"/>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Un réseau de table verrouillé</a:t>
            </a:r>
            <a:endParaRPr lang="en-US" sz="3400" dirty="0"/>
          </a:p>
        </p:txBody>
      </p:sp>
      <p:sp>
        <p:nvSpPr>
          <p:cNvPr id="8" name="Ligne réseau VIGIL8_HOTSPOT"/>
          <p:cNvSpPr/>
          <p:nvPr/>
        </p:nvSpPr>
        <p:spPr>
          <a:xfrm>
            <a:off x="548640" y="1783080"/>
            <a:ext cx="5760720" cy="914400"/>
          </a:xfrm>
          <a:prstGeom prst="roundRect">
            <a:avLst>
              <a:gd name="adj" fmla="val 15000"/>
            </a:avLst>
          </a:prstGeom>
          <a:solidFill>
            <a:srgbClr val="F3F0FF"/>
          </a:solidFill>
          <a:ln/>
        </p:spPr>
      </p:sp>
      <p:sp>
        <p:nvSpPr>
          <p:cNvPr id="9" name="Pastille FaWifi"/>
          <p:cNvSpPr/>
          <p:nvPr/>
        </p:nvSpPr>
        <p:spPr>
          <a:xfrm>
            <a:off x="731520" y="1920240"/>
            <a:ext cx="640080" cy="640080"/>
          </a:xfrm>
          <a:prstGeom prst="ellipse">
            <a:avLst/>
          </a:prstGeom>
          <a:solidFill>
            <a:srgbClr val="00C9B7"/>
          </a:solidFill>
          <a:ln/>
        </p:spPr>
      </p:sp>
      <p:pic>
        <p:nvPicPr>
          <p:cNvPr id="10" name="Image 0" descr="FaWifi">    </p:cNvPr>
          <p:cNvPicPr>
            <a:picLocks noChangeAspect="1"/>
          </p:cNvPicPr>
          <p:nvPr/>
        </p:nvPicPr>
        <p:blipFill>
          <a:blip r:embed="rId1"/>
          <a:stretch>
            <a:fillRect/>
          </a:stretch>
        </p:blipFill>
        <p:spPr>
          <a:xfrm>
            <a:off x="891540" y="2080260"/>
            <a:ext cx="320040" cy="320040"/>
          </a:xfrm>
          <a:prstGeom prst="rect">
            <a:avLst/>
          </a:prstGeom>
        </p:spPr>
      </p:pic>
      <p:sp>
        <p:nvSpPr>
          <p:cNvPr id="11" name="Text 8"/>
          <p:cNvSpPr txBox="1"/>
          <p:nvPr/>
        </p:nvSpPr>
        <p:spPr>
          <a:xfrm>
            <a:off x="1554480" y="1901952"/>
            <a:ext cx="4572000" cy="292608"/>
          </a:xfrm>
          <a:prstGeom prst="rect">
            <a:avLst/>
          </a:prstGeom>
          <a:noFill/>
          <a:ln/>
        </p:spPr>
        <p:txBody>
          <a:bodyPr wrap="square" lIns="0" tIns="0" rIns="0" bIns="0" rtlCol="0" anchor="t"/>
          <a:lstStyle/>
          <a:p>
            <a:pPr indent="0" marL="0">
              <a:buNone/>
            </a:pPr>
            <a:r>
              <a:rPr lang="en-US" sz="1700" b="1" dirty="0">
                <a:solidFill>
                  <a:schemeClr val="tx1"/>
                </a:solidFill>
              </a:rPr>
              <a:t>VIGIL8_HOTSPOT</a:t>
            </a:r>
            <a:endParaRPr lang="en-US" sz="1700" dirty="0"/>
          </a:p>
        </p:txBody>
      </p:sp>
      <p:sp>
        <p:nvSpPr>
          <p:cNvPr id="12" name="Text 9"/>
          <p:cNvSpPr txBox="1"/>
          <p:nvPr/>
        </p:nvSpPr>
        <p:spPr>
          <a:xfrm>
            <a:off x="1554480" y="2221992"/>
            <a:ext cx="4572000" cy="457200"/>
          </a:xfrm>
          <a:prstGeom prst="rect">
            <a:avLst/>
          </a:prstGeom>
          <a:noFill/>
          <a:ln/>
        </p:spPr>
        <p:txBody>
          <a:bodyPr wrap="square" lIns="0" tIns="0" rIns="0" bIns="0" rtlCol="0" anchor="t"/>
          <a:lstStyle/>
          <a:p>
            <a:pPr indent="0" marL="0">
              <a:buNone/>
            </a:pPr>
            <a:r>
              <a:rPr lang="en-US" sz="1300" dirty="0">
                <a:solidFill>
                  <a:srgbClr val="5B5780"/>
                </a:solidFill>
              </a:rPr>
              <a:t>192.168.10.0/24 · WPA2-PSK · 2,4 GHz uniquement</a:t>
            </a:r>
            <a:endParaRPr lang="en-US" sz="1300" dirty="0"/>
          </a:p>
        </p:txBody>
      </p:sp>
      <p:sp>
        <p:nvSpPr>
          <p:cNvPr id="13" name="Ligne réseau Serveur · 192.168.10.1"/>
          <p:cNvSpPr/>
          <p:nvPr/>
        </p:nvSpPr>
        <p:spPr>
          <a:xfrm>
            <a:off x="548640" y="2880360"/>
            <a:ext cx="5760720" cy="914400"/>
          </a:xfrm>
          <a:prstGeom prst="roundRect">
            <a:avLst>
              <a:gd name="adj" fmla="val 15000"/>
            </a:avLst>
          </a:prstGeom>
          <a:solidFill>
            <a:srgbClr val="F3F0FF"/>
          </a:solidFill>
          <a:ln/>
        </p:spPr>
      </p:sp>
      <p:sp>
        <p:nvSpPr>
          <p:cNvPr id="14" name="Pastille FaServer"/>
          <p:cNvSpPr/>
          <p:nvPr/>
        </p:nvSpPr>
        <p:spPr>
          <a:xfrm>
            <a:off x="731520" y="3017520"/>
            <a:ext cx="640080" cy="640080"/>
          </a:xfrm>
          <a:prstGeom prst="ellipse">
            <a:avLst/>
          </a:prstGeom>
          <a:solidFill>
            <a:srgbClr val="6C3BFF"/>
          </a:solidFill>
          <a:ln/>
        </p:spPr>
      </p:sp>
      <p:pic>
        <p:nvPicPr>
          <p:cNvPr id="15" name="Image 1" descr="FaServer">    </p:cNvPr>
          <p:cNvPicPr>
            <a:picLocks noChangeAspect="1"/>
          </p:cNvPicPr>
          <p:nvPr/>
        </p:nvPicPr>
        <p:blipFill>
          <a:blip r:embed="rId2"/>
          <a:stretch>
            <a:fillRect/>
          </a:stretch>
        </p:blipFill>
        <p:spPr>
          <a:xfrm>
            <a:off x="891540" y="3177540"/>
            <a:ext cx="320040" cy="320040"/>
          </a:xfrm>
          <a:prstGeom prst="rect">
            <a:avLst/>
          </a:prstGeom>
        </p:spPr>
      </p:pic>
      <p:sp>
        <p:nvSpPr>
          <p:cNvPr id="16" name="Text 12"/>
          <p:cNvSpPr txBox="1"/>
          <p:nvPr/>
        </p:nvSpPr>
        <p:spPr>
          <a:xfrm>
            <a:off x="1554480" y="2999232"/>
            <a:ext cx="4572000" cy="292608"/>
          </a:xfrm>
          <a:prstGeom prst="rect">
            <a:avLst/>
          </a:prstGeom>
          <a:noFill/>
          <a:ln/>
        </p:spPr>
        <p:txBody>
          <a:bodyPr wrap="square" lIns="0" tIns="0" rIns="0" bIns="0" rtlCol="0" anchor="t"/>
          <a:lstStyle/>
          <a:p>
            <a:pPr indent="0" marL="0">
              <a:buNone/>
            </a:pPr>
            <a:r>
              <a:rPr lang="en-US" sz="1700" b="1" dirty="0">
                <a:solidFill>
                  <a:schemeClr val="tx1"/>
                </a:solidFill>
              </a:rPr>
              <a:t>Serveur · 192.168.10.1</a:t>
            </a:r>
            <a:endParaRPr lang="en-US" sz="1700" dirty="0"/>
          </a:p>
        </p:txBody>
      </p:sp>
      <p:sp>
        <p:nvSpPr>
          <p:cNvPr id="17" name="Text 13"/>
          <p:cNvSpPr txBox="1"/>
          <p:nvPr/>
        </p:nvSpPr>
        <p:spPr>
          <a:xfrm>
            <a:off x="1554480" y="3319272"/>
            <a:ext cx="4572000" cy="457200"/>
          </a:xfrm>
          <a:prstGeom prst="rect">
            <a:avLst/>
          </a:prstGeom>
          <a:noFill/>
          <a:ln/>
        </p:spPr>
        <p:txBody>
          <a:bodyPr wrap="square" lIns="0" tIns="0" rIns="0" bIns="0" rtlCol="0" anchor="t"/>
          <a:lstStyle/>
          <a:p>
            <a:pPr indent="0" marL="0">
              <a:buNone/>
            </a:pPr>
            <a:r>
              <a:rPr lang="en-US" sz="1300" dirty="0">
                <a:solidFill>
                  <a:srgbClr val="5B5780"/>
                </a:solidFill>
              </a:rPr>
              <a:t>Passerelle et DHCP · adresse inscrite dans le certificat TLS</a:t>
            </a:r>
            <a:endParaRPr lang="en-US" sz="1300" dirty="0"/>
          </a:p>
        </p:txBody>
      </p:sp>
      <p:sp>
        <p:nvSpPr>
          <p:cNvPr id="18" name="Ligne réseau Nœud ESP32 · 192.168.10.5"/>
          <p:cNvSpPr/>
          <p:nvPr/>
        </p:nvSpPr>
        <p:spPr>
          <a:xfrm>
            <a:off x="548640" y="3977640"/>
            <a:ext cx="5760720" cy="914400"/>
          </a:xfrm>
          <a:prstGeom prst="roundRect">
            <a:avLst>
              <a:gd name="adj" fmla="val 15000"/>
            </a:avLst>
          </a:prstGeom>
          <a:solidFill>
            <a:srgbClr val="F3F0FF"/>
          </a:solidFill>
          <a:ln/>
        </p:spPr>
      </p:sp>
      <p:sp>
        <p:nvSpPr>
          <p:cNvPr id="19" name="Pastille FaMicrochip"/>
          <p:cNvSpPr/>
          <p:nvPr/>
        </p:nvSpPr>
        <p:spPr>
          <a:xfrm>
            <a:off x="731520" y="4114800"/>
            <a:ext cx="640080" cy="640080"/>
          </a:xfrm>
          <a:prstGeom prst="ellipse">
            <a:avLst/>
          </a:prstGeom>
          <a:solidFill>
            <a:srgbClr val="FF4F81"/>
          </a:solidFill>
          <a:ln/>
        </p:spPr>
      </p:sp>
      <p:pic>
        <p:nvPicPr>
          <p:cNvPr id="20" name="Image 2" descr="FaMicrochip">    </p:cNvPr>
          <p:cNvPicPr>
            <a:picLocks noChangeAspect="1"/>
          </p:cNvPicPr>
          <p:nvPr/>
        </p:nvPicPr>
        <p:blipFill>
          <a:blip r:embed="rId3"/>
          <a:stretch>
            <a:fillRect/>
          </a:stretch>
        </p:blipFill>
        <p:spPr>
          <a:xfrm>
            <a:off x="891540" y="4274820"/>
            <a:ext cx="320040" cy="320040"/>
          </a:xfrm>
          <a:prstGeom prst="rect">
            <a:avLst/>
          </a:prstGeom>
        </p:spPr>
      </p:pic>
      <p:sp>
        <p:nvSpPr>
          <p:cNvPr id="21" name="Text 16"/>
          <p:cNvSpPr txBox="1"/>
          <p:nvPr/>
        </p:nvSpPr>
        <p:spPr>
          <a:xfrm>
            <a:off x="1554480" y="4096512"/>
            <a:ext cx="4572000" cy="292608"/>
          </a:xfrm>
          <a:prstGeom prst="rect">
            <a:avLst/>
          </a:prstGeom>
          <a:noFill/>
          <a:ln/>
        </p:spPr>
        <p:txBody>
          <a:bodyPr wrap="square" lIns="0" tIns="0" rIns="0" bIns="0" rtlCol="0" anchor="t"/>
          <a:lstStyle/>
          <a:p>
            <a:pPr indent="0" marL="0">
              <a:buNone/>
            </a:pPr>
            <a:r>
              <a:rPr lang="en-US" sz="1700" b="1" dirty="0">
                <a:solidFill>
                  <a:schemeClr val="tx1"/>
                </a:solidFill>
              </a:rPr>
              <a:t>Nœud ESP32 · 192.168.10.5</a:t>
            </a:r>
            <a:endParaRPr lang="en-US" sz="1700" dirty="0"/>
          </a:p>
        </p:txBody>
      </p:sp>
      <p:sp>
        <p:nvSpPr>
          <p:cNvPr id="22" name="Text 17"/>
          <p:cNvSpPr txBox="1"/>
          <p:nvPr/>
        </p:nvSpPr>
        <p:spPr>
          <a:xfrm>
            <a:off x="1554480" y="4416552"/>
            <a:ext cx="4572000" cy="457200"/>
          </a:xfrm>
          <a:prstGeom prst="rect">
            <a:avLst/>
          </a:prstGeom>
          <a:noFill/>
          <a:ln/>
        </p:spPr>
        <p:txBody>
          <a:bodyPr wrap="square" lIns="0" tIns="0" rIns="0" bIns="0" rtlCol="0" anchor="t"/>
          <a:lstStyle/>
          <a:p>
            <a:pPr indent="0" marL="0">
              <a:buNone/>
            </a:pPr>
            <a:r>
              <a:rPr lang="en-US" sz="1300" dirty="0">
                <a:solidFill>
                  <a:srgbClr val="5B5780"/>
                </a:solidFill>
              </a:rPr>
              <a:t>IP fixe, hors plage DHCP : aucun conflit possible</a:t>
            </a:r>
            <a:endParaRPr lang="en-US" sz="1300" dirty="0"/>
          </a:p>
        </p:txBody>
      </p:sp>
      <p:sp>
        <p:nvSpPr>
          <p:cNvPr id="23" name="Ligne réseau DHCP · .10 à .254"/>
          <p:cNvSpPr/>
          <p:nvPr/>
        </p:nvSpPr>
        <p:spPr>
          <a:xfrm>
            <a:off x="548640" y="5074920"/>
            <a:ext cx="5760720" cy="914400"/>
          </a:xfrm>
          <a:prstGeom prst="roundRect">
            <a:avLst>
              <a:gd name="adj" fmla="val 15000"/>
            </a:avLst>
          </a:prstGeom>
          <a:solidFill>
            <a:srgbClr val="F3F0FF"/>
          </a:solidFill>
          <a:ln/>
        </p:spPr>
      </p:sp>
      <p:sp>
        <p:nvSpPr>
          <p:cNvPr id="24" name="Pastille FaNetworkWired"/>
          <p:cNvSpPr/>
          <p:nvPr/>
        </p:nvSpPr>
        <p:spPr>
          <a:xfrm>
            <a:off x="731520" y="5212080"/>
            <a:ext cx="640080" cy="640080"/>
          </a:xfrm>
          <a:prstGeom prst="ellipse">
            <a:avLst/>
          </a:prstGeom>
          <a:solidFill>
            <a:srgbClr val="FFB400"/>
          </a:solidFill>
          <a:ln/>
        </p:spPr>
      </p:sp>
      <p:pic>
        <p:nvPicPr>
          <p:cNvPr id="25" name="Image 3" descr="FaNetworkWired">    </p:cNvPr>
          <p:cNvPicPr>
            <a:picLocks noChangeAspect="1"/>
          </p:cNvPicPr>
          <p:nvPr/>
        </p:nvPicPr>
        <p:blipFill>
          <a:blip r:embed="rId4"/>
          <a:stretch>
            <a:fillRect/>
          </a:stretch>
        </p:blipFill>
        <p:spPr>
          <a:xfrm>
            <a:off x="891540" y="5372100"/>
            <a:ext cx="320040" cy="320040"/>
          </a:xfrm>
          <a:prstGeom prst="rect">
            <a:avLst/>
          </a:prstGeom>
        </p:spPr>
      </p:pic>
      <p:sp>
        <p:nvSpPr>
          <p:cNvPr id="26" name="Text 20"/>
          <p:cNvSpPr txBox="1"/>
          <p:nvPr/>
        </p:nvSpPr>
        <p:spPr>
          <a:xfrm>
            <a:off x="1554480" y="5193792"/>
            <a:ext cx="4572000" cy="292608"/>
          </a:xfrm>
          <a:prstGeom prst="rect">
            <a:avLst/>
          </a:prstGeom>
          <a:noFill/>
          <a:ln/>
        </p:spPr>
        <p:txBody>
          <a:bodyPr wrap="square" lIns="0" tIns="0" rIns="0" bIns="0" rtlCol="0" anchor="t"/>
          <a:lstStyle/>
          <a:p>
            <a:pPr indent="0" marL="0">
              <a:buNone/>
            </a:pPr>
            <a:r>
              <a:rPr lang="en-US" sz="1700" b="1" dirty="0">
                <a:solidFill>
                  <a:schemeClr val="tx1"/>
                </a:solidFill>
              </a:rPr>
              <a:t>DHCP · .10 à .254</a:t>
            </a:r>
            <a:endParaRPr lang="en-US" sz="1700" dirty="0"/>
          </a:p>
        </p:txBody>
      </p:sp>
      <p:sp>
        <p:nvSpPr>
          <p:cNvPr id="27" name="Text 21"/>
          <p:cNvSpPr txBox="1"/>
          <p:nvPr/>
        </p:nvSpPr>
        <p:spPr>
          <a:xfrm>
            <a:off x="1554480" y="5513832"/>
            <a:ext cx="4572000" cy="457200"/>
          </a:xfrm>
          <a:prstGeom prst="rect">
            <a:avLst/>
          </a:prstGeom>
          <a:noFill/>
          <a:ln/>
        </p:spPr>
        <p:txBody>
          <a:bodyPr wrap="square" lIns="0" tIns="0" rIns="0" bIns="0" rtlCol="0" anchor="t"/>
          <a:lstStyle/>
          <a:p>
            <a:pPr indent="0" marL="0">
              <a:buNone/>
            </a:pPr>
            <a:r>
              <a:rPr lang="en-US" sz="1300" dirty="0">
                <a:solidFill>
                  <a:srgbClr val="5B5780"/>
                </a:solidFill>
              </a:rPr>
              <a:t>Clients occasionnels : aucun service ne leur est destiné</a:t>
            </a:r>
            <a:endParaRPr lang="en-US" sz="1300" dirty="0"/>
          </a:p>
        </p:txBody>
      </p:sp>
      <p:sp>
        <p:nvSpPr>
          <p:cNvPr id="28" name="Vue attaquant"/>
          <p:cNvSpPr/>
          <p:nvPr/>
        </p:nvSpPr>
        <p:spPr>
          <a:xfrm>
            <a:off x="6675120" y="1783080"/>
            <a:ext cx="4937760" cy="4206240"/>
          </a:xfrm>
          <a:prstGeom prst="roundRect">
            <a:avLst>
              <a:gd name="adj" fmla="val 3261"/>
            </a:avLst>
          </a:prstGeom>
          <a:solidFill>
            <a:srgbClr val="120B2E"/>
          </a:solidFill>
          <a:ln/>
          <a:effectLst>
            <a:outerShdw sx="100000" sy="100000" kx="0" ky="0" algn="bl" rotWithShape="0" blurRad="127000" dist="38100" dir="5400000">
              <a:srgbClr val="000000">
                <a:alpha val="20000"/>
              </a:srgbClr>
            </a:outerShdw>
          </a:effectLst>
        </p:spPr>
      </p:sp>
      <p:sp>
        <p:nvSpPr>
          <p:cNvPr id="29" name="Text 23"/>
          <p:cNvSpPr txBox="1"/>
          <p:nvPr/>
        </p:nvSpPr>
        <p:spPr>
          <a:xfrm>
            <a:off x="6949440" y="1965960"/>
            <a:ext cx="4389120" cy="274320"/>
          </a:xfrm>
          <a:prstGeom prst="rect">
            <a:avLst/>
          </a:prstGeom>
          <a:noFill/>
          <a:ln/>
        </p:spPr>
        <p:txBody>
          <a:bodyPr wrap="square" lIns="0" tIns="0" rIns="0" bIns="0" rtlCol="0" anchor="t"/>
          <a:lstStyle/>
          <a:p>
            <a:pPr indent="0" marL="0">
              <a:buNone/>
            </a:pPr>
            <a:r>
              <a:rPr lang="en-US" sz="1200" b="1" spc="100" kern="0" dirty="0">
                <a:solidFill>
                  <a:srgbClr val="00C9B7"/>
                </a:solidFill>
              </a:rPr>
              <a:t>VU DEPUIS UN  nmap -p-</a:t>
            </a:r>
            <a:endParaRPr lang="en-US" sz="1200" dirty="0"/>
          </a:p>
        </p:txBody>
      </p:sp>
      <p:sp>
        <p:nvSpPr>
          <p:cNvPr id="30" name="Text 24"/>
          <p:cNvSpPr txBox="1"/>
          <p:nvPr/>
        </p:nvSpPr>
        <p:spPr>
          <a:xfrm>
            <a:off x="6949440" y="2286000"/>
            <a:ext cx="4389120" cy="1005840"/>
          </a:xfrm>
          <a:prstGeom prst="rect">
            <a:avLst/>
          </a:prstGeom>
          <a:noFill/>
          <a:ln/>
        </p:spPr>
        <p:txBody>
          <a:bodyPr wrap="square" lIns="0" tIns="0" rIns="0" bIns="0" rtlCol="0" anchor="ctr"/>
          <a:lstStyle/>
          <a:p>
            <a:pPr indent="0" marL="0">
              <a:buNone/>
            </a:pPr>
            <a:r>
              <a:rPr lang="en-US" sz="6600" b="1" dirty="0">
                <a:solidFill>
                  <a:srgbClr val="00C9B7"/>
                </a:solidFill>
                <a:latin typeface="+mj-lt" pitchFamily="34" charset="0"/>
                <a:ea typeface="+mj-lt" pitchFamily="34" charset="-122"/>
                <a:cs typeface="+mj-lt" pitchFamily="34" charset="-120"/>
              </a:rPr>
              <a:t>18883</a:t>
            </a:r>
            <a:endParaRPr lang="en-US" sz="6600" dirty="0"/>
          </a:p>
        </p:txBody>
      </p:sp>
      <p:sp>
        <p:nvSpPr>
          <p:cNvPr id="31" name="Text 25"/>
          <p:cNvSpPr txBox="1"/>
          <p:nvPr/>
        </p:nvSpPr>
        <p:spPr>
          <a:xfrm>
            <a:off x="6949440" y="3291840"/>
            <a:ext cx="4389120" cy="274320"/>
          </a:xfrm>
          <a:prstGeom prst="rect">
            <a:avLst/>
          </a:prstGeom>
          <a:noFill/>
          <a:ln/>
        </p:spPr>
        <p:txBody>
          <a:bodyPr wrap="square" lIns="0" tIns="0" rIns="0" bIns="0" rtlCol="0" anchor="t"/>
          <a:lstStyle/>
          <a:p>
            <a:pPr indent="0" marL="0">
              <a:buNone/>
            </a:pPr>
            <a:r>
              <a:rPr lang="en-US" sz="1400" dirty="0">
                <a:solidFill>
                  <a:schemeClr val="bg1"/>
                </a:solidFill>
              </a:rPr>
              <a:t>MQTTS · lié à 192.168.10.1 uniquement</a:t>
            </a:r>
            <a:endParaRPr lang="en-US" sz="1400" dirty="0"/>
          </a:p>
        </p:txBody>
      </p:sp>
      <p:sp>
        <p:nvSpPr>
          <p:cNvPr id="32" name="Étiquette"/>
          <p:cNvSpPr/>
          <p:nvPr/>
        </p:nvSpPr>
        <p:spPr>
          <a:xfrm>
            <a:off x="6949440" y="3749040"/>
            <a:ext cx="822960" cy="274320"/>
          </a:xfrm>
          <a:prstGeom prst="roundRect">
            <a:avLst>
              <a:gd name="adj" fmla="val 50000"/>
            </a:avLst>
          </a:prstGeom>
          <a:solidFill>
            <a:srgbClr val="7ADB4F"/>
          </a:solidFill>
          <a:ln/>
        </p:spPr>
      </p:sp>
      <p:sp>
        <p:nvSpPr>
          <p:cNvPr id="33" name="Text 27"/>
          <p:cNvSpPr txBox="1"/>
          <p:nvPr/>
        </p:nvSpPr>
        <p:spPr>
          <a:xfrm>
            <a:off x="6949440" y="3749040"/>
            <a:ext cx="822960" cy="274320"/>
          </a:xfrm>
          <a:prstGeom prst="rect">
            <a:avLst/>
          </a:prstGeom>
          <a:noFill/>
          <a:ln/>
        </p:spPr>
        <p:txBody>
          <a:bodyPr wrap="square" lIns="0" tIns="0" rIns="0" bIns="0" rtlCol="0" anchor="ctr"/>
          <a:lstStyle/>
          <a:p>
            <a:pPr algn="ctr" indent="0" marL="0">
              <a:buNone/>
            </a:pPr>
            <a:r>
              <a:rPr lang="en-US" sz="1100" b="1" dirty="0">
                <a:solidFill>
                  <a:srgbClr val="120B2E"/>
                </a:solidFill>
              </a:rPr>
              <a:t>OUVERT</a:t>
            </a:r>
            <a:endParaRPr lang="en-US" sz="1100" dirty="0"/>
          </a:p>
        </p:txBody>
      </p:sp>
      <p:sp>
        <p:nvSpPr>
          <p:cNvPr id="34" name="Text 28"/>
          <p:cNvSpPr txBox="1"/>
          <p:nvPr/>
        </p:nvSpPr>
        <p:spPr>
          <a:xfrm>
            <a:off x="7909560" y="3749040"/>
            <a:ext cx="3566160" cy="274320"/>
          </a:xfrm>
          <a:prstGeom prst="rect">
            <a:avLst/>
          </a:prstGeom>
          <a:noFill/>
          <a:ln/>
        </p:spPr>
        <p:txBody>
          <a:bodyPr wrap="square" lIns="0" tIns="0" rIns="0" bIns="0" rtlCol="0" anchor="ctr"/>
          <a:lstStyle/>
          <a:p>
            <a:pPr indent="0" marL="0">
              <a:buNone/>
            </a:pPr>
            <a:r>
              <a:rPr lang="en-US" sz="1400" dirty="0">
                <a:solidFill>
                  <a:schemeClr val="bg1"/>
                </a:solidFill>
              </a:rPr>
              <a:t>TLS + mot de passe + ACL</a:t>
            </a:r>
            <a:endParaRPr lang="en-US" sz="1400" dirty="0"/>
          </a:p>
        </p:txBody>
      </p:sp>
      <p:sp>
        <p:nvSpPr>
          <p:cNvPr id="35" name="Étiquette"/>
          <p:cNvSpPr/>
          <p:nvPr/>
        </p:nvSpPr>
        <p:spPr>
          <a:xfrm>
            <a:off x="6949440" y="4169664"/>
            <a:ext cx="822960" cy="274320"/>
          </a:xfrm>
          <a:prstGeom prst="roundRect">
            <a:avLst>
              <a:gd name="adj" fmla="val 50000"/>
            </a:avLst>
          </a:prstGeom>
          <a:solidFill>
            <a:srgbClr val="FF4F81"/>
          </a:solidFill>
          <a:ln/>
        </p:spPr>
      </p:sp>
      <p:sp>
        <p:nvSpPr>
          <p:cNvPr id="36" name="Text 30"/>
          <p:cNvSpPr txBox="1"/>
          <p:nvPr/>
        </p:nvSpPr>
        <p:spPr>
          <a:xfrm>
            <a:off x="6949440" y="4169664"/>
            <a:ext cx="822960" cy="274320"/>
          </a:xfrm>
          <a:prstGeom prst="rect">
            <a:avLst/>
          </a:prstGeom>
          <a:noFill/>
          <a:ln/>
        </p:spPr>
        <p:txBody>
          <a:bodyPr wrap="square" lIns="0" tIns="0" rIns="0" bIns="0" rtlCol="0" anchor="ctr"/>
          <a:lstStyle/>
          <a:p>
            <a:pPr algn="ctr" indent="0" marL="0">
              <a:buNone/>
            </a:pPr>
            <a:r>
              <a:rPr lang="en-US" sz="1100" b="1" dirty="0">
                <a:solidFill>
                  <a:srgbClr val="120B2E"/>
                </a:solidFill>
              </a:rPr>
              <a:t>FERMÉ</a:t>
            </a:r>
            <a:endParaRPr lang="en-US" sz="1100" dirty="0"/>
          </a:p>
        </p:txBody>
      </p:sp>
      <p:sp>
        <p:nvSpPr>
          <p:cNvPr id="37" name="Text 31"/>
          <p:cNvSpPr txBox="1"/>
          <p:nvPr/>
        </p:nvSpPr>
        <p:spPr>
          <a:xfrm>
            <a:off x="7909560" y="4169664"/>
            <a:ext cx="3566160" cy="274320"/>
          </a:xfrm>
          <a:prstGeom prst="rect">
            <a:avLst/>
          </a:prstGeom>
          <a:noFill/>
          <a:ln/>
        </p:spPr>
        <p:txBody>
          <a:bodyPr wrap="square" lIns="0" tIns="0" rIns="0" bIns="0" rtlCol="0" anchor="ctr"/>
          <a:lstStyle/>
          <a:p>
            <a:pPr indent="0" marL="0">
              <a:buNone/>
            </a:pPr>
            <a:r>
              <a:rPr lang="en-US" sz="1400" dirty="0">
                <a:solidFill>
                  <a:schemeClr val="bg1"/>
                </a:solidFill>
              </a:rPr>
              <a:t>Dashboard : 127.0.0.1 seulement</a:t>
            </a:r>
            <a:endParaRPr lang="en-US" sz="1400" dirty="0"/>
          </a:p>
        </p:txBody>
      </p:sp>
      <p:sp>
        <p:nvSpPr>
          <p:cNvPr id="38" name="Étiquette"/>
          <p:cNvSpPr/>
          <p:nvPr/>
        </p:nvSpPr>
        <p:spPr>
          <a:xfrm>
            <a:off x="6949440" y="4590288"/>
            <a:ext cx="822960" cy="274320"/>
          </a:xfrm>
          <a:prstGeom prst="roundRect">
            <a:avLst>
              <a:gd name="adj" fmla="val 50000"/>
            </a:avLst>
          </a:prstGeom>
          <a:solidFill>
            <a:srgbClr val="FF4F81"/>
          </a:solidFill>
          <a:ln/>
        </p:spPr>
      </p:sp>
      <p:sp>
        <p:nvSpPr>
          <p:cNvPr id="39" name="Text 33"/>
          <p:cNvSpPr txBox="1"/>
          <p:nvPr/>
        </p:nvSpPr>
        <p:spPr>
          <a:xfrm>
            <a:off x="6949440" y="4590288"/>
            <a:ext cx="822960" cy="274320"/>
          </a:xfrm>
          <a:prstGeom prst="rect">
            <a:avLst/>
          </a:prstGeom>
          <a:noFill/>
          <a:ln/>
        </p:spPr>
        <p:txBody>
          <a:bodyPr wrap="square" lIns="0" tIns="0" rIns="0" bIns="0" rtlCol="0" anchor="ctr"/>
          <a:lstStyle/>
          <a:p>
            <a:pPr algn="ctr" indent="0" marL="0">
              <a:buNone/>
            </a:pPr>
            <a:r>
              <a:rPr lang="en-US" sz="1100" b="1" dirty="0">
                <a:solidFill>
                  <a:srgbClr val="120B2E"/>
                </a:solidFill>
              </a:rPr>
              <a:t>FERMÉ</a:t>
            </a:r>
            <a:endParaRPr lang="en-US" sz="1100" dirty="0"/>
          </a:p>
        </p:txBody>
      </p:sp>
      <p:sp>
        <p:nvSpPr>
          <p:cNvPr id="40" name="Text 34"/>
          <p:cNvSpPr txBox="1"/>
          <p:nvPr/>
        </p:nvSpPr>
        <p:spPr>
          <a:xfrm>
            <a:off x="7909560" y="4590288"/>
            <a:ext cx="3566160" cy="274320"/>
          </a:xfrm>
          <a:prstGeom prst="rect">
            <a:avLst/>
          </a:prstGeom>
          <a:noFill/>
          <a:ln/>
        </p:spPr>
        <p:txBody>
          <a:bodyPr wrap="square" lIns="0" tIns="0" rIns="0" bIns="0" rtlCol="0" anchor="ctr"/>
          <a:lstStyle/>
          <a:p>
            <a:pPr indent="0" marL="0">
              <a:buNone/>
            </a:pPr>
            <a:r>
              <a:rPr lang="en-US" sz="1400" dirty="0">
                <a:solidFill>
                  <a:schemeClr val="bg1"/>
                </a:solidFill>
              </a:rPr>
              <a:t>CouchDB et API : réseau Docker interne</a:t>
            </a:r>
            <a:endParaRPr lang="en-US" sz="1400" dirty="0"/>
          </a:p>
        </p:txBody>
      </p:sp>
      <p:sp>
        <p:nvSpPr>
          <p:cNvPr id="41" name="Étiquette"/>
          <p:cNvSpPr/>
          <p:nvPr/>
        </p:nvSpPr>
        <p:spPr>
          <a:xfrm>
            <a:off x="6949440" y="5010912"/>
            <a:ext cx="822960" cy="274320"/>
          </a:xfrm>
          <a:prstGeom prst="roundRect">
            <a:avLst>
              <a:gd name="adj" fmla="val 50000"/>
            </a:avLst>
          </a:prstGeom>
          <a:solidFill>
            <a:srgbClr val="FF4F81"/>
          </a:solidFill>
          <a:ln/>
        </p:spPr>
      </p:sp>
      <p:sp>
        <p:nvSpPr>
          <p:cNvPr id="42" name="Text 36"/>
          <p:cNvSpPr txBox="1"/>
          <p:nvPr/>
        </p:nvSpPr>
        <p:spPr>
          <a:xfrm>
            <a:off x="6949440" y="5010912"/>
            <a:ext cx="822960" cy="274320"/>
          </a:xfrm>
          <a:prstGeom prst="rect">
            <a:avLst/>
          </a:prstGeom>
          <a:noFill/>
          <a:ln/>
        </p:spPr>
        <p:txBody>
          <a:bodyPr wrap="square" lIns="0" tIns="0" rIns="0" bIns="0" rtlCol="0" anchor="ctr"/>
          <a:lstStyle/>
          <a:p>
            <a:pPr algn="ctr" indent="0" marL="0">
              <a:buNone/>
            </a:pPr>
            <a:r>
              <a:rPr lang="en-US" sz="1100" b="1" dirty="0">
                <a:solidFill>
                  <a:srgbClr val="120B2E"/>
                </a:solidFill>
              </a:rPr>
              <a:t>FERMÉ</a:t>
            </a:r>
            <a:endParaRPr lang="en-US" sz="1100" dirty="0"/>
          </a:p>
        </p:txBody>
      </p:sp>
      <p:sp>
        <p:nvSpPr>
          <p:cNvPr id="43" name="Text 37"/>
          <p:cNvSpPr txBox="1"/>
          <p:nvPr/>
        </p:nvSpPr>
        <p:spPr>
          <a:xfrm>
            <a:off x="7909560" y="5010912"/>
            <a:ext cx="3566160" cy="274320"/>
          </a:xfrm>
          <a:prstGeom prst="rect">
            <a:avLst/>
          </a:prstGeom>
          <a:noFill/>
          <a:ln/>
        </p:spPr>
        <p:txBody>
          <a:bodyPr wrap="square" lIns="0" tIns="0" rIns="0" bIns="0" rtlCol="0" anchor="ctr"/>
          <a:lstStyle/>
          <a:p>
            <a:pPr indent="0" marL="0">
              <a:buNone/>
            </a:pPr>
            <a:r>
              <a:rPr lang="en-US" sz="1400" dirty="0">
                <a:solidFill>
                  <a:schemeClr val="bg1"/>
                </a:solidFill>
              </a:rPr>
              <a:t>SSH : aucun serveur lancé</a:t>
            </a:r>
            <a:endParaRPr lang="en-US" sz="1400" dirty="0"/>
          </a:p>
        </p:txBody>
      </p:sp>
      <p:sp>
        <p:nvSpPr>
          <p:cNvPr id="44" name="Text 38"/>
          <p:cNvSpPr txBox="1"/>
          <p:nvPr/>
        </p:nvSpPr>
        <p:spPr>
          <a:xfrm>
            <a:off x="6949440" y="5440680"/>
            <a:ext cx="4480560" cy="411480"/>
          </a:xfrm>
          <a:prstGeom prst="rect">
            <a:avLst/>
          </a:prstGeom>
          <a:noFill/>
          <a:ln/>
        </p:spPr>
        <p:txBody>
          <a:bodyPr wrap="square" lIns="0" tIns="0" rIns="0" bIns="0" rtlCol="0" anchor="t"/>
          <a:lstStyle/>
          <a:p>
            <a:pPr indent="0" marL="0">
              <a:buNone/>
            </a:pPr>
            <a:r>
              <a:rPr lang="en-US" sz="1200" i="1" dirty="0">
                <a:solidFill>
                  <a:srgbClr val="B9B3E6"/>
                </a:solidFill>
              </a:rPr>
              <a:t>Ports non standard = moins de bruit, pas une protection. La sécurité, c'est TLS + auth + ACL.</a:t>
            </a:r>
            <a:endParaRPr lang="en-US" sz="12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578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Anneau radar"/>
          <p:cNvSpPr/>
          <p:nvPr/>
        </p:nvSpPr>
        <p:spPr>
          <a:xfrm>
            <a:off x="11457432" y="-731520"/>
            <a:ext cx="1463040" cy="1463040"/>
          </a:xfrm>
          <a:prstGeom prst="ellipse">
            <a:avLst/>
          </a:prstGeom>
          <a:solidFill>
            <a:srgbClr val="FFFFFF">
              <a:alpha val="0"/>
            </a:srgbClr>
          </a:solidFill>
          <a:ln w="19050">
            <a:solidFill>
              <a:srgbClr val="00C9B7">
                <a:alpha val="35000"/>
              </a:srgbClr>
            </a:solidFill>
            <a:prstDash val="solid"/>
          </a:ln>
        </p:spPr>
      </p:sp>
      <p:sp>
        <p:nvSpPr>
          <p:cNvPr id="3" name="Anneau radar"/>
          <p:cNvSpPr/>
          <p:nvPr/>
        </p:nvSpPr>
        <p:spPr>
          <a:xfrm>
            <a:off x="11000232" y="-1188720"/>
            <a:ext cx="2377440" cy="2377440"/>
          </a:xfrm>
          <a:prstGeom prst="ellipse">
            <a:avLst/>
          </a:prstGeom>
          <a:solidFill>
            <a:srgbClr val="FFFFFF">
              <a:alpha val="0"/>
            </a:srgbClr>
          </a:solidFill>
          <a:ln w="19050">
            <a:solidFill>
              <a:srgbClr val="6C3BFF">
                <a:alpha val="35000"/>
              </a:srgbClr>
            </a:solidFill>
            <a:prstDash val="solid"/>
          </a:ln>
        </p:spPr>
      </p:sp>
      <p:sp>
        <p:nvSpPr>
          <p:cNvPr id="4" name="Anneau radar"/>
          <p:cNvSpPr/>
          <p:nvPr/>
        </p:nvSpPr>
        <p:spPr>
          <a:xfrm>
            <a:off x="10543032" y="-1645920"/>
            <a:ext cx="3291840" cy="3291840"/>
          </a:xfrm>
          <a:prstGeom prst="ellipse">
            <a:avLst/>
          </a:prstGeom>
          <a:solidFill>
            <a:srgbClr val="FFFFFF">
              <a:alpha val="0"/>
            </a:srgbClr>
          </a:solidFill>
          <a:ln w="19050">
            <a:solidFill>
              <a:srgbClr val="FF4F81">
                <a:alpha val="35000"/>
              </a:srgbClr>
            </a:solidFill>
            <a:prstDash val="solid"/>
          </a:ln>
        </p:spPr>
      </p:sp>
      <p:sp>
        <p:nvSpPr>
          <p:cNvPr id="5" name="Surtitre"/>
          <p:cNvSpPr/>
          <p:nvPr/>
        </p:nvSpPr>
        <p:spPr>
          <a:xfrm>
            <a:off x="548640" y="384048"/>
            <a:ext cx="782726" cy="292608"/>
          </a:xfrm>
          <a:prstGeom prst="roundRect">
            <a:avLst>
              <a:gd name="adj" fmla="val 50000"/>
            </a:avLst>
          </a:prstGeom>
          <a:solidFill>
            <a:srgbClr val="FF4F81"/>
          </a:solidFill>
          <a:ln/>
        </p:spPr>
      </p:sp>
      <p:sp>
        <p:nvSpPr>
          <p:cNvPr id="6" name="Text 4"/>
          <p:cNvSpPr txBox="1"/>
          <p:nvPr/>
        </p:nvSpPr>
        <p:spPr>
          <a:xfrm>
            <a:off x="548640" y="384048"/>
            <a:ext cx="782726" cy="292608"/>
          </a:xfrm>
          <a:prstGeom prst="rect">
            <a:avLst/>
          </a:prstGeom>
          <a:noFill/>
          <a:ln/>
        </p:spPr>
        <p:txBody>
          <a:bodyPr wrap="square" lIns="0" tIns="0" rIns="0" bIns="0" rtlCol="0" anchor="ctr"/>
          <a:lstStyle/>
          <a:p>
            <a:pPr algn="ctr" indent="0" marL="0">
              <a:buNone/>
            </a:pPr>
            <a:r>
              <a:rPr lang="en-US" sz="1100" b="1" spc="100" kern="0" dirty="0">
                <a:solidFill>
                  <a:srgbClr val="120B2E"/>
                </a:solidFill>
              </a:rPr>
              <a:t>LE NŒUD</a:t>
            </a:r>
            <a:endParaRPr lang="en-US" sz="1100" dirty="0"/>
          </a:p>
        </p:txBody>
      </p:sp>
      <p:sp>
        <p:nvSpPr>
          <p:cNvPr id="7" name="Text 0"/>
          <p:cNvSpPr/>
          <p:nvPr>
            <p:ph idx="100" type="title" hasCustomPrompt="1"/>
          </p:nvPr>
        </p:nvSpPr>
        <p:spPr>
          <a:xfrm>
            <a:off x="548640" y="749808"/>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Un ESP32, trois capteurs, deux LED</a:t>
            </a:r>
            <a:endParaRPr lang="en-US" sz="3400" dirty="0"/>
          </a:p>
        </p:txBody>
      </p:sp>
      <p:sp>
        <p:nvSpPr>
          <p:cNvPr id="8" name="Capteur DHT22"/>
          <p:cNvSpPr/>
          <p:nvPr/>
        </p:nvSpPr>
        <p:spPr>
          <a:xfrm>
            <a:off x="548640" y="1783080"/>
            <a:ext cx="3566160" cy="2148840"/>
          </a:xfrm>
          <a:prstGeom prst="roundRect">
            <a:avLst>
              <a:gd name="adj" fmla="val 6383"/>
            </a:avLst>
          </a:prstGeom>
          <a:solidFill>
            <a:srgbClr val="00C9B7"/>
          </a:solidFill>
          <a:ln/>
          <a:effectLst>
            <a:outerShdw sx="100000" sy="100000" kx="0" ky="0" algn="bl" rotWithShape="0" blurRad="127000" dist="38100" dir="5400000">
              <a:srgbClr val="000000">
                <a:alpha val="20000"/>
              </a:srgbClr>
            </a:outerShdw>
          </a:effectLst>
        </p:spPr>
      </p:sp>
      <p:sp>
        <p:nvSpPr>
          <p:cNvPr id="9" name="Pastille FaThermometerHalf"/>
          <p:cNvSpPr/>
          <p:nvPr/>
        </p:nvSpPr>
        <p:spPr>
          <a:xfrm>
            <a:off x="777240" y="1965960"/>
            <a:ext cx="731520" cy="731520"/>
          </a:xfrm>
          <a:prstGeom prst="ellipse">
            <a:avLst/>
          </a:prstGeom>
          <a:solidFill>
            <a:srgbClr val="FFFFFF"/>
          </a:solidFill>
          <a:ln/>
        </p:spPr>
      </p:sp>
      <p:pic>
        <p:nvPicPr>
          <p:cNvPr id="10" name="Image 0" descr="FaThermometerHalf">    </p:cNvPr>
          <p:cNvPicPr>
            <a:picLocks noChangeAspect="1"/>
          </p:cNvPicPr>
          <p:nvPr/>
        </p:nvPicPr>
        <p:blipFill>
          <a:blip r:embed="rId1"/>
          <a:stretch>
            <a:fillRect/>
          </a:stretch>
        </p:blipFill>
        <p:spPr>
          <a:xfrm>
            <a:off x="960120" y="2148840"/>
            <a:ext cx="365760" cy="365760"/>
          </a:xfrm>
          <a:prstGeom prst="rect">
            <a:avLst/>
          </a:prstGeom>
        </p:spPr>
      </p:pic>
      <p:sp>
        <p:nvSpPr>
          <p:cNvPr id="11" name="Text 8"/>
          <p:cNvSpPr txBox="1"/>
          <p:nvPr/>
        </p:nvSpPr>
        <p:spPr>
          <a:xfrm>
            <a:off x="1645920" y="1984248"/>
            <a:ext cx="2286000" cy="365760"/>
          </a:xfrm>
          <a:prstGeom prst="rect">
            <a:avLst/>
          </a:prstGeom>
          <a:noFill/>
          <a:ln/>
        </p:spPr>
        <p:txBody>
          <a:bodyPr wrap="square" lIns="0" tIns="0" rIns="0" bIns="0" rtlCol="0" anchor="t"/>
          <a:lstStyle/>
          <a:p>
            <a:pPr indent="0" marL="0">
              <a:buNone/>
            </a:pPr>
            <a:r>
              <a:rPr lang="en-US" sz="2400" b="1" dirty="0">
                <a:solidFill>
                  <a:srgbClr val="120B2E"/>
                </a:solidFill>
                <a:latin typeface="+mj-lt" pitchFamily="34" charset="0"/>
                <a:ea typeface="+mj-lt" pitchFamily="34" charset="-122"/>
                <a:cs typeface="+mj-lt" pitchFamily="34" charset="-120"/>
              </a:rPr>
              <a:t>DHT22</a:t>
            </a:r>
            <a:endParaRPr lang="en-US" sz="2400" dirty="0"/>
          </a:p>
        </p:txBody>
      </p:sp>
      <p:sp>
        <p:nvSpPr>
          <p:cNvPr id="12" name="Text 9"/>
          <p:cNvSpPr txBox="1"/>
          <p:nvPr/>
        </p:nvSpPr>
        <p:spPr>
          <a:xfrm>
            <a:off x="1645920" y="2395728"/>
            <a:ext cx="2286000" cy="320040"/>
          </a:xfrm>
          <a:prstGeom prst="rect">
            <a:avLst/>
          </a:prstGeom>
          <a:noFill/>
          <a:ln/>
        </p:spPr>
        <p:txBody>
          <a:bodyPr wrap="square" lIns="0" tIns="0" rIns="0" bIns="0" rtlCol="0" anchor="t"/>
          <a:lstStyle/>
          <a:p>
            <a:pPr indent="0" marL="0">
              <a:buNone/>
            </a:pPr>
            <a:r>
              <a:rPr lang="en-US" sz="1500" dirty="0">
                <a:solidFill>
                  <a:srgbClr val="120B2E"/>
                </a:solidFill>
              </a:rPr>
              <a:t>Température et humidité</a:t>
            </a:r>
            <a:endParaRPr lang="en-US" sz="1500" dirty="0"/>
          </a:p>
        </p:txBody>
      </p:sp>
      <p:sp>
        <p:nvSpPr>
          <p:cNvPr id="13" name="Text 10"/>
          <p:cNvSpPr txBox="1"/>
          <p:nvPr/>
        </p:nvSpPr>
        <p:spPr>
          <a:xfrm>
            <a:off x="777240" y="3017520"/>
            <a:ext cx="3154680" cy="822960"/>
          </a:xfrm>
          <a:prstGeom prst="rect">
            <a:avLst/>
          </a:prstGeom>
          <a:noFill/>
          <a:ln/>
        </p:spPr>
        <p:txBody>
          <a:bodyPr wrap="square" lIns="0" tIns="0" rIns="0" bIns="0" rtlCol="0" anchor="t"/>
          <a:lstStyle/>
          <a:p>
            <a:pPr indent="0" marL="0">
              <a:buNone/>
            </a:pPr>
            <a:r>
              <a:rPr lang="en-US" sz="1400" dirty="0">
                <a:solidFill>
                  <a:srgbClr val="120B2E"/>
                </a:solidFill>
              </a:rPr>
              <a:t>GPIO 27 · alimenté par GPIO 33, donc redémarrable par le firmware</a:t>
            </a:r>
            <a:endParaRPr lang="en-US" sz="1400" dirty="0"/>
          </a:p>
        </p:txBody>
      </p:sp>
      <p:sp>
        <p:nvSpPr>
          <p:cNvPr id="14" name="Capteur MQ-2"/>
          <p:cNvSpPr/>
          <p:nvPr/>
        </p:nvSpPr>
        <p:spPr>
          <a:xfrm>
            <a:off x="4297680" y="1783080"/>
            <a:ext cx="3566160" cy="2148840"/>
          </a:xfrm>
          <a:prstGeom prst="roundRect">
            <a:avLst>
              <a:gd name="adj" fmla="val 6383"/>
            </a:avLst>
          </a:prstGeom>
          <a:solidFill>
            <a:srgbClr val="FFB400"/>
          </a:solidFill>
          <a:ln/>
          <a:effectLst>
            <a:outerShdw sx="100000" sy="100000" kx="0" ky="0" algn="bl" rotWithShape="0" blurRad="127000" dist="38100" dir="5400000">
              <a:srgbClr val="000000">
                <a:alpha val="20000"/>
              </a:srgbClr>
            </a:outerShdw>
          </a:effectLst>
        </p:spPr>
      </p:sp>
      <p:sp>
        <p:nvSpPr>
          <p:cNvPr id="15" name="Pastille FaFire"/>
          <p:cNvSpPr/>
          <p:nvPr/>
        </p:nvSpPr>
        <p:spPr>
          <a:xfrm>
            <a:off x="4526280" y="1965960"/>
            <a:ext cx="731520" cy="731520"/>
          </a:xfrm>
          <a:prstGeom prst="ellipse">
            <a:avLst/>
          </a:prstGeom>
          <a:solidFill>
            <a:srgbClr val="FFFFFF"/>
          </a:solidFill>
          <a:ln/>
        </p:spPr>
      </p:sp>
      <p:pic>
        <p:nvPicPr>
          <p:cNvPr id="16" name="Image 1" descr="FaFire">    </p:cNvPr>
          <p:cNvPicPr>
            <a:picLocks noChangeAspect="1"/>
          </p:cNvPicPr>
          <p:nvPr/>
        </p:nvPicPr>
        <p:blipFill>
          <a:blip r:embed="rId2"/>
          <a:stretch>
            <a:fillRect/>
          </a:stretch>
        </p:blipFill>
        <p:spPr>
          <a:xfrm>
            <a:off x="4709160" y="2148840"/>
            <a:ext cx="365760" cy="365760"/>
          </a:xfrm>
          <a:prstGeom prst="rect">
            <a:avLst/>
          </a:prstGeom>
        </p:spPr>
      </p:pic>
      <p:sp>
        <p:nvSpPr>
          <p:cNvPr id="17" name="Text 13"/>
          <p:cNvSpPr txBox="1"/>
          <p:nvPr/>
        </p:nvSpPr>
        <p:spPr>
          <a:xfrm>
            <a:off x="5394960" y="1984248"/>
            <a:ext cx="2286000" cy="365760"/>
          </a:xfrm>
          <a:prstGeom prst="rect">
            <a:avLst/>
          </a:prstGeom>
          <a:noFill/>
          <a:ln/>
        </p:spPr>
        <p:txBody>
          <a:bodyPr wrap="square" lIns="0" tIns="0" rIns="0" bIns="0" rtlCol="0" anchor="t"/>
          <a:lstStyle/>
          <a:p>
            <a:pPr indent="0" marL="0">
              <a:buNone/>
            </a:pPr>
            <a:r>
              <a:rPr lang="en-US" sz="2400" b="1" dirty="0">
                <a:solidFill>
                  <a:srgbClr val="120B2E"/>
                </a:solidFill>
                <a:latin typeface="+mj-lt" pitchFamily="34" charset="0"/>
                <a:ea typeface="+mj-lt" pitchFamily="34" charset="-122"/>
                <a:cs typeface="+mj-lt" pitchFamily="34" charset="-120"/>
              </a:rPr>
              <a:t>MQ-2</a:t>
            </a:r>
            <a:endParaRPr lang="en-US" sz="2400" dirty="0"/>
          </a:p>
        </p:txBody>
      </p:sp>
      <p:sp>
        <p:nvSpPr>
          <p:cNvPr id="18" name="Text 14"/>
          <p:cNvSpPr txBox="1"/>
          <p:nvPr/>
        </p:nvSpPr>
        <p:spPr>
          <a:xfrm>
            <a:off x="5394960" y="2395728"/>
            <a:ext cx="2286000" cy="320040"/>
          </a:xfrm>
          <a:prstGeom prst="rect">
            <a:avLst/>
          </a:prstGeom>
          <a:noFill/>
          <a:ln/>
        </p:spPr>
        <p:txBody>
          <a:bodyPr wrap="square" lIns="0" tIns="0" rIns="0" bIns="0" rtlCol="0" anchor="t"/>
          <a:lstStyle/>
          <a:p>
            <a:pPr indent="0" marL="0">
              <a:buNone/>
            </a:pPr>
            <a:r>
              <a:rPr lang="en-US" sz="1500" dirty="0">
                <a:solidFill>
                  <a:srgbClr val="120B2E"/>
                </a:solidFill>
              </a:rPr>
              <a:t>Gaz combustibles, fumées</a:t>
            </a:r>
            <a:endParaRPr lang="en-US" sz="1500" dirty="0"/>
          </a:p>
        </p:txBody>
      </p:sp>
      <p:sp>
        <p:nvSpPr>
          <p:cNvPr id="19" name="Text 15"/>
          <p:cNvSpPr txBox="1"/>
          <p:nvPr/>
        </p:nvSpPr>
        <p:spPr>
          <a:xfrm>
            <a:off x="4526280" y="3017520"/>
            <a:ext cx="3154680" cy="822960"/>
          </a:xfrm>
          <a:prstGeom prst="rect">
            <a:avLst/>
          </a:prstGeom>
          <a:noFill/>
          <a:ln/>
        </p:spPr>
        <p:txBody>
          <a:bodyPr wrap="square" lIns="0" tIns="0" rIns="0" bIns="0" rtlCol="0" anchor="t"/>
          <a:lstStyle/>
          <a:p>
            <a:pPr indent="0" marL="0">
              <a:buNone/>
            </a:pPr>
            <a:r>
              <a:rPr lang="en-US" sz="1400" dirty="0">
                <a:solidFill>
                  <a:srgbClr val="120B2E"/>
                </a:solidFill>
              </a:rPr>
              <a:t>GPIO 34 (ADC1) · 5 V · préchauffage de 3 min</a:t>
            </a:r>
            <a:endParaRPr lang="en-US" sz="1400" dirty="0"/>
          </a:p>
        </p:txBody>
      </p:sp>
      <p:sp>
        <p:nvSpPr>
          <p:cNvPr id="20" name="Capteur HC-SR501"/>
          <p:cNvSpPr/>
          <p:nvPr/>
        </p:nvSpPr>
        <p:spPr>
          <a:xfrm>
            <a:off x="8046720" y="1783080"/>
            <a:ext cx="3566160" cy="2148840"/>
          </a:xfrm>
          <a:prstGeom prst="roundRect">
            <a:avLst>
              <a:gd name="adj" fmla="val 6383"/>
            </a:avLst>
          </a:prstGeom>
          <a:solidFill>
            <a:srgbClr val="FF4F81"/>
          </a:solidFill>
          <a:ln/>
          <a:effectLst>
            <a:outerShdw sx="100000" sy="100000" kx="0" ky="0" algn="bl" rotWithShape="0" blurRad="127000" dist="38100" dir="5400000">
              <a:srgbClr val="000000">
                <a:alpha val="20000"/>
              </a:srgbClr>
            </a:outerShdw>
          </a:effectLst>
        </p:spPr>
      </p:sp>
      <p:sp>
        <p:nvSpPr>
          <p:cNvPr id="21" name="Pastille FaWalking"/>
          <p:cNvSpPr/>
          <p:nvPr/>
        </p:nvSpPr>
        <p:spPr>
          <a:xfrm>
            <a:off x="8275320" y="1965960"/>
            <a:ext cx="731520" cy="731520"/>
          </a:xfrm>
          <a:prstGeom prst="ellipse">
            <a:avLst/>
          </a:prstGeom>
          <a:solidFill>
            <a:srgbClr val="FFFFFF"/>
          </a:solidFill>
          <a:ln/>
        </p:spPr>
      </p:sp>
      <p:pic>
        <p:nvPicPr>
          <p:cNvPr id="22" name="Image 2" descr="FaWalking">    </p:cNvPr>
          <p:cNvPicPr>
            <a:picLocks noChangeAspect="1"/>
          </p:cNvPicPr>
          <p:nvPr/>
        </p:nvPicPr>
        <p:blipFill>
          <a:blip r:embed="rId3"/>
          <a:stretch>
            <a:fillRect/>
          </a:stretch>
        </p:blipFill>
        <p:spPr>
          <a:xfrm>
            <a:off x="8458200" y="2148840"/>
            <a:ext cx="365760" cy="365760"/>
          </a:xfrm>
          <a:prstGeom prst="rect">
            <a:avLst/>
          </a:prstGeom>
        </p:spPr>
      </p:pic>
      <p:sp>
        <p:nvSpPr>
          <p:cNvPr id="23" name="Text 18"/>
          <p:cNvSpPr txBox="1"/>
          <p:nvPr/>
        </p:nvSpPr>
        <p:spPr>
          <a:xfrm>
            <a:off x="9144000" y="1984248"/>
            <a:ext cx="2286000" cy="365760"/>
          </a:xfrm>
          <a:prstGeom prst="rect">
            <a:avLst/>
          </a:prstGeom>
          <a:noFill/>
          <a:ln/>
        </p:spPr>
        <p:txBody>
          <a:bodyPr wrap="square" lIns="0" tIns="0" rIns="0" bIns="0" rtlCol="0" anchor="t"/>
          <a:lstStyle/>
          <a:p>
            <a:pPr indent="0" marL="0">
              <a:buNone/>
            </a:pPr>
            <a:r>
              <a:rPr lang="en-US" sz="2400" b="1" dirty="0">
                <a:solidFill>
                  <a:srgbClr val="120B2E"/>
                </a:solidFill>
                <a:latin typeface="+mj-lt" pitchFamily="34" charset="0"/>
                <a:ea typeface="+mj-lt" pitchFamily="34" charset="-122"/>
                <a:cs typeface="+mj-lt" pitchFamily="34" charset="-120"/>
              </a:rPr>
              <a:t>HC-SR501</a:t>
            </a:r>
            <a:endParaRPr lang="en-US" sz="2400" dirty="0"/>
          </a:p>
        </p:txBody>
      </p:sp>
      <p:sp>
        <p:nvSpPr>
          <p:cNvPr id="24" name="Text 19"/>
          <p:cNvSpPr txBox="1"/>
          <p:nvPr/>
        </p:nvSpPr>
        <p:spPr>
          <a:xfrm>
            <a:off x="9144000" y="2395728"/>
            <a:ext cx="2286000" cy="320040"/>
          </a:xfrm>
          <a:prstGeom prst="rect">
            <a:avLst/>
          </a:prstGeom>
          <a:noFill/>
          <a:ln/>
        </p:spPr>
        <p:txBody>
          <a:bodyPr wrap="square" lIns="0" tIns="0" rIns="0" bIns="0" rtlCol="0" anchor="t"/>
          <a:lstStyle/>
          <a:p>
            <a:pPr indent="0" marL="0">
              <a:buNone/>
            </a:pPr>
            <a:r>
              <a:rPr lang="en-US" sz="1500" dirty="0">
                <a:solidFill>
                  <a:srgbClr val="120B2E"/>
                </a:solidFill>
              </a:rPr>
              <a:t>Présence infrarouge</a:t>
            </a:r>
            <a:endParaRPr lang="en-US" sz="1500" dirty="0"/>
          </a:p>
        </p:txBody>
      </p:sp>
      <p:sp>
        <p:nvSpPr>
          <p:cNvPr id="25" name="Text 20"/>
          <p:cNvSpPr txBox="1"/>
          <p:nvPr/>
        </p:nvSpPr>
        <p:spPr>
          <a:xfrm>
            <a:off x="8275320" y="3017520"/>
            <a:ext cx="3154680" cy="822960"/>
          </a:xfrm>
          <a:prstGeom prst="rect">
            <a:avLst/>
          </a:prstGeom>
          <a:noFill/>
          <a:ln/>
        </p:spPr>
        <p:txBody>
          <a:bodyPr wrap="square" lIns="0" tIns="0" rIns="0" bIns="0" rtlCol="0" anchor="t"/>
          <a:lstStyle/>
          <a:p>
            <a:pPr indent="0" marL="0">
              <a:buNone/>
            </a:pPr>
            <a:r>
              <a:rPr lang="en-US" sz="1400" dirty="0">
                <a:solidFill>
                  <a:srgbClr val="120B2E"/>
                </a:solidFill>
              </a:rPr>
              <a:t>GPIO 14 · re-déclenchable · calibration de 30 s</a:t>
            </a:r>
            <a:endParaRPr lang="en-US" sz="1400" dirty="0"/>
          </a:p>
        </p:txBody>
      </p:sp>
      <p:sp>
        <p:nvSpPr>
          <p:cNvPr id="26" name="La LED parle"/>
          <p:cNvSpPr/>
          <p:nvPr/>
        </p:nvSpPr>
        <p:spPr>
          <a:xfrm>
            <a:off x="548640" y="4160520"/>
            <a:ext cx="5669280" cy="2103120"/>
          </a:xfrm>
          <a:prstGeom prst="roundRect">
            <a:avLst>
              <a:gd name="adj" fmla="val 6522"/>
            </a:avLst>
          </a:prstGeom>
          <a:solidFill>
            <a:srgbClr val="120B2E"/>
          </a:solidFill>
          <a:ln/>
          <a:effectLst>
            <a:outerShdw sx="100000" sy="100000" kx="0" ky="0" algn="bl" rotWithShape="0" blurRad="127000" dist="38100" dir="5400000">
              <a:srgbClr val="000000">
                <a:alpha val="20000"/>
              </a:srgbClr>
            </a:outerShdw>
          </a:effectLst>
        </p:spPr>
      </p:sp>
      <p:sp>
        <p:nvSpPr>
          <p:cNvPr id="27" name="Text 22"/>
          <p:cNvSpPr txBox="1"/>
          <p:nvPr/>
        </p:nvSpPr>
        <p:spPr>
          <a:xfrm>
            <a:off x="822960" y="4297680"/>
            <a:ext cx="5120640" cy="320040"/>
          </a:xfrm>
          <a:prstGeom prst="rect">
            <a:avLst/>
          </a:prstGeom>
          <a:noFill/>
          <a:ln/>
        </p:spPr>
        <p:txBody>
          <a:bodyPr wrap="square" lIns="0" tIns="0" rIns="0" bIns="0" rtlCol="0" anchor="t"/>
          <a:lstStyle/>
          <a:p>
            <a:pPr indent="0" marL="0">
              <a:buNone/>
            </a:pPr>
            <a:r>
              <a:rPr lang="en-US" sz="1800" b="1" dirty="0">
                <a:solidFill>
                  <a:schemeClr val="bg1"/>
                </a:solidFill>
              </a:rPr>
              <a:t>La LED environnement parle</a:t>
            </a:r>
            <a:endParaRPr lang="en-US" sz="1800" dirty="0"/>
          </a:p>
        </p:txBody>
      </p:sp>
      <p:sp>
        <p:nvSpPr>
          <p:cNvPr id="28" name="LED fixe"/>
          <p:cNvSpPr/>
          <p:nvPr/>
        </p:nvSpPr>
        <p:spPr>
          <a:xfrm>
            <a:off x="914400" y="4754880"/>
            <a:ext cx="548640" cy="548640"/>
          </a:xfrm>
          <a:prstGeom prst="ellipse">
            <a:avLst/>
          </a:prstGeom>
          <a:solidFill>
            <a:srgbClr val="FFB400"/>
          </a:solidFill>
          <a:ln/>
        </p:spPr>
      </p:sp>
      <p:sp>
        <p:nvSpPr>
          <p:cNvPr id="29" name="Text 24"/>
          <p:cNvSpPr txBox="1"/>
          <p:nvPr/>
        </p:nvSpPr>
        <p:spPr>
          <a:xfrm>
            <a:off x="1737360" y="4754880"/>
            <a:ext cx="4206240" cy="548640"/>
          </a:xfrm>
          <a:prstGeom prst="rect">
            <a:avLst/>
          </a:prstGeom>
          <a:noFill/>
          <a:ln/>
        </p:spPr>
        <p:txBody>
          <a:bodyPr wrap="square" lIns="0" tIns="0" rIns="0" bIns="0" rtlCol="0" anchor="ctr"/>
          <a:lstStyle/>
          <a:p>
            <a:pPr indent="0" marL="0">
              <a:buNone/>
            </a:pPr>
            <a:r>
              <a:rPr lang="en-US" sz="1500" b="1" dirty="0">
                <a:solidFill>
                  <a:srgbClr val="FFB400"/>
                </a:solidFill>
              </a:rPr>
              <a:t>Fixe : </a:t>
            </a:r>
            <a:pPr indent="0" marL="0">
              <a:buNone/>
            </a:pPr>
            <a:r>
              <a:rPr lang="en-US" sz="1500" dirty="0">
                <a:solidFill>
                  <a:schemeClr val="bg1"/>
                </a:solidFill>
              </a:rPr>
              <a:t>avertissement local au-dessus de 40 °C ou 800 mV</a:t>
            </a:r>
            <a:endParaRPr lang="en-US" sz="1500" dirty="0"/>
          </a:p>
        </p:txBody>
      </p:sp>
      <p:sp>
        <p:nvSpPr>
          <p:cNvPr id="30" name="Halo LED"/>
          <p:cNvSpPr/>
          <p:nvPr/>
        </p:nvSpPr>
        <p:spPr>
          <a:xfrm>
            <a:off x="822960" y="5349240"/>
            <a:ext cx="731520" cy="731520"/>
          </a:xfrm>
          <a:prstGeom prst="ellipse">
            <a:avLst/>
          </a:prstGeom>
          <a:solidFill>
            <a:srgbClr val="FFFFFF">
              <a:alpha val="0"/>
            </a:srgbClr>
          </a:solidFill>
          <a:ln w="25400">
            <a:solidFill>
              <a:srgbClr val="FF4F81">
                <a:alpha val="60000"/>
              </a:srgbClr>
            </a:solidFill>
            <a:prstDash val="solid"/>
          </a:ln>
        </p:spPr>
      </p:sp>
      <p:sp>
        <p:nvSpPr>
          <p:cNvPr id="31" name="LED clignotante"/>
          <p:cNvSpPr/>
          <p:nvPr/>
        </p:nvSpPr>
        <p:spPr>
          <a:xfrm>
            <a:off x="914400" y="5440680"/>
            <a:ext cx="548640" cy="548640"/>
          </a:xfrm>
          <a:prstGeom prst="ellipse">
            <a:avLst/>
          </a:prstGeom>
          <a:solidFill>
            <a:srgbClr val="FF4F81"/>
          </a:solidFill>
          <a:ln/>
        </p:spPr>
      </p:sp>
      <p:sp>
        <p:nvSpPr>
          <p:cNvPr id="32" name="Text 27"/>
          <p:cNvSpPr txBox="1"/>
          <p:nvPr/>
        </p:nvSpPr>
        <p:spPr>
          <a:xfrm>
            <a:off x="1737360" y="5440680"/>
            <a:ext cx="4206240" cy="548640"/>
          </a:xfrm>
          <a:prstGeom prst="rect">
            <a:avLst/>
          </a:prstGeom>
          <a:noFill/>
          <a:ln/>
        </p:spPr>
        <p:txBody>
          <a:bodyPr wrap="square" lIns="0" tIns="0" rIns="0" bIns="0" rtlCol="0" anchor="ctr"/>
          <a:lstStyle/>
          <a:p>
            <a:pPr indent="0" marL="0">
              <a:buNone/>
            </a:pPr>
            <a:r>
              <a:rPr lang="en-US" sz="1500" b="1" dirty="0">
                <a:solidFill>
                  <a:srgbClr val="FF4F81"/>
                </a:solidFill>
              </a:rPr>
              <a:t>Clignotante : </a:t>
            </a:r>
            <a:pPr indent="0" marL="0">
              <a:buNone/>
            </a:pPr>
            <a:r>
              <a:rPr lang="en-US" sz="1500" dirty="0">
                <a:solidFill>
                  <a:schemeClr val="bg1"/>
                </a:solidFill>
              </a:rPr>
              <a:t>alerte confirmée par l'IA</a:t>
            </a:r>
            <a:endParaRPr lang="en-US" sz="1500" dirty="0"/>
          </a:p>
        </p:txBody>
      </p:sp>
      <p:sp>
        <p:nvSpPr>
          <p:cNvPr id="33" name="Adaptations"/>
          <p:cNvSpPr/>
          <p:nvPr/>
        </p:nvSpPr>
        <p:spPr>
          <a:xfrm>
            <a:off x="6492240" y="4160520"/>
            <a:ext cx="5120640" cy="2103120"/>
          </a:xfrm>
          <a:prstGeom prst="roundRect">
            <a:avLst>
              <a:gd name="adj" fmla="val 6522"/>
            </a:avLst>
          </a:prstGeom>
          <a:solidFill>
            <a:srgbClr val="F3F0FF"/>
          </a:solidFill>
          <a:ln/>
        </p:spPr>
      </p:sp>
      <p:sp>
        <p:nvSpPr>
          <p:cNvPr id="34" name="Text 29"/>
          <p:cNvSpPr txBox="1"/>
          <p:nvPr/>
        </p:nvSpPr>
        <p:spPr>
          <a:xfrm>
            <a:off x="6766560" y="4297680"/>
            <a:ext cx="4572000" cy="320040"/>
          </a:xfrm>
          <a:prstGeom prst="rect">
            <a:avLst/>
          </a:prstGeom>
          <a:noFill/>
          <a:ln/>
        </p:spPr>
        <p:txBody>
          <a:bodyPr wrap="square" lIns="0" tIns="0" rIns="0" bIns="0" rtlCol="0" anchor="t"/>
          <a:lstStyle/>
          <a:p>
            <a:pPr indent="0" marL="0">
              <a:buNone/>
            </a:pPr>
            <a:r>
              <a:rPr lang="en-US" sz="1800" b="1" dirty="0">
                <a:solidFill>
                  <a:schemeClr val="tx1"/>
                </a:solidFill>
              </a:rPr>
              <a:t>Adaptations assumées</a:t>
            </a:r>
            <a:endParaRPr lang="en-US" sz="1800" dirty="0"/>
          </a:p>
        </p:txBody>
      </p:sp>
      <p:sp>
        <p:nvSpPr>
          <p:cNvPr id="35" name="Text 30"/>
          <p:cNvSpPr txBox="1"/>
          <p:nvPr/>
        </p:nvSpPr>
        <p:spPr>
          <a:xfrm>
            <a:off x="6766560" y="4800600"/>
            <a:ext cx="4572000" cy="411480"/>
          </a:xfrm>
          <a:prstGeom prst="rect">
            <a:avLst/>
          </a:prstGeom>
          <a:noFill/>
          <a:ln/>
        </p:spPr>
        <p:txBody>
          <a:bodyPr wrap="square" lIns="0" tIns="0" rIns="0" bIns="0" rtlCol="0" anchor="ctr"/>
          <a:lstStyle/>
          <a:p>
            <a:pPr indent="0" marL="0">
              <a:buNone/>
            </a:pPr>
            <a:r>
              <a:rPr lang="en-US" sz="1400" b="1" dirty="0">
                <a:solidFill>
                  <a:srgbClr val="6C3BFF"/>
                </a:solidFill>
              </a:rPr>
              <a:t>ESP8266 → ESP32  </a:t>
            </a:r>
            <a:pPr indent="0" marL="0">
              <a:buNone/>
            </a:pPr>
            <a:r>
              <a:rPr lang="en-US" sz="1400" dirty="0">
                <a:solidFill>
                  <a:schemeClr val="tx1"/>
                </a:solidFill>
              </a:rPr>
              <a:t>ADC 12 bits, TLS mbedTLS plus confortable</a:t>
            </a:r>
            <a:endParaRPr lang="en-US" sz="1400" dirty="0"/>
          </a:p>
        </p:txBody>
      </p:sp>
      <p:sp>
        <p:nvSpPr>
          <p:cNvPr id="36" name="Text 31"/>
          <p:cNvSpPr txBox="1"/>
          <p:nvPr/>
        </p:nvSpPr>
        <p:spPr>
          <a:xfrm>
            <a:off x="6766560" y="5257800"/>
            <a:ext cx="4572000" cy="411480"/>
          </a:xfrm>
          <a:prstGeom prst="rect">
            <a:avLst/>
          </a:prstGeom>
          <a:noFill/>
          <a:ln/>
        </p:spPr>
        <p:txBody>
          <a:bodyPr wrap="square" lIns="0" tIns="0" rIns="0" bIns="0" rtlCol="0" anchor="ctr"/>
          <a:lstStyle/>
          <a:p>
            <a:pPr indent="0" marL="0">
              <a:buNone/>
            </a:pPr>
            <a:r>
              <a:rPr lang="en-US" sz="1400" b="1" dirty="0">
                <a:solidFill>
                  <a:srgbClr val="6C3BFF"/>
                </a:solidFill>
              </a:rPr>
              <a:t>Buzzer → 2 LED  </a:t>
            </a:r>
            <a:pPr indent="0" marL="0">
              <a:buNone/>
            </a:pPr>
            <a:r>
              <a:rPr lang="en-US" sz="1400" dirty="0">
                <a:solidFill>
                  <a:schemeClr val="tx1"/>
                </a:solidFill>
              </a:rPr>
              <a:t>plus de buzzer disponible</a:t>
            </a:r>
            <a:endParaRPr lang="en-US" sz="1400" dirty="0"/>
          </a:p>
        </p:txBody>
      </p:sp>
      <p:sp>
        <p:nvSpPr>
          <p:cNvPr id="37" name="Text 32"/>
          <p:cNvSpPr txBox="1"/>
          <p:nvPr/>
        </p:nvSpPr>
        <p:spPr>
          <a:xfrm>
            <a:off x="6766560" y="5715000"/>
            <a:ext cx="4572000" cy="411480"/>
          </a:xfrm>
          <a:prstGeom prst="rect">
            <a:avLst/>
          </a:prstGeom>
          <a:noFill/>
          <a:ln/>
        </p:spPr>
        <p:txBody>
          <a:bodyPr wrap="square" lIns="0" tIns="0" rIns="0" bIns="0" rtlCol="0" anchor="ctr"/>
          <a:lstStyle/>
          <a:p>
            <a:pPr indent="0" marL="0">
              <a:buNone/>
            </a:pPr>
            <a:r>
              <a:rPr lang="en-US" sz="1400" b="1" dirty="0">
                <a:solidFill>
                  <a:srgbClr val="6C3BFF"/>
                </a:solidFill>
              </a:rPr>
              <a:t>Écran OLED → dashboard  </a:t>
            </a:r>
            <a:pPr indent="0" marL="0">
              <a:buNone/>
            </a:pPr>
            <a:r>
              <a:rPr lang="en-US" sz="1400" dirty="0">
                <a:solidFill>
                  <a:schemeClr val="tx1"/>
                </a:solidFill>
              </a:rPr>
              <a:t>IP, connexion et mesures en ligne</a:t>
            </a:r>
            <a:endParaRPr lang="en-US" sz="14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578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urtitre"/>
          <p:cNvSpPr/>
          <p:nvPr/>
        </p:nvSpPr>
        <p:spPr>
          <a:xfrm>
            <a:off x="548640" y="384048"/>
            <a:ext cx="961949" cy="292608"/>
          </a:xfrm>
          <a:prstGeom prst="roundRect">
            <a:avLst>
              <a:gd name="adj" fmla="val 50000"/>
            </a:avLst>
          </a:prstGeom>
          <a:solidFill>
            <a:srgbClr val="FFB400"/>
          </a:solidFill>
          <a:ln/>
        </p:spPr>
      </p:sp>
      <p:sp>
        <p:nvSpPr>
          <p:cNvPr id="3" name="Text 1"/>
          <p:cNvSpPr txBox="1"/>
          <p:nvPr/>
        </p:nvSpPr>
        <p:spPr>
          <a:xfrm>
            <a:off x="548640" y="384048"/>
            <a:ext cx="961949" cy="292608"/>
          </a:xfrm>
          <a:prstGeom prst="rect">
            <a:avLst/>
          </a:prstGeom>
          <a:noFill/>
          <a:ln/>
        </p:spPr>
        <p:txBody>
          <a:bodyPr wrap="square" lIns="0" tIns="0" rIns="0" bIns="0" rtlCol="0" anchor="ctr"/>
          <a:lstStyle/>
          <a:p>
            <a:pPr algn="ctr" indent="0" marL="0">
              <a:buNone/>
            </a:pPr>
            <a:r>
              <a:rPr lang="en-US" sz="1100" b="1" spc="100" kern="0" dirty="0">
                <a:solidFill>
                  <a:srgbClr val="120B2E"/>
                </a:solidFill>
              </a:rPr>
              <a:t>PROTOCOLE</a:t>
            </a:r>
            <a:endParaRPr lang="en-US" sz="1100" dirty="0"/>
          </a:p>
        </p:txBody>
      </p:sp>
      <p:sp>
        <p:nvSpPr>
          <p:cNvPr id="4" name="Text 0"/>
          <p:cNvSpPr/>
          <p:nvPr>
            <p:ph idx="100" type="title" hasCustomPrompt="1"/>
          </p:nvPr>
        </p:nvSpPr>
        <p:spPr>
          <a:xfrm>
            <a:off x="548640" y="749808"/>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Le nœud parle MQTT, en JSON v1</a:t>
            </a:r>
            <a:endParaRPr lang="en-US" sz="3400" dirty="0"/>
          </a:p>
        </p:txBody>
      </p:sp>
      <p:sp>
        <p:nvSpPr>
          <p:cNvPr id="5" name="Message JSON"/>
          <p:cNvSpPr/>
          <p:nvPr/>
        </p:nvSpPr>
        <p:spPr>
          <a:xfrm>
            <a:off x="548640" y="1828800"/>
            <a:ext cx="5120640" cy="3429000"/>
          </a:xfrm>
          <a:prstGeom prst="roundRect">
            <a:avLst>
              <a:gd name="adj" fmla="val 4000"/>
            </a:avLst>
          </a:prstGeom>
          <a:solidFill>
            <a:srgbClr val="0A0620"/>
          </a:solidFill>
          <a:ln/>
          <a:effectLst>
            <a:outerShdw sx="100000" sy="100000" kx="0" ky="0" algn="bl" rotWithShape="0" blurRad="127000" dist="38100" dir="5400000">
              <a:srgbClr val="000000">
                <a:alpha val="20000"/>
              </a:srgbClr>
            </a:outerShdw>
          </a:effectLst>
        </p:spPr>
      </p:sp>
      <p:sp>
        <p:nvSpPr>
          <p:cNvPr id="6" name="Text 4"/>
          <p:cNvSpPr txBox="1"/>
          <p:nvPr/>
        </p:nvSpPr>
        <p:spPr>
          <a:xfrm>
            <a:off x="822960" y="1965960"/>
            <a:ext cx="4663440" cy="3200400"/>
          </a:xfrm>
          <a:prstGeom prst="rect">
            <a:avLst/>
          </a:prstGeom>
          <a:noFill/>
          <a:ln/>
        </p:spPr>
        <p:txBody>
          <a:bodyPr wrap="square" lIns="0" tIns="0" rIns="0" bIns="0" rtlCol="0" anchor="ctr"/>
          <a:lstStyle/>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00C9B7"/>
                </a:solidFill>
                <a:latin typeface="Courier New" pitchFamily="34" charset="0"/>
                <a:ea typeface="Courier New" pitchFamily="34" charset="-122"/>
                <a:cs typeface="Courier New" pitchFamily="34" charset="-120"/>
              </a:rPr>
              <a:t>  "v"</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rgbClr val="FF4F81"/>
                </a:solidFill>
                <a:latin typeface="Courier New" pitchFamily="34" charset="0"/>
                <a:ea typeface="Courier New" pitchFamily="34" charset="-122"/>
                <a:cs typeface="Courier New" pitchFamily="34" charset="-120"/>
              </a:rPr>
              <a:t>1</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00C9B7"/>
                </a:solidFill>
                <a:latin typeface="Courier New" pitchFamily="34" charset="0"/>
                <a:ea typeface="Courier New" pitchFamily="34" charset="-122"/>
                <a:cs typeface="Courier New" pitchFamily="34" charset="-120"/>
              </a:rPr>
              <a:t>  "device_id"</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rgbClr val="FFB400"/>
                </a:solidFill>
                <a:latin typeface="Courier New" pitchFamily="34" charset="0"/>
                <a:ea typeface="Courier New" pitchFamily="34" charset="-122"/>
                <a:cs typeface="Courier New" pitchFamily="34" charset="-120"/>
              </a:rPr>
              <a:t>"VIG1L-8-NODE04"</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00C9B7"/>
                </a:solidFill>
                <a:latin typeface="Courier New" pitchFamily="34" charset="0"/>
                <a:ea typeface="Courier New" pitchFamily="34" charset="-122"/>
                <a:cs typeface="Courier New" pitchFamily="34" charset="-120"/>
              </a:rPr>
              <a:t>  "seq"</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rgbClr val="FF4F81"/>
                </a:solidFill>
                <a:latin typeface="Courier New" pitchFamily="34" charset="0"/>
                <a:ea typeface="Courier New" pitchFamily="34" charset="-122"/>
                <a:cs typeface="Courier New" pitchFamily="34" charset="-120"/>
              </a:rPr>
              <a:t>18342</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00C9B7"/>
                </a:solidFill>
                <a:latin typeface="Courier New" pitchFamily="34" charset="0"/>
                <a:ea typeface="Courier New" pitchFamily="34" charset="-122"/>
                <a:cs typeface="Courier New" pitchFamily="34" charset="-120"/>
              </a:rPr>
              <a:t>  "temp_c"</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rgbClr val="FF4F81"/>
                </a:solidFill>
                <a:latin typeface="Courier New" pitchFamily="34" charset="0"/>
                <a:ea typeface="Courier New" pitchFamily="34" charset="-122"/>
                <a:cs typeface="Courier New" pitchFamily="34" charset="-120"/>
              </a:rPr>
              <a:t>25.8</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00C9B7"/>
                </a:solidFill>
                <a:latin typeface="Courier New" pitchFamily="34" charset="0"/>
                <a:ea typeface="Courier New" pitchFamily="34" charset="-122"/>
                <a:cs typeface="Courier New" pitchFamily="34" charset="-120"/>
              </a:rPr>
              <a:t>  "hum_pct"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rgbClr val="FF4F81"/>
                </a:solidFill>
                <a:latin typeface="Courier New" pitchFamily="34" charset="0"/>
                <a:ea typeface="Courier New" pitchFamily="34" charset="-122"/>
                <a:cs typeface="Courier New" pitchFamily="34" charset="-120"/>
              </a:rPr>
              <a:t>61.5</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00C9B7"/>
                </a:solidFill>
                <a:latin typeface="Courier New" pitchFamily="34" charset="0"/>
                <a:ea typeface="Courier New" pitchFamily="34" charset="-122"/>
                <a:cs typeface="Courier New" pitchFamily="34" charset="-120"/>
              </a:rPr>
              <a:t>  "gas_mv"</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rgbClr val="FF4F81"/>
                </a:solidFill>
                <a:latin typeface="Courier New" pitchFamily="34" charset="0"/>
                <a:ea typeface="Courier New" pitchFamily="34" charset="-122"/>
                <a:cs typeface="Courier New" pitchFamily="34" charset="-120"/>
              </a:rPr>
              <a:t>259</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00C9B7"/>
                </a:solidFill>
                <a:latin typeface="Courier New" pitchFamily="34" charset="0"/>
                <a:ea typeface="Courier New" pitchFamily="34" charset="-122"/>
                <a:cs typeface="Courier New" pitchFamily="34" charset="-120"/>
              </a:rPr>
              <a:t>  "pir"</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rgbClr val="7ADB4F"/>
                </a:solidFill>
                <a:latin typeface="Courier New" pitchFamily="34" charset="0"/>
                <a:ea typeface="Courier New" pitchFamily="34" charset="-122"/>
                <a:cs typeface="Courier New" pitchFamily="34" charset="-120"/>
              </a:rPr>
              <a:t>false</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00C9B7"/>
                </a:solidFill>
                <a:latin typeface="Courier New" pitchFamily="34" charset="0"/>
                <a:ea typeface="Courier New" pitchFamily="34" charset="-122"/>
                <a:cs typeface="Courier New" pitchFamily="34" charset="-120"/>
              </a:rPr>
              <a:t>  "status"</a:t>
            </a:r>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rgbClr val="00C9B7"/>
                </a:solidFill>
                <a:latin typeface="Courier New" pitchFamily="34" charset="0"/>
                <a:ea typeface="Courier New" pitchFamily="34" charset="-122"/>
                <a:cs typeface="Courier New" pitchFamily="34" charset="-120"/>
              </a:rPr>
              <a:t>    "dht"</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rgbClr val="7ADB4F"/>
                </a:solidFill>
                <a:latin typeface="Courier New" pitchFamily="34" charset="0"/>
                <a:ea typeface="Courier New" pitchFamily="34" charset="-122"/>
                <a:cs typeface="Courier New" pitchFamily="34" charset="-120"/>
              </a:rPr>
              <a:t>"ok"</a:t>
            </a:r>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a:p>
            <a:pPr indent="0" marL="0">
              <a:buNone/>
            </a:pPr>
            <a:r>
              <a:rPr lang="en-US" sz="1400" dirty="0">
                <a:solidFill>
                  <a:srgbClr val="00C9B7"/>
                </a:solidFill>
                <a:latin typeface="Courier New" pitchFamily="34" charset="0"/>
                <a:ea typeface="Courier New" pitchFamily="34" charset="-122"/>
                <a:cs typeface="Courier New" pitchFamily="34" charset="-120"/>
              </a:rPr>
              <a:t>    "gas_warm"</a:t>
            </a:r>
            <a:pPr indent="0" marL="0">
              <a:buNone/>
            </a:pPr>
            <a:r>
              <a:rPr lang="en-US" sz="1400" dirty="0">
                <a:solidFill>
                  <a:schemeClr val="bg1"/>
                </a:solidFill>
                <a:latin typeface="Courier New" pitchFamily="34" charset="0"/>
                <a:ea typeface="Courier New" pitchFamily="34" charset="-122"/>
                <a:cs typeface="Courier New" pitchFamily="34" charset="-120"/>
              </a:rPr>
              <a:t>: </a:t>
            </a:r>
            <a:pPr indent="0" marL="0">
              <a:buNone/>
            </a:pPr>
            <a:r>
              <a:rPr lang="en-US" sz="1400" dirty="0">
                <a:solidFill>
                  <a:srgbClr val="7ADB4F"/>
                </a:solidFill>
                <a:latin typeface="Courier New" pitchFamily="34" charset="0"/>
                <a:ea typeface="Courier New" pitchFamily="34" charset="-122"/>
                <a:cs typeface="Courier New" pitchFamily="34" charset="-120"/>
              </a:rPr>
              <a:t>true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7" name="Panne visible"/>
          <p:cNvSpPr/>
          <p:nvPr/>
        </p:nvSpPr>
        <p:spPr>
          <a:xfrm>
            <a:off x="548640" y="5440680"/>
            <a:ext cx="5120640" cy="777240"/>
          </a:xfrm>
          <a:prstGeom prst="roundRect">
            <a:avLst>
              <a:gd name="adj" fmla="val 17647"/>
            </a:avLst>
          </a:prstGeom>
          <a:solidFill>
            <a:srgbClr val="FF4F81"/>
          </a:solidFill>
          <a:ln/>
          <a:effectLst>
            <a:outerShdw sx="100000" sy="100000" kx="0" ky="0" algn="bl" rotWithShape="0" blurRad="127000" dist="38100" dir="5400000">
              <a:srgbClr val="000000">
                <a:alpha val="20000"/>
              </a:srgbClr>
            </a:outerShdw>
          </a:effectLst>
        </p:spPr>
      </p:sp>
      <p:sp>
        <p:nvSpPr>
          <p:cNvPr id="8" name="Text 6"/>
          <p:cNvSpPr txBox="1"/>
          <p:nvPr/>
        </p:nvSpPr>
        <p:spPr>
          <a:xfrm>
            <a:off x="777240" y="5440680"/>
            <a:ext cx="4663440" cy="777240"/>
          </a:xfrm>
          <a:prstGeom prst="rect">
            <a:avLst/>
          </a:prstGeom>
          <a:noFill/>
          <a:ln/>
        </p:spPr>
        <p:txBody>
          <a:bodyPr wrap="square" lIns="0" tIns="0" rIns="0" bIns="0" rtlCol="0" anchor="ctr"/>
          <a:lstStyle/>
          <a:p>
            <a:pPr indent="0" marL="0">
              <a:buNone/>
            </a:pPr>
            <a:r>
              <a:rPr lang="en-US" sz="1500" b="1" dirty="0">
                <a:solidFill>
                  <a:srgbClr val="120B2E"/>
                </a:solidFill>
              </a:rPr>
              <a:t>Capteur en panne ⇒ null. </a:t>
            </a:r>
            <a:pPr indent="0" marL="0">
              <a:buNone/>
            </a:pPr>
            <a:r>
              <a:rPr lang="en-US" sz="1500" dirty="0">
                <a:solidFill>
                  <a:srgbClr val="120B2E"/>
                </a:solidFill>
              </a:rPr>
              <a:t>Jamais de « dernière valeur » qui masque un problème.</a:t>
            </a:r>
            <a:endParaRPr lang="en-US" sz="1500" dirty="0"/>
          </a:p>
        </p:txBody>
      </p:sp>
      <p:sp>
        <p:nvSpPr>
          <p:cNvPr id="9" name="Topic telemetry"/>
          <p:cNvSpPr/>
          <p:nvPr/>
        </p:nvSpPr>
        <p:spPr>
          <a:xfrm>
            <a:off x="6035040" y="1828800"/>
            <a:ext cx="5577840" cy="960120"/>
          </a:xfrm>
          <a:prstGeom prst="roundRect">
            <a:avLst>
              <a:gd name="adj" fmla="val 14286"/>
            </a:avLst>
          </a:prstGeom>
          <a:solidFill>
            <a:srgbClr val="2B1B6B"/>
          </a:solidFill>
          <a:ln/>
          <a:effectLst>
            <a:outerShdw sx="100000" sy="100000" kx="0" ky="0" algn="bl" rotWithShape="0" blurRad="127000" dist="38100" dir="5400000">
              <a:srgbClr val="000000">
                <a:alpha val="20000"/>
              </a:srgbClr>
            </a:outerShdw>
          </a:effectLst>
        </p:spPr>
      </p:sp>
      <p:sp>
        <p:nvSpPr>
          <p:cNvPr id="10" name="Pastille topic"/>
          <p:cNvSpPr/>
          <p:nvPr/>
        </p:nvSpPr>
        <p:spPr>
          <a:xfrm>
            <a:off x="6263640" y="2121408"/>
            <a:ext cx="365760" cy="365760"/>
          </a:xfrm>
          <a:prstGeom prst="ellipse">
            <a:avLst/>
          </a:prstGeom>
          <a:solidFill>
            <a:srgbClr val="00C9B7"/>
          </a:solidFill>
          <a:ln/>
        </p:spPr>
      </p:sp>
      <p:sp>
        <p:nvSpPr>
          <p:cNvPr id="11" name="Text 9"/>
          <p:cNvSpPr txBox="1"/>
          <p:nvPr/>
        </p:nvSpPr>
        <p:spPr>
          <a:xfrm>
            <a:off x="6858000" y="1956816"/>
            <a:ext cx="4572000" cy="320040"/>
          </a:xfrm>
          <a:prstGeom prst="rect">
            <a:avLst/>
          </a:prstGeom>
          <a:noFill/>
          <a:ln/>
        </p:spPr>
        <p:txBody>
          <a:bodyPr wrap="square" lIns="0" tIns="0" rIns="0" bIns="0" rtlCol="0" anchor="t"/>
          <a:lstStyle/>
          <a:p>
            <a:pPr indent="0" marL="0">
              <a:buNone/>
            </a:pPr>
            <a:r>
              <a:rPr lang="en-US" sz="1700" b="1" dirty="0">
                <a:solidFill>
                  <a:schemeClr val="bg1"/>
                </a:solidFill>
                <a:latin typeface="Courier New" pitchFamily="34" charset="0"/>
                <a:ea typeface="Courier New" pitchFamily="34" charset="-122"/>
                <a:cs typeface="Courier New" pitchFamily="34" charset="-120"/>
              </a:rPr>
              <a:t>vigil8/&lt;id&gt;/telemetry</a:t>
            </a:r>
            <a:endParaRPr lang="en-US" sz="1700" dirty="0"/>
          </a:p>
        </p:txBody>
      </p:sp>
      <p:sp>
        <p:nvSpPr>
          <p:cNvPr id="12" name="Text 10"/>
          <p:cNvSpPr txBox="1"/>
          <p:nvPr/>
        </p:nvSpPr>
        <p:spPr>
          <a:xfrm>
            <a:off x="6858000" y="2304288"/>
            <a:ext cx="4663440" cy="411480"/>
          </a:xfrm>
          <a:prstGeom prst="rect">
            <a:avLst/>
          </a:prstGeom>
          <a:noFill/>
          <a:ln/>
        </p:spPr>
        <p:txBody>
          <a:bodyPr wrap="square" lIns="0" tIns="0" rIns="0" bIns="0" rtlCol="0" anchor="t"/>
          <a:lstStyle/>
          <a:p>
            <a:pPr indent="0" marL="0">
              <a:buNone/>
            </a:pPr>
            <a:r>
              <a:rPr lang="en-US" sz="1300" b="1" dirty="0">
                <a:solidFill>
                  <a:srgbClr val="00C9B7"/>
                </a:solidFill>
              </a:rPr>
              <a:t>nœud → serveur  </a:t>
            </a:r>
            <a:pPr indent="0" marL="0">
              <a:buNone/>
            </a:pPr>
            <a:r>
              <a:rPr lang="en-US" sz="1300" dirty="0">
                <a:solidFill>
                  <a:srgbClr val="B9B3E6"/>
                </a:solidFill>
              </a:rPr>
              <a:t>toutes les 2 s · seq : un trou = message perdu</a:t>
            </a:r>
            <a:endParaRPr lang="en-US" sz="1300" dirty="0"/>
          </a:p>
        </p:txBody>
      </p:sp>
      <p:sp>
        <p:nvSpPr>
          <p:cNvPr id="13" name="Topic event"/>
          <p:cNvSpPr/>
          <p:nvPr/>
        </p:nvSpPr>
        <p:spPr>
          <a:xfrm>
            <a:off x="6035040" y="2971800"/>
            <a:ext cx="5577840" cy="960120"/>
          </a:xfrm>
          <a:prstGeom prst="roundRect">
            <a:avLst>
              <a:gd name="adj" fmla="val 14286"/>
            </a:avLst>
          </a:prstGeom>
          <a:solidFill>
            <a:srgbClr val="2B1B6B"/>
          </a:solidFill>
          <a:ln/>
          <a:effectLst>
            <a:outerShdw sx="100000" sy="100000" kx="0" ky="0" algn="bl" rotWithShape="0" blurRad="127000" dist="38100" dir="5400000">
              <a:srgbClr val="000000">
                <a:alpha val="20000"/>
              </a:srgbClr>
            </a:outerShdw>
          </a:effectLst>
        </p:spPr>
      </p:sp>
      <p:sp>
        <p:nvSpPr>
          <p:cNvPr id="14" name="Pastille topic"/>
          <p:cNvSpPr/>
          <p:nvPr/>
        </p:nvSpPr>
        <p:spPr>
          <a:xfrm>
            <a:off x="6263640" y="3264408"/>
            <a:ext cx="365760" cy="365760"/>
          </a:xfrm>
          <a:prstGeom prst="ellipse">
            <a:avLst/>
          </a:prstGeom>
          <a:solidFill>
            <a:srgbClr val="FFB400"/>
          </a:solidFill>
          <a:ln/>
        </p:spPr>
      </p:sp>
      <p:sp>
        <p:nvSpPr>
          <p:cNvPr id="15" name="Text 13"/>
          <p:cNvSpPr txBox="1"/>
          <p:nvPr/>
        </p:nvSpPr>
        <p:spPr>
          <a:xfrm>
            <a:off x="6858000" y="3099816"/>
            <a:ext cx="4572000" cy="320040"/>
          </a:xfrm>
          <a:prstGeom prst="rect">
            <a:avLst/>
          </a:prstGeom>
          <a:noFill/>
          <a:ln/>
        </p:spPr>
        <p:txBody>
          <a:bodyPr wrap="square" lIns="0" tIns="0" rIns="0" bIns="0" rtlCol="0" anchor="t"/>
          <a:lstStyle/>
          <a:p>
            <a:pPr indent="0" marL="0">
              <a:buNone/>
            </a:pPr>
            <a:r>
              <a:rPr lang="en-US" sz="1700" b="1" dirty="0">
                <a:solidFill>
                  <a:schemeClr val="bg1"/>
                </a:solidFill>
                <a:latin typeface="Courier New" pitchFamily="34" charset="0"/>
                <a:ea typeface="Courier New" pitchFamily="34" charset="-122"/>
                <a:cs typeface="Courier New" pitchFamily="34" charset="-120"/>
              </a:rPr>
              <a:t>vigil8/&lt;id&gt;/event</a:t>
            </a:r>
            <a:endParaRPr lang="en-US" sz="1700" dirty="0"/>
          </a:p>
        </p:txBody>
      </p:sp>
      <p:sp>
        <p:nvSpPr>
          <p:cNvPr id="16" name="Text 14"/>
          <p:cNvSpPr txBox="1"/>
          <p:nvPr/>
        </p:nvSpPr>
        <p:spPr>
          <a:xfrm>
            <a:off x="6858000" y="3447288"/>
            <a:ext cx="4663440" cy="411480"/>
          </a:xfrm>
          <a:prstGeom prst="rect">
            <a:avLst/>
          </a:prstGeom>
          <a:noFill/>
          <a:ln/>
        </p:spPr>
        <p:txBody>
          <a:bodyPr wrap="square" lIns="0" tIns="0" rIns="0" bIns="0" rtlCol="0" anchor="t"/>
          <a:lstStyle/>
          <a:p>
            <a:pPr indent="0" marL="0">
              <a:buNone/>
            </a:pPr>
            <a:r>
              <a:rPr lang="en-US" sz="1300" b="1" dirty="0">
                <a:solidFill>
                  <a:srgbClr val="FFB400"/>
                </a:solidFill>
              </a:rPr>
              <a:t>nœud → serveur  </a:t>
            </a:r>
            <a:pPr indent="0" marL="0">
              <a:buNone/>
            </a:pPr>
            <a:r>
              <a:rPr lang="en-US" sz="1300" dirty="0">
                <a:solidFill>
                  <a:srgbClr val="B9B3E6"/>
                </a:solidFill>
              </a:rPr>
              <a:t>immédiat à chaque changement d'état du PIR</a:t>
            </a:r>
            <a:endParaRPr lang="en-US" sz="1300" dirty="0"/>
          </a:p>
        </p:txBody>
      </p:sp>
      <p:sp>
        <p:nvSpPr>
          <p:cNvPr id="17" name="Topic status"/>
          <p:cNvSpPr/>
          <p:nvPr/>
        </p:nvSpPr>
        <p:spPr>
          <a:xfrm>
            <a:off x="6035040" y="4114800"/>
            <a:ext cx="5577840" cy="960120"/>
          </a:xfrm>
          <a:prstGeom prst="roundRect">
            <a:avLst>
              <a:gd name="adj" fmla="val 14286"/>
            </a:avLst>
          </a:prstGeom>
          <a:solidFill>
            <a:srgbClr val="2B1B6B"/>
          </a:solidFill>
          <a:ln/>
          <a:effectLst>
            <a:outerShdw sx="100000" sy="100000" kx="0" ky="0" algn="bl" rotWithShape="0" blurRad="127000" dist="38100" dir="5400000">
              <a:srgbClr val="000000">
                <a:alpha val="20000"/>
              </a:srgbClr>
            </a:outerShdw>
          </a:effectLst>
        </p:spPr>
      </p:sp>
      <p:sp>
        <p:nvSpPr>
          <p:cNvPr id="18" name="Pastille topic"/>
          <p:cNvSpPr/>
          <p:nvPr/>
        </p:nvSpPr>
        <p:spPr>
          <a:xfrm>
            <a:off x="6263640" y="4407408"/>
            <a:ext cx="365760" cy="365760"/>
          </a:xfrm>
          <a:prstGeom prst="ellipse">
            <a:avLst/>
          </a:prstGeom>
          <a:solidFill>
            <a:srgbClr val="7ADB4F"/>
          </a:solidFill>
          <a:ln/>
        </p:spPr>
      </p:sp>
      <p:sp>
        <p:nvSpPr>
          <p:cNvPr id="19" name="Text 17"/>
          <p:cNvSpPr txBox="1"/>
          <p:nvPr/>
        </p:nvSpPr>
        <p:spPr>
          <a:xfrm>
            <a:off x="6858000" y="4242816"/>
            <a:ext cx="4572000" cy="320040"/>
          </a:xfrm>
          <a:prstGeom prst="rect">
            <a:avLst/>
          </a:prstGeom>
          <a:noFill/>
          <a:ln/>
        </p:spPr>
        <p:txBody>
          <a:bodyPr wrap="square" lIns="0" tIns="0" rIns="0" bIns="0" rtlCol="0" anchor="t"/>
          <a:lstStyle/>
          <a:p>
            <a:pPr indent="0" marL="0">
              <a:buNone/>
            </a:pPr>
            <a:r>
              <a:rPr lang="en-US" sz="1700" b="1" dirty="0">
                <a:solidFill>
                  <a:schemeClr val="bg1"/>
                </a:solidFill>
                <a:latin typeface="Courier New" pitchFamily="34" charset="0"/>
                <a:ea typeface="Courier New" pitchFamily="34" charset="-122"/>
                <a:cs typeface="Courier New" pitchFamily="34" charset="-120"/>
              </a:rPr>
              <a:t>vigil8/&lt;id&gt;/status</a:t>
            </a:r>
            <a:endParaRPr lang="en-US" sz="1700" dirty="0"/>
          </a:p>
        </p:txBody>
      </p:sp>
      <p:sp>
        <p:nvSpPr>
          <p:cNvPr id="20" name="Text 18"/>
          <p:cNvSpPr txBox="1"/>
          <p:nvPr/>
        </p:nvSpPr>
        <p:spPr>
          <a:xfrm>
            <a:off x="6858000" y="4590288"/>
            <a:ext cx="4663440" cy="411480"/>
          </a:xfrm>
          <a:prstGeom prst="rect">
            <a:avLst/>
          </a:prstGeom>
          <a:noFill/>
          <a:ln/>
        </p:spPr>
        <p:txBody>
          <a:bodyPr wrap="square" lIns="0" tIns="0" rIns="0" bIns="0" rtlCol="0" anchor="t"/>
          <a:lstStyle/>
          <a:p>
            <a:pPr indent="0" marL="0">
              <a:buNone/>
            </a:pPr>
            <a:r>
              <a:rPr lang="en-US" sz="1300" b="1" dirty="0">
                <a:solidFill>
                  <a:srgbClr val="7ADB4F"/>
                </a:solidFill>
              </a:rPr>
              <a:t>nœud → serveur  </a:t>
            </a:r>
            <a:pPr indent="0" marL="0">
              <a:buNone/>
            </a:pPr>
            <a:r>
              <a:rPr lang="en-US" sz="1300" dirty="0">
                <a:solidFill>
                  <a:srgbClr val="B9B3E6"/>
                </a:solidFill>
              </a:rPr>
              <a:t>retenu · LWT {online:false} si le nœud disparaît</a:t>
            </a:r>
            <a:endParaRPr lang="en-US" sz="1300" dirty="0"/>
          </a:p>
        </p:txBody>
      </p:sp>
      <p:sp>
        <p:nvSpPr>
          <p:cNvPr id="21" name="Topic cmd"/>
          <p:cNvSpPr/>
          <p:nvPr/>
        </p:nvSpPr>
        <p:spPr>
          <a:xfrm>
            <a:off x="6035040" y="5257800"/>
            <a:ext cx="5577840" cy="960120"/>
          </a:xfrm>
          <a:prstGeom prst="roundRect">
            <a:avLst>
              <a:gd name="adj" fmla="val 14286"/>
            </a:avLst>
          </a:prstGeom>
          <a:solidFill>
            <a:srgbClr val="2B1B6B"/>
          </a:solidFill>
          <a:ln/>
          <a:effectLst>
            <a:outerShdw sx="100000" sy="100000" kx="0" ky="0" algn="bl" rotWithShape="0" blurRad="127000" dist="38100" dir="5400000">
              <a:srgbClr val="000000">
                <a:alpha val="20000"/>
              </a:srgbClr>
            </a:outerShdw>
          </a:effectLst>
        </p:spPr>
      </p:sp>
      <p:sp>
        <p:nvSpPr>
          <p:cNvPr id="22" name="Pastille topic"/>
          <p:cNvSpPr/>
          <p:nvPr/>
        </p:nvSpPr>
        <p:spPr>
          <a:xfrm>
            <a:off x="6263640" y="5550408"/>
            <a:ext cx="365760" cy="365760"/>
          </a:xfrm>
          <a:prstGeom prst="ellipse">
            <a:avLst/>
          </a:prstGeom>
          <a:solidFill>
            <a:srgbClr val="FF4F81"/>
          </a:solidFill>
          <a:ln/>
        </p:spPr>
      </p:sp>
      <p:sp>
        <p:nvSpPr>
          <p:cNvPr id="23" name="Text 21"/>
          <p:cNvSpPr txBox="1"/>
          <p:nvPr/>
        </p:nvSpPr>
        <p:spPr>
          <a:xfrm>
            <a:off x="6858000" y="5385816"/>
            <a:ext cx="4572000" cy="320040"/>
          </a:xfrm>
          <a:prstGeom prst="rect">
            <a:avLst/>
          </a:prstGeom>
          <a:noFill/>
          <a:ln/>
        </p:spPr>
        <p:txBody>
          <a:bodyPr wrap="square" lIns="0" tIns="0" rIns="0" bIns="0" rtlCol="0" anchor="t"/>
          <a:lstStyle/>
          <a:p>
            <a:pPr indent="0" marL="0">
              <a:buNone/>
            </a:pPr>
            <a:r>
              <a:rPr lang="en-US" sz="1700" b="1" dirty="0">
                <a:solidFill>
                  <a:schemeClr val="bg1"/>
                </a:solidFill>
                <a:latin typeface="Courier New" pitchFamily="34" charset="0"/>
                <a:ea typeface="Courier New" pitchFamily="34" charset="-122"/>
                <a:cs typeface="Courier New" pitchFamily="34" charset="-120"/>
              </a:rPr>
              <a:t>vigil8/&lt;id&gt;/cmd</a:t>
            </a:r>
            <a:endParaRPr lang="en-US" sz="1700" dirty="0"/>
          </a:p>
        </p:txBody>
      </p:sp>
      <p:sp>
        <p:nvSpPr>
          <p:cNvPr id="24" name="Text 22"/>
          <p:cNvSpPr txBox="1"/>
          <p:nvPr/>
        </p:nvSpPr>
        <p:spPr>
          <a:xfrm>
            <a:off x="6858000" y="5733288"/>
            <a:ext cx="4663440" cy="411480"/>
          </a:xfrm>
          <a:prstGeom prst="rect">
            <a:avLst/>
          </a:prstGeom>
          <a:noFill/>
          <a:ln/>
        </p:spPr>
        <p:txBody>
          <a:bodyPr wrap="square" lIns="0" tIns="0" rIns="0" bIns="0" rtlCol="0" anchor="t"/>
          <a:lstStyle/>
          <a:p>
            <a:pPr indent="0" marL="0">
              <a:buNone/>
            </a:pPr>
            <a:r>
              <a:rPr lang="en-US" sz="1300" b="1" dirty="0">
                <a:solidFill>
                  <a:srgbClr val="FF4F81"/>
                </a:solidFill>
              </a:rPr>
              <a:t>serveur → nœud  </a:t>
            </a:r>
            <a:pPr indent="0" marL="0">
              <a:buNone/>
            </a:pPr>
            <a:r>
              <a:rPr lang="en-US" sz="1300" dirty="0">
                <a:solidFill>
                  <a:srgbClr val="B9B3E6"/>
                </a:solidFill>
              </a:rPr>
              <a:t>alerte confirmée ou commande opérateur</a:t>
            </a:r>
            <a:endParaRPr lang="en-US" sz="13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9B3E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Anneau radar"/>
          <p:cNvSpPr/>
          <p:nvPr/>
        </p:nvSpPr>
        <p:spPr>
          <a:xfrm>
            <a:off x="11457432" y="-731520"/>
            <a:ext cx="1463040" cy="1463040"/>
          </a:xfrm>
          <a:prstGeom prst="ellipse">
            <a:avLst/>
          </a:prstGeom>
          <a:solidFill>
            <a:srgbClr val="FFFFFF">
              <a:alpha val="0"/>
            </a:srgbClr>
          </a:solidFill>
          <a:ln w="19050">
            <a:solidFill>
              <a:srgbClr val="00C9B7">
                <a:alpha val="35000"/>
              </a:srgbClr>
            </a:solidFill>
            <a:prstDash val="solid"/>
          </a:ln>
        </p:spPr>
      </p:sp>
      <p:sp>
        <p:nvSpPr>
          <p:cNvPr id="3" name="Anneau radar"/>
          <p:cNvSpPr/>
          <p:nvPr/>
        </p:nvSpPr>
        <p:spPr>
          <a:xfrm>
            <a:off x="11000232" y="-1188720"/>
            <a:ext cx="2377440" cy="2377440"/>
          </a:xfrm>
          <a:prstGeom prst="ellipse">
            <a:avLst/>
          </a:prstGeom>
          <a:solidFill>
            <a:srgbClr val="FFFFFF">
              <a:alpha val="0"/>
            </a:srgbClr>
          </a:solidFill>
          <a:ln w="19050">
            <a:solidFill>
              <a:srgbClr val="6C3BFF">
                <a:alpha val="35000"/>
              </a:srgbClr>
            </a:solidFill>
            <a:prstDash val="solid"/>
          </a:ln>
        </p:spPr>
      </p:sp>
      <p:sp>
        <p:nvSpPr>
          <p:cNvPr id="4" name="Anneau radar"/>
          <p:cNvSpPr/>
          <p:nvPr/>
        </p:nvSpPr>
        <p:spPr>
          <a:xfrm>
            <a:off x="10543032" y="-1645920"/>
            <a:ext cx="3291840" cy="3291840"/>
          </a:xfrm>
          <a:prstGeom prst="ellipse">
            <a:avLst/>
          </a:prstGeom>
          <a:solidFill>
            <a:srgbClr val="FFFFFF">
              <a:alpha val="0"/>
            </a:srgbClr>
          </a:solidFill>
          <a:ln w="19050">
            <a:solidFill>
              <a:srgbClr val="FF4F81">
                <a:alpha val="35000"/>
              </a:srgbClr>
            </a:solidFill>
            <a:prstDash val="solid"/>
          </a:ln>
        </p:spPr>
      </p:sp>
      <p:sp>
        <p:nvSpPr>
          <p:cNvPr id="5" name="Surtitre"/>
          <p:cNvSpPr/>
          <p:nvPr/>
        </p:nvSpPr>
        <p:spPr>
          <a:xfrm>
            <a:off x="548640" y="384048"/>
            <a:ext cx="1410005" cy="292608"/>
          </a:xfrm>
          <a:prstGeom prst="roundRect">
            <a:avLst>
              <a:gd name="adj" fmla="val 50000"/>
            </a:avLst>
          </a:prstGeom>
          <a:solidFill>
            <a:srgbClr val="FFB400"/>
          </a:solidFill>
          <a:ln/>
        </p:spPr>
      </p:sp>
      <p:sp>
        <p:nvSpPr>
          <p:cNvPr id="6" name="Text 4"/>
          <p:cNvSpPr txBox="1"/>
          <p:nvPr/>
        </p:nvSpPr>
        <p:spPr>
          <a:xfrm>
            <a:off x="548640" y="384048"/>
            <a:ext cx="1410005" cy="292608"/>
          </a:xfrm>
          <a:prstGeom prst="rect">
            <a:avLst/>
          </a:prstGeom>
          <a:noFill/>
          <a:ln/>
        </p:spPr>
        <p:txBody>
          <a:bodyPr wrap="square" lIns="0" tIns="0" rIns="0" bIns="0" rtlCol="0" anchor="ctr"/>
          <a:lstStyle/>
          <a:p>
            <a:pPr algn="ctr" indent="0" marL="0">
              <a:buNone/>
            </a:pPr>
            <a:r>
              <a:rPr lang="en-US" sz="1100" b="1" spc="100" kern="0" dirty="0">
                <a:solidFill>
                  <a:srgbClr val="120B2E"/>
                </a:solidFill>
              </a:rPr>
              <a:t>INFRASTRUCTURE</a:t>
            </a:r>
            <a:endParaRPr lang="en-US" sz="1100" dirty="0"/>
          </a:p>
        </p:txBody>
      </p:sp>
      <p:sp>
        <p:nvSpPr>
          <p:cNvPr id="7" name="Text 0"/>
          <p:cNvSpPr/>
          <p:nvPr>
            <p:ph idx="100" type="title" hasCustomPrompt="1"/>
          </p:nvPr>
        </p:nvSpPr>
        <p:spPr>
          <a:xfrm>
            <a:off x="548640" y="749808"/>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7 services, une seule commande</a:t>
            </a:r>
            <a:endParaRPr lang="en-US" sz="3400" dirty="0"/>
          </a:p>
        </p:txBody>
      </p:sp>
      <p:sp>
        <p:nvSpPr>
          <p:cNvPr id="8" name="Service mqtt-broker"/>
          <p:cNvSpPr/>
          <p:nvPr/>
        </p:nvSpPr>
        <p:spPr>
          <a:xfrm>
            <a:off x="548640" y="1783080"/>
            <a:ext cx="2606040" cy="2103120"/>
          </a:xfrm>
          <a:prstGeom prst="roundRect">
            <a:avLst>
              <a:gd name="adj" fmla="val 6522"/>
            </a:avLst>
          </a:prstGeom>
          <a:solidFill>
            <a:srgbClr val="6C3BFF"/>
          </a:solidFill>
          <a:ln/>
          <a:effectLst>
            <a:outerShdw sx="100000" sy="100000" kx="0" ky="0" algn="bl" rotWithShape="0" blurRad="127000" dist="38100" dir="5400000">
              <a:srgbClr val="000000">
                <a:alpha val="20000"/>
              </a:srgbClr>
            </a:outerShdw>
          </a:effectLst>
        </p:spPr>
      </p:sp>
      <p:sp>
        <p:nvSpPr>
          <p:cNvPr id="9" name="Pastille FaLock"/>
          <p:cNvSpPr/>
          <p:nvPr/>
        </p:nvSpPr>
        <p:spPr>
          <a:xfrm>
            <a:off x="777240" y="1965960"/>
            <a:ext cx="548640" cy="548640"/>
          </a:xfrm>
          <a:prstGeom prst="ellipse">
            <a:avLst/>
          </a:prstGeom>
          <a:solidFill>
            <a:srgbClr val="FFFFFF"/>
          </a:solidFill>
          <a:ln/>
        </p:spPr>
      </p:sp>
      <p:pic>
        <p:nvPicPr>
          <p:cNvPr id="10" name="Image 0" descr="FaLock">    </p:cNvPr>
          <p:cNvPicPr>
            <a:picLocks noChangeAspect="1"/>
          </p:cNvPicPr>
          <p:nvPr/>
        </p:nvPicPr>
        <p:blipFill>
          <a:blip r:embed="rId1"/>
          <a:stretch>
            <a:fillRect/>
          </a:stretch>
        </p:blipFill>
        <p:spPr>
          <a:xfrm>
            <a:off x="914400" y="2103120"/>
            <a:ext cx="274320" cy="274320"/>
          </a:xfrm>
          <a:prstGeom prst="rect">
            <a:avLst/>
          </a:prstGeom>
        </p:spPr>
      </p:pic>
      <p:sp>
        <p:nvSpPr>
          <p:cNvPr id="11" name="Text 8"/>
          <p:cNvSpPr txBox="1"/>
          <p:nvPr/>
        </p:nvSpPr>
        <p:spPr>
          <a:xfrm>
            <a:off x="777240" y="2651760"/>
            <a:ext cx="2194560" cy="320040"/>
          </a:xfrm>
          <a:prstGeom prst="rect">
            <a:avLst/>
          </a:prstGeom>
          <a:noFill/>
          <a:ln/>
        </p:spPr>
        <p:txBody>
          <a:bodyPr wrap="square" lIns="0" tIns="0" rIns="0" bIns="0" rtlCol="0" anchor="t"/>
          <a:lstStyle/>
          <a:p>
            <a:pPr indent="0" marL="0">
              <a:buNone/>
            </a:pPr>
            <a:r>
              <a:rPr lang="en-US" sz="1700" b="1" dirty="0">
                <a:solidFill>
                  <a:srgbClr val="FFFFFF"/>
                </a:solidFill>
              </a:rPr>
              <a:t>mqtt-broker</a:t>
            </a:r>
            <a:endParaRPr lang="en-US" sz="1700" dirty="0"/>
          </a:p>
        </p:txBody>
      </p:sp>
      <p:sp>
        <p:nvSpPr>
          <p:cNvPr id="12" name="Text 9"/>
          <p:cNvSpPr txBox="1"/>
          <p:nvPr/>
        </p:nvSpPr>
        <p:spPr>
          <a:xfrm>
            <a:off x="777240" y="2999232"/>
            <a:ext cx="2194560" cy="274320"/>
          </a:xfrm>
          <a:prstGeom prst="rect">
            <a:avLst/>
          </a:prstGeom>
          <a:noFill/>
          <a:ln/>
        </p:spPr>
        <p:txBody>
          <a:bodyPr wrap="square" lIns="0" tIns="0" rIns="0" bIns="0" rtlCol="0" anchor="t"/>
          <a:lstStyle/>
          <a:p>
            <a:pPr indent="0" marL="0">
              <a:buNone/>
            </a:pPr>
            <a:r>
              <a:rPr lang="en-US" sz="1400" b="1" dirty="0">
                <a:solidFill>
                  <a:srgbClr val="FFFFFF"/>
                </a:solidFill>
              </a:rPr>
              <a:t>Mosquitto 2.1</a:t>
            </a:r>
            <a:endParaRPr lang="en-US" sz="1400" dirty="0"/>
          </a:p>
        </p:txBody>
      </p:sp>
      <p:sp>
        <p:nvSpPr>
          <p:cNvPr id="13" name="Text 10"/>
          <p:cNvSpPr txBox="1"/>
          <p:nvPr/>
        </p:nvSpPr>
        <p:spPr>
          <a:xfrm>
            <a:off x="777240" y="3291840"/>
            <a:ext cx="2194560" cy="502920"/>
          </a:xfrm>
          <a:prstGeom prst="rect">
            <a:avLst/>
          </a:prstGeom>
          <a:noFill/>
          <a:ln/>
        </p:spPr>
        <p:txBody>
          <a:bodyPr wrap="square" lIns="0" tIns="0" rIns="0" bIns="0" rtlCol="0" anchor="t"/>
          <a:lstStyle/>
          <a:p>
            <a:pPr indent="0" marL="0">
              <a:buNone/>
            </a:pPr>
            <a:r>
              <a:rPr lang="en-US" sz="1400" dirty="0">
                <a:solidFill>
                  <a:srgbClr val="FFFFFF"/>
                </a:solidFill>
              </a:rPr>
              <a:t>TLS 8883, publié en 18883</a:t>
            </a:r>
            <a:endParaRPr lang="en-US" sz="1400" dirty="0"/>
          </a:p>
        </p:txBody>
      </p:sp>
      <p:sp>
        <p:nvSpPr>
          <p:cNvPr id="14" name="Service history-db"/>
          <p:cNvSpPr/>
          <p:nvPr/>
        </p:nvSpPr>
        <p:spPr>
          <a:xfrm>
            <a:off x="3364992" y="1783080"/>
            <a:ext cx="2606040" cy="2103120"/>
          </a:xfrm>
          <a:prstGeom prst="roundRect">
            <a:avLst>
              <a:gd name="adj" fmla="val 6522"/>
            </a:avLst>
          </a:prstGeom>
          <a:solidFill>
            <a:srgbClr val="FFB400"/>
          </a:solidFill>
          <a:ln/>
          <a:effectLst>
            <a:outerShdw sx="100000" sy="100000" kx="0" ky="0" algn="bl" rotWithShape="0" blurRad="127000" dist="38100" dir="5400000">
              <a:srgbClr val="000000">
                <a:alpha val="20000"/>
              </a:srgbClr>
            </a:outerShdw>
          </a:effectLst>
        </p:spPr>
      </p:sp>
      <p:sp>
        <p:nvSpPr>
          <p:cNvPr id="15" name="Pastille FaDatabase"/>
          <p:cNvSpPr/>
          <p:nvPr/>
        </p:nvSpPr>
        <p:spPr>
          <a:xfrm>
            <a:off x="3593592" y="1965960"/>
            <a:ext cx="548640" cy="548640"/>
          </a:xfrm>
          <a:prstGeom prst="ellipse">
            <a:avLst/>
          </a:prstGeom>
          <a:solidFill>
            <a:srgbClr val="FFFFFF"/>
          </a:solidFill>
          <a:ln/>
        </p:spPr>
      </p:sp>
      <p:pic>
        <p:nvPicPr>
          <p:cNvPr id="16" name="Image 1" descr="FaDatabase">    </p:cNvPr>
          <p:cNvPicPr>
            <a:picLocks noChangeAspect="1"/>
          </p:cNvPicPr>
          <p:nvPr/>
        </p:nvPicPr>
        <p:blipFill>
          <a:blip r:embed="rId2"/>
          <a:stretch>
            <a:fillRect/>
          </a:stretch>
        </p:blipFill>
        <p:spPr>
          <a:xfrm>
            <a:off x="3730752" y="2103120"/>
            <a:ext cx="274320" cy="274320"/>
          </a:xfrm>
          <a:prstGeom prst="rect">
            <a:avLst/>
          </a:prstGeom>
        </p:spPr>
      </p:pic>
      <p:sp>
        <p:nvSpPr>
          <p:cNvPr id="17" name="Text 13"/>
          <p:cNvSpPr txBox="1"/>
          <p:nvPr/>
        </p:nvSpPr>
        <p:spPr>
          <a:xfrm>
            <a:off x="3593592" y="2651760"/>
            <a:ext cx="2194560" cy="320040"/>
          </a:xfrm>
          <a:prstGeom prst="rect">
            <a:avLst/>
          </a:prstGeom>
          <a:noFill/>
          <a:ln/>
        </p:spPr>
        <p:txBody>
          <a:bodyPr wrap="square" lIns="0" tIns="0" rIns="0" bIns="0" rtlCol="0" anchor="t"/>
          <a:lstStyle/>
          <a:p>
            <a:pPr indent="0" marL="0">
              <a:buNone/>
            </a:pPr>
            <a:r>
              <a:rPr lang="en-US" sz="1700" b="1" dirty="0">
                <a:solidFill>
                  <a:srgbClr val="120B2E"/>
                </a:solidFill>
              </a:rPr>
              <a:t>history-db</a:t>
            </a:r>
            <a:endParaRPr lang="en-US" sz="1700" dirty="0"/>
          </a:p>
        </p:txBody>
      </p:sp>
      <p:sp>
        <p:nvSpPr>
          <p:cNvPr id="18" name="Text 14"/>
          <p:cNvSpPr txBox="1"/>
          <p:nvPr/>
        </p:nvSpPr>
        <p:spPr>
          <a:xfrm>
            <a:off x="3593592" y="2999232"/>
            <a:ext cx="2194560" cy="274320"/>
          </a:xfrm>
          <a:prstGeom prst="rect">
            <a:avLst/>
          </a:prstGeom>
          <a:noFill/>
          <a:ln/>
        </p:spPr>
        <p:txBody>
          <a:bodyPr wrap="square" lIns="0" tIns="0" rIns="0" bIns="0" rtlCol="0" anchor="t"/>
          <a:lstStyle/>
          <a:p>
            <a:pPr indent="0" marL="0">
              <a:buNone/>
            </a:pPr>
            <a:r>
              <a:rPr lang="en-US" sz="1400" b="1" dirty="0">
                <a:solidFill>
                  <a:srgbClr val="120B2E"/>
                </a:solidFill>
              </a:rPr>
              <a:t>CouchDB 3.5</a:t>
            </a:r>
            <a:endParaRPr lang="en-US" sz="1400" dirty="0"/>
          </a:p>
        </p:txBody>
      </p:sp>
      <p:sp>
        <p:nvSpPr>
          <p:cNvPr id="19" name="Text 15"/>
          <p:cNvSpPr txBox="1"/>
          <p:nvPr/>
        </p:nvSpPr>
        <p:spPr>
          <a:xfrm>
            <a:off x="3593592" y="3291840"/>
            <a:ext cx="2194560" cy="502920"/>
          </a:xfrm>
          <a:prstGeom prst="rect">
            <a:avLst/>
          </a:prstGeom>
          <a:noFill/>
          <a:ln/>
        </p:spPr>
        <p:txBody>
          <a:bodyPr wrap="square" lIns="0" tIns="0" rIns="0" bIns="0" rtlCol="0" anchor="t"/>
          <a:lstStyle/>
          <a:p>
            <a:pPr indent="0" marL="0">
              <a:buNone/>
            </a:pPr>
            <a:r>
              <a:rPr lang="en-US" sz="1400" dirty="0">
                <a:solidFill>
                  <a:srgbClr val="120B2E"/>
                </a:solidFill>
              </a:rPr>
              <a:t>telemetry et events</a:t>
            </a:r>
            <a:endParaRPr lang="en-US" sz="1400" dirty="0"/>
          </a:p>
        </p:txBody>
      </p:sp>
      <p:sp>
        <p:nvSpPr>
          <p:cNvPr id="20" name="Service history-db-init"/>
          <p:cNvSpPr/>
          <p:nvPr/>
        </p:nvSpPr>
        <p:spPr>
          <a:xfrm>
            <a:off x="6181344" y="1783080"/>
            <a:ext cx="2606040" cy="2103120"/>
          </a:xfrm>
          <a:prstGeom prst="roundRect">
            <a:avLst>
              <a:gd name="adj" fmla="val 6522"/>
            </a:avLst>
          </a:prstGeom>
          <a:solidFill>
            <a:srgbClr val="FFB400"/>
          </a:solidFill>
          <a:ln/>
          <a:effectLst>
            <a:outerShdw sx="100000" sy="100000" kx="0" ky="0" algn="bl" rotWithShape="0" blurRad="127000" dist="38100" dir="5400000">
              <a:srgbClr val="000000">
                <a:alpha val="20000"/>
              </a:srgbClr>
            </a:outerShdw>
          </a:effectLst>
        </p:spPr>
      </p:sp>
      <p:sp>
        <p:nvSpPr>
          <p:cNvPr id="21" name="Pastille FaCogs"/>
          <p:cNvSpPr/>
          <p:nvPr/>
        </p:nvSpPr>
        <p:spPr>
          <a:xfrm>
            <a:off x="6409944" y="1965960"/>
            <a:ext cx="548640" cy="548640"/>
          </a:xfrm>
          <a:prstGeom prst="ellipse">
            <a:avLst/>
          </a:prstGeom>
          <a:solidFill>
            <a:srgbClr val="FFFFFF"/>
          </a:solidFill>
          <a:ln/>
        </p:spPr>
      </p:sp>
      <p:pic>
        <p:nvPicPr>
          <p:cNvPr id="22" name="Image 2" descr="FaCogs">    </p:cNvPr>
          <p:cNvPicPr>
            <a:picLocks noChangeAspect="1"/>
          </p:cNvPicPr>
          <p:nvPr/>
        </p:nvPicPr>
        <p:blipFill>
          <a:blip r:embed="rId3"/>
          <a:stretch>
            <a:fillRect/>
          </a:stretch>
        </p:blipFill>
        <p:spPr>
          <a:xfrm>
            <a:off x="6547104" y="2103120"/>
            <a:ext cx="274320" cy="274320"/>
          </a:xfrm>
          <a:prstGeom prst="rect">
            <a:avLst/>
          </a:prstGeom>
        </p:spPr>
      </p:pic>
      <p:sp>
        <p:nvSpPr>
          <p:cNvPr id="23" name="Text 18"/>
          <p:cNvSpPr txBox="1"/>
          <p:nvPr/>
        </p:nvSpPr>
        <p:spPr>
          <a:xfrm>
            <a:off x="6409944" y="2651760"/>
            <a:ext cx="2194560" cy="320040"/>
          </a:xfrm>
          <a:prstGeom prst="rect">
            <a:avLst/>
          </a:prstGeom>
          <a:noFill/>
          <a:ln/>
        </p:spPr>
        <p:txBody>
          <a:bodyPr wrap="square" lIns="0" tIns="0" rIns="0" bIns="0" rtlCol="0" anchor="t"/>
          <a:lstStyle/>
          <a:p>
            <a:pPr indent="0" marL="0">
              <a:buNone/>
            </a:pPr>
            <a:r>
              <a:rPr lang="en-US" sz="1700" b="1" dirty="0">
                <a:solidFill>
                  <a:srgbClr val="120B2E"/>
                </a:solidFill>
              </a:rPr>
              <a:t>history-db-init</a:t>
            </a:r>
            <a:endParaRPr lang="en-US" sz="1700" dirty="0"/>
          </a:p>
        </p:txBody>
      </p:sp>
      <p:sp>
        <p:nvSpPr>
          <p:cNvPr id="24" name="Text 19"/>
          <p:cNvSpPr txBox="1"/>
          <p:nvPr/>
        </p:nvSpPr>
        <p:spPr>
          <a:xfrm>
            <a:off x="6409944" y="2999232"/>
            <a:ext cx="2194560" cy="274320"/>
          </a:xfrm>
          <a:prstGeom prst="rect">
            <a:avLst/>
          </a:prstGeom>
          <a:noFill/>
          <a:ln/>
        </p:spPr>
        <p:txBody>
          <a:bodyPr wrap="square" lIns="0" tIns="0" rIns="0" bIns="0" rtlCol="0" anchor="t"/>
          <a:lstStyle/>
          <a:p>
            <a:pPr indent="0" marL="0">
              <a:buNone/>
            </a:pPr>
            <a:r>
              <a:rPr lang="en-US" sz="1400" b="1" dirty="0">
                <a:solidFill>
                  <a:srgbClr val="120B2E"/>
                </a:solidFill>
              </a:rPr>
              <a:t>Job au démarrage</a:t>
            </a:r>
            <a:endParaRPr lang="en-US" sz="1400" dirty="0"/>
          </a:p>
        </p:txBody>
      </p:sp>
      <p:sp>
        <p:nvSpPr>
          <p:cNvPr id="25" name="Text 20"/>
          <p:cNvSpPr txBox="1"/>
          <p:nvPr/>
        </p:nvSpPr>
        <p:spPr>
          <a:xfrm>
            <a:off x="6409944" y="3291840"/>
            <a:ext cx="2194560" cy="502920"/>
          </a:xfrm>
          <a:prstGeom prst="rect">
            <a:avLst/>
          </a:prstGeom>
          <a:noFill/>
          <a:ln/>
        </p:spPr>
        <p:txBody>
          <a:bodyPr wrap="square" lIns="0" tIns="0" rIns="0" bIns="0" rtlCol="0" anchor="t"/>
          <a:lstStyle/>
          <a:p>
            <a:pPr indent="0" marL="0">
              <a:buNone/>
            </a:pPr>
            <a:r>
              <a:rPr lang="en-US" sz="1400" dirty="0">
                <a:solidFill>
                  <a:srgbClr val="120B2E"/>
                </a:solidFill>
              </a:rPr>
              <a:t>bases, comptes, droits, vues</a:t>
            </a:r>
            <a:endParaRPr lang="en-US" sz="1400" dirty="0"/>
          </a:p>
        </p:txBody>
      </p:sp>
      <p:sp>
        <p:nvSpPr>
          <p:cNvPr id="26" name="Service backend"/>
          <p:cNvSpPr/>
          <p:nvPr/>
        </p:nvSpPr>
        <p:spPr>
          <a:xfrm>
            <a:off x="8997696" y="1783080"/>
            <a:ext cx="2606040" cy="2103120"/>
          </a:xfrm>
          <a:prstGeom prst="roundRect">
            <a:avLst>
              <a:gd name="adj" fmla="val 6522"/>
            </a:avLst>
          </a:prstGeom>
          <a:solidFill>
            <a:srgbClr val="3D8BFF"/>
          </a:solidFill>
          <a:ln/>
          <a:effectLst>
            <a:outerShdw sx="100000" sy="100000" kx="0" ky="0" algn="bl" rotWithShape="0" blurRad="127000" dist="38100" dir="5400000">
              <a:srgbClr val="000000">
                <a:alpha val="20000"/>
              </a:srgbClr>
            </a:outerShdw>
          </a:effectLst>
        </p:spPr>
      </p:sp>
      <p:sp>
        <p:nvSpPr>
          <p:cNvPr id="27" name="Pastille FaServer"/>
          <p:cNvSpPr/>
          <p:nvPr/>
        </p:nvSpPr>
        <p:spPr>
          <a:xfrm>
            <a:off x="9226296" y="1965960"/>
            <a:ext cx="548640" cy="548640"/>
          </a:xfrm>
          <a:prstGeom prst="ellipse">
            <a:avLst/>
          </a:prstGeom>
          <a:solidFill>
            <a:srgbClr val="FFFFFF"/>
          </a:solidFill>
          <a:ln/>
        </p:spPr>
      </p:sp>
      <p:pic>
        <p:nvPicPr>
          <p:cNvPr id="28" name="Image 3" descr="FaServer">    </p:cNvPr>
          <p:cNvPicPr>
            <a:picLocks noChangeAspect="1"/>
          </p:cNvPicPr>
          <p:nvPr/>
        </p:nvPicPr>
        <p:blipFill>
          <a:blip r:embed="rId4"/>
          <a:stretch>
            <a:fillRect/>
          </a:stretch>
        </p:blipFill>
        <p:spPr>
          <a:xfrm>
            <a:off x="9363456" y="2103120"/>
            <a:ext cx="274320" cy="274320"/>
          </a:xfrm>
          <a:prstGeom prst="rect">
            <a:avLst/>
          </a:prstGeom>
        </p:spPr>
      </p:pic>
      <p:sp>
        <p:nvSpPr>
          <p:cNvPr id="29" name="Text 23"/>
          <p:cNvSpPr txBox="1"/>
          <p:nvPr/>
        </p:nvSpPr>
        <p:spPr>
          <a:xfrm>
            <a:off x="9226296" y="2651760"/>
            <a:ext cx="2194560" cy="320040"/>
          </a:xfrm>
          <a:prstGeom prst="rect">
            <a:avLst/>
          </a:prstGeom>
          <a:noFill/>
          <a:ln/>
        </p:spPr>
        <p:txBody>
          <a:bodyPr wrap="square" lIns="0" tIns="0" rIns="0" bIns="0" rtlCol="0" anchor="t"/>
          <a:lstStyle/>
          <a:p>
            <a:pPr indent="0" marL="0">
              <a:buNone/>
            </a:pPr>
            <a:r>
              <a:rPr lang="en-US" sz="1700" b="1" dirty="0">
                <a:solidFill>
                  <a:srgbClr val="120B2E"/>
                </a:solidFill>
              </a:rPr>
              <a:t>backend</a:t>
            </a:r>
            <a:endParaRPr lang="en-US" sz="1700" dirty="0"/>
          </a:p>
        </p:txBody>
      </p:sp>
      <p:sp>
        <p:nvSpPr>
          <p:cNvPr id="30" name="Text 24"/>
          <p:cNvSpPr txBox="1"/>
          <p:nvPr/>
        </p:nvSpPr>
        <p:spPr>
          <a:xfrm>
            <a:off x="9226296" y="2999232"/>
            <a:ext cx="2194560" cy="274320"/>
          </a:xfrm>
          <a:prstGeom prst="rect">
            <a:avLst/>
          </a:prstGeom>
          <a:noFill/>
          <a:ln/>
        </p:spPr>
        <p:txBody>
          <a:bodyPr wrap="square" lIns="0" tIns="0" rIns="0" bIns="0" rtlCol="0" anchor="t"/>
          <a:lstStyle/>
          <a:p>
            <a:pPr indent="0" marL="0">
              <a:buNone/>
            </a:pPr>
            <a:r>
              <a:rPr lang="en-US" sz="1400" b="1" dirty="0">
                <a:solidFill>
                  <a:srgbClr val="120B2E"/>
                </a:solidFill>
              </a:rPr>
              <a:t>Go 1.26, binaire statique</a:t>
            </a:r>
            <a:endParaRPr lang="en-US" sz="1400" dirty="0"/>
          </a:p>
        </p:txBody>
      </p:sp>
      <p:sp>
        <p:nvSpPr>
          <p:cNvPr id="31" name="Text 25"/>
          <p:cNvSpPr txBox="1"/>
          <p:nvPr/>
        </p:nvSpPr>
        <p:spPr>
          <a:xfrm>
            <a:off x="9226296" y="3291840"/>
            <a:ext cx="2194560" cy="502920"/>
          </a:xfrm>
          <a:prstGeom prst="rect">
            <a:avLst/>
          </a:prstGeom>
          <a:noFill/>
          <a:ln/>
        </p:spPr>
        <p:txBody>
          <a:bodyPr wrap="square" lIns="0" tIns="0" rIns="0" bIns="0" rtlCol="0" anchor="t"/>
          <a:lstStyle/>
          <a:p>
            <a:pPr indent="0" marL="0">
              <a:buNone/>
            </a:pPr>
            <a:r>
              <a:rPr lang="en-US" sz="1400" dirty="0">
                <a:solidFill>
                  <a:srgbClr val="120B2E"/>
                </a:solidFill>
              </a:rPr>
              <a:t>ingestion, API REST, WebSocket</a:t>
            </a:r>
            <a:endParaRPr lang="en-US" sz="1400" dirty="0"/>
          </a:p>
        </p:txBody>
      </p:sp>
      <p:sp>
        <p:nvSpPr>
          <p:cNvPr id="32" name="Service dashboard"/>
          <p:cNvSpPr/>
          <p:nvPr/>
        </p:nvSpPr>
        <p:spPr>
          <a:xfrm>
            <a:off x="548640" y="4069080"/>
            <a:ext cx="2606040" cy="2103120"/>
          </a:xfrm>
          <a:prstGeom prst="roundRect">
            <a:avLst>
              <a:gd name="adj" fmla="val 6522"/>
            </a:avLst>
          </a:prstGeom>
          <a:solidFill>
            <a:srgbClr val="3D8BFF"/>
          </a:solidFill>
          <a:ln/>
          <a:effectLst>
            <a:outerShdw sx="100000" sy="100000" kx="0" ky="0" algn="bl" rotWithShape="0" blurRad="127000" dist="38100" dir="5400000">
              <a:srgbClr val="000000">
                <a:alpha val="20000"/>
              </a:srgbClr>
            </a:outerShdw>
          </a:effectLst>
        </p:spPr>
      </p:sp>
      <p:sp>
        <p:nvSpPr>
          <p:cNvPr id="33" name="Pastille FaCode"/>
          <p:cNvSpPr/>
          <p:nvPr/>
        </p:nvSpPr>
        <p:spPr>
          <a:xfrm>
            <a:off x="777240" y="4251960"/>
            <a:ext cx="548640" cy="548640"/>
          </a:xfrm>
          <a:prstGeom prst="ellipse">
            <a:avLst/>
          </a:prstGeom>
          <a:solidFill>
            <a:srgbClr val="FFFFFF"/>
          </a:solidFill>
          <a:ln/>
        </p:spPr>
      </p:sp>
      <p:pic>
        <p:nvPicPr>
          <p:cNvPr id="34" name="Image 4" descr="FaCode">    </p:cNvPr>
          <p:cNvPicPr>
            <a:picLocks noChangeAspect="1"/>
          </p:cNvPicPr>
          <p:nvPr/>
        </p:nvPicPr>
        <p:blipFill>
          <a:blip r:embed="rId5"/>
          <a:stretch>
            <a:fillRect/>
          </a:stretch>
        </p:blipFill>
        <p:spPr>
          <a:xfrm>
            <a:off x="914400" y="4389120"/>
            <a:ext cx="274320" cy="274320"/>
          </a:xfrm>
          <a:prstGeom prst="rect">
            <a:avLst/>
          </a:prstGeom>
        </p:spPr>
      </p:pic>
      <p:sp>
        <p:nvSpPr>
          <p:cNvPr id="35" name="Text 28"/>
          <p:cNvSpPr txBox="1"/>
          <p:nvPr/>
        </p:nvSpPr>
        <p:spPr>
          <a:xfrm>
            <a:off x="777240" y="4937760"/>
            <a:ext cx="2194560" cy="320040"/>
          </a:xfrm>
          <a:prstGeom prst="rect">
            <a:avLst/>
          </a:prstGeom>
          <a:noFill/>
          <a:ln/>
        </p:spPr>
        <p:txBody>
          <a:bodyPr wrap="square" lIns="0" tIns="0" rIns="0" bIns="0" rtlCol="0" anchor="t"/>
          <a:lstStyle/>
          <a:p>
            <a:pPr indent="0" marL="0">
              <a:buNone/>
            </a:pPr>
            <a:r>
              <a:rPr lang="en-US" sz="1700" b="1" dirty="0">
                <a:solidFill>
                  <a:srgbClr val="120B2E"/>
                </a:solidFill>
              </a:rPr>
              <a:t>dashboard</a:t>
            </a:r>
            <a:endParaRPr lang="en-US" sz="1700" dirty="0"/>
          </a:p>
        </p:txBody>
      </p:sp>
      <p:sp>
        <p:nvSpPr>
          <p:cNvPr id="36" name="Text 29"/>
          <p:cNvSpPr txBox="1"/>
          <p:nvPr/>
        </p:nvSpPr>
        <p:spPr>
          <a:xfrm>
            <a:off x="777240" y="5285232"/>
            <a:ext cx="2194560" cy="274320"/>
          </a:xfrm>
          <a:prstGeom prst="rect">
            <a:avLst/>
          </a:prstGeom>
          <a:noFill/>
          <a:ln/>
        </p:spPr>
        <p:txBody>
          <a:bodyPr wrap="square" lIns="0" tIns="0" rIns="0" bIns="0" rtlCol="0" anchor="t"/>
          <a:lstStyle/>
          <a:p>
            <a:pPr indent="0" marL="0">
              <a:buNone/>
            </a:pPr>
            <a:r>
              <a:rPr lang="en-US" sz="1400" b="1" dirty="0">
                <a:solidFill>
                  <a:srgbClr val="120B2E"/>
                </a:solidFill>
              </a:rPr>
              <a:t>React 19 + nginx</a:t>
            </a:r>
            <a:endParaRPr lang="en-US" sz="1400" dirty="0"/>
          </a:p>
        </p:txBody>
      </p:sp>
      <p:sp>
        <p:nvSpPr>
          <p:cNvPr id="37" name="Text 30"/>
          <p:cNvSpPr txBox="1"/>
          <p:nvPr/>
        </p:nvSpPr>
        <p:spPr>
          <a:xfrm>
            <a:off x="777240" y="5577840"/>
            <a:ext cx="2194560" cy="502920"/>
          </a:xfrm>
          <a:prstGeom prst="rect">
            <a:avLst/>
          </a:prstGeom>
          <a:noFill/>
          <a:ln/>
        </p:spPr>
        <p:txBody>
          <a:bodyPr wrap="square" lIns="0" tIns="0" rIns="0" bIns="0" rtlCol="0" anchor="t"/>
          <a:lstStyle/>
          <a:p>
            <a:pPr indent="0" marL="0">
              <a:buNone/>
            </a:pPr>
            <a:r>
              <a:rPr lang="en-US" sz="1400" dirty="0">
                <a:solidFill>
                  <a:srgbClr val="120B2E"/>
                </a:solidFill>
              </a:rPr>
              <a:t>127.0.0.1:10443</a:t>
            </a:r>
            <a:endParaRPr lang="en-US" sz="1400" dirty="0"/>
          </a:p>
        </p:txBody>
      </p:sp>
      <p:sp>
        <p:nvSpPr>
          <p:cNvPr id="38" name="Service ia-prediction"/>
          <p:cNvSpPr/>
          <p:nvPr/>
        </p:nvSpPr>
        <p:spPr>
          <a:xfrm>
            <a:off x="3364992" y="4069080"/>
            <a:ext cx="2606040" cy="2103120"/>
          </a:xfrm>
          <a:prstGeom prst="roundRect">
            <a:avLst>
              <a:gd name="adj" fmla="val 6522"/>
            </a:avLst>
          </a:prstGeom>
          <a:solidFill>
            <a:srgbClr val="FF4F81"/>
          </a:solidFill>
          <a:ln/>
          <a:effectLst>
            <a:outerShdw sx="100000" sy="100000" kx="0" ky="0" algn="bl" rotWithShape="0" blurRad="127000" dist="38100" dir="5400000">
              <a:srgbClr val="000000">
                <a:alpha val="20000"/>
              </a:srgbClr>
            </a:outerShdw>
          </a:effectLst>
        </p:spPr>
      </p:sp>
      <p:sp>
        <p:nvSpPr>
          <p:cNvPr id="39" name="Pastille FaBrain"/>
          <p:cNvSpPr/>
          <p:nvPr/>
        </p:nvSpPr>
        <p:spPr>
          <a:xfrm>
            <a:off x="3593592" y="4251960"/>
            <a:ext cx="548640" cy="548640"/>
          </a:xfrm>
          <a:prstGeom prst="ellipse">
            <a:avLst/>
          </a:prstGeom>
          <a:solidFill>
            <a:srgbClr val="FFFFFF"/>
          </a:solidFill>
          <a:ln/>
        </p:spPr>
      </p:sp>
      <p:pic>
        <p:nvPicPr>
          <p:cNvPr id="40" name="Image 5" descr="FaBrain">    </p:cNvPr>
          <p:cNvPicPr>
            <a:picLocks noChangeAspect="1"/>
          </p:cNvPicPr>
          <p:nvPr/>
        </p:nvPicPr>
        <p:blipFill>
          <a:blip r:embed="rId6"/>
          <a:stretch>
            <a:fillRect/>
          </a:stretch>
        </p:blipFill>
        <p:spPr>
          <a:xfrm>
            <a:off x="3730752" y="4389120"/>
            <a:ext cx="274320" cy="274320"/>
          </a:xfrm>
          <a:prstGeom prst="rect">
            <a:avLst/>
          </a:prstGeom>
        </p:spPr>
      </p:pic>
      <p:sp>
        <p:nvSpPr>
          <p:cNvPr id="41" name="Text 33"/>
          <p:cNvSpPr txBox="1"/>
          <p:nvPr/>
        </p:nvSpPr>
        <p:spPr>
          <a:xfrm>
            <a:off x="3593592" y="4937760"/>
            <a:ext cx="2194560" cy="320040"/>
          </a:xfrm>
          <a:prstGeom prst="rect">
            <a:avLst/>
          </a:prstGeom>
          <a:noFill/>
          <a:ln/>
        </p:spPr>
        <p:txBody>
          <a:bodyPr wrap="square" lIns="0" tIns="0" rIns="0" bIns="0" rtlCol="0" anchor="t"/>
          <a:lstStyle/>
          <a:p>
            <a:pPr indent="0" marL="0">
              <a:buNone/>
            </a:pPr>
            <a:r>
              <a:rPr lang="en-US" sz="1700" b="1" dirty="0">
                <a:solidFill>
                  <a:srgbClr val="120B2E"/>
                </a:solidFill>
              </a:rPr>
              <a:t>ia-prediction</a:t>
            </a:r>
            <a:endParaRPr lang="en-US" sz="1700" dirty="0"/>
          </a:p>
        </p:txBody>
      </p:sp>
      <p:sp>
        <p:nvSpPr>
          <p:cNvPr id="42" name="Text 34"/>
          <p:cNvSpPr txBox="1"/>
          <p:nvPr/>
        </p:nvSpPr>
        <p:spPr>
          <a:xfrm>
            <a:off x="3593592" y="5285232"/>
            <a:ext cx="2194560" cy="274320"/>
          </a:xfrm>
          <a:prstGeom prst="rect">
            <a:avLst/>
          </a:prstGeom>
          <a:noFill/>
          <a:ln/>
        </p:spPr>
        <p:txBody>
          <a:bodyPr wrap="square" lIns="0" tIns="0" rIns="0" bIns="0" rtlCol="0" anchor="t"/>
          <a:lstStyle/>
          <a:p>
            <a:pPr indent="0" marL="0">
              <a:buNone/>
            </a:pPr>
            <a:r>
              <a:rPr lang="en-US" sz="1400" b="1" dirty="0">
                <a:solidFill>
                  <a:srgbClr val="120B2E"/>
                </a:solidFill>
              </a:rPr>
              <a:t>Isolation Forest</a:t>
            </a:r>
            <a:endParaRPr lang="en-US" sz="1400" dirty="0"/>
          </a:p>
        </p:txBody>
      </p:sp>
      <p:sp>
        <p:nvSpPr>
          <p:cNvPr id="43" name="Text 35"/>
          <p:cNvSpPr txBox="1"/>
          <p:nvPr/>
        </p:nvSpPr>
        <p:spPr>
          <a:xfrm>
            <a:off x="3593592" y="5577840"/>
            <a:ext cx="2194560" cy="502920"/>
          </a:xfrm>
          <a:prstGeom prst="rect">
            <a:avLst/>
          </a:prstGeom>
          <a:noFill/>
          <a:ln/>
        </p:spPr>
        <p:txBody>
          <a:bodyPr wrap="square" lIns="0" tIns="0" rIns="0" bIns="0" rtlCol="0" anchor="t"/>
          <a:lstStyle/>
          <a:p>
            <a:pPr indent="0" marL="0">
              <a:buNone/>
            </a:pPr>
            <a:r>
              <a:rPr lang="en-US" sz="1400" dirty="0">
                <a:solidFill>
                  <a:srgbClr val="120B2E"/>
                </a:solidFill>
              </a:rPr>
              <a:t>scikit-learn, temps réel</a:t>
            </a:r>
            <a:endParaRPr lang="en-US" sz="1400" dirty="0"/>
          </a:p>
        </p:txBody>
      </p:sp>
      <p:sp>
        <p:nvSpPr>
          <p:cNvPr id="44" name="Service ia-vision"/>
          <p:cNvSpPr/>
          <p:nvPr/>
        </p:nvSpPr>
        <p:spPr>
          <a:xfrm>
            <a:off x="6181344" y="4069080"/>
            <a:ext cx="2606040" cy="2103120"/>
          </a:xfrm>
          <a:prstGeom prst="roundRect">
            <a:avLst>
              <a:gd name="adj" fmla="val 6522"/>
            </a:avLst>
          </a:prstGeom>
          <a:solidFill>
            <a:srgbClr val="FF4F81"/>
          </a:solidFill>
          <a:ln/>
          <a:effectLst>
            <a:outerShdw sx="100000" sy="100000" kx="0" ky="0" algn="bl" rotWithShape="0" blurRad="127000" dist="38100" dir="5400000">
              <a:srgbClr val="000000">
                <a:alpha val="20000"/>
              </a:srgbClr>
            </a:outerShdw>
          </a:effectLst>
        </p:spPr>
      </p:sp>
      <p:sp>
        <p:nvSpPr>
          <p:cNvPr id="45" name="Pastille FaVideo"/>
          <p:cNvSpPr/>
          <p:nvPr/>
        </p:nvSpPr>
        <p:spPr>
          <a:xfrm>
            <a:off x="6409944" y="4251960"/>
            <a:ext cx="548640" cy="548640"/>
          </a:xfrm>
          <a:prstGeom prst="ellipse">
            <a:avLst/>
          </a:prstGeom>
          <a:solidFill>
            <a:srgbClr val="FFFFFF"/>
          </a:solidFill>
          <a:ln/>
        </p:spPr>
      </p:sp>
      <p:pic>
        <p:nvPicPr>
          <p:cNvPr id="46" name="Image 6" descr="FaVideo">    </p:cNvPr>
          <p:cNvPicPr>
            <a:picLocks noChangeAspect="1"/>
          </p:cNvPicPr>
          <p:nvPr/>
        </p:nvPicPr>
        <p:blipFill>
          <a:blip r:embed="rId7"/>
          <a:stretch>
            <a:fillRect/>
          </a:stretch>
        </p:blipFill>
        <p:spPr>
          <a:xfrm>
            <a:off x="6547104" y="4389120"/>
            <a:ext cx="274320" cy="274320"/>
          </a:xfrm>
          <a:prstGeom prst="rect">
            <a:avLst/>
          </a:prstGeom>
        </p:spPr>
      </p:pic>
      <p:sp>
        <p:nvSpPr>
          <p:cNvPr id="47" name="Text 38"/>
          <p:cNvSpPr txBox="1"/>
          <p:nvPr/>
        </p:nvSpPr>
        <p:spPr>
          <a:xfrm>
            <a:off x="6409944" y="4937760"/>
            <a:ext cx="2194560" cy="320040"/>
          </a:xfrm>
          <a:prstGeom prst="rect">
            <a:avLst/>
          </a:prstGeom>
          <a:noFill/>
          <a:ln/>
        </p:spPr>
        <p:txBody>
          <a:bodyPr wrap="square" lIns="0" tIns="0" rIns="0" bIns="0" rtlCol="0" anchor="t"/>
          <a:lstStyle/>
          <a:p>
            <a:pPr indent="0" marL="0">
              <a:buNone/>
            </a:pPr>
            <a:r>
              <a:rPr lang="en-US" sz="1700" b="1" dirty="0">
                <a:solidFill>
                  <a:srgbClr val="120B2E"/>
                </a:solidFill>
              </a:rPr>
              <a:t>ia-vision</a:t>
            </a:r>
            <a:endParaRPr lang="en-US" sz="1700" dirty="0"/>
          </a:p>
        </p:txBody>
      </p:sp>
      <p:sp>
        <p:nvSpPr>
          <p:cNvPr id="48" name="Text 39"/>
          <p:cNvSpPr txBox="1"/>
          <p:nvPr/>
        </p:nvSpPr>
        <p:spPr>
          <a:xfrm>
            <a:off x="6409944" y="5285232"/>
            <a:ext cx="2194560" cy="274320"/>
          </a:xfrm>
          <a:prstGeom prst="rect">
            <a:avLst/>
          </a:prstGeom>
          <a:noFill/>
          <a:ln/>
        </p:spPr>
        <p:txBody>
          <a:bodyPr wrap="square" lIns="0" tIns="0" rIns="0" bIns="0" rtlCol="0" anchor="t"/>
          <a:lstStyle/>
          <a:p>
            <a:pPr indent="0" marL="0">
              <a:buNone/>
            </a:pPr>
            <a:r>
              <a:rPr lang="en-US" sz="1400" b="1" dirty="0">
                <a:solidFill>
                  <a:srgbClr val="120B2E"/>
                </a:solidFill>
              </a:rPr>
              <a:t>YOLOv8n · PyTorch CPU</a:t>
            </a:r>
            <a:endParaRPr lang="en-US" sz="1400" dirty="0"/>
          </a:p>
        </p:txBody>
      </p:sp>
      <p:sp>
        <p:nvSpPr>
          <p:cNvPr id="49" name="Text 40"/>
          <p:cNvSpPr txBox="1"/>
          <p:nvPr/>
        </p:nvSpPr>
        <p:spPr>
          <a:xfrm>
            <a:off x="6409944" y="5577840"/>
            <a:ext cx="2194560" cy="502920"/>
          </a:xfrm>
          <a:prstGeom prst="rect">
            <a:avLst/>
          </a:prstGeom>
          <a:noFill/>
          <a:ln/>
        </p:spPr>
        <p:txBody>
          <a:bodyPr wrap="square" lIns="0" tIns="0" rIns="0" bIns="0" rtlCol="0" anchor="t"/>
          <a:lstStyle/>
          <a:p>
            <a:pPr indent="0" marL="0">
              <a:buNone/>
            </a:pPr>
            <a:r>
              <a:rPr lang="en-US" sz="1400" dirty="0">
                <a:solidFill>
                  <a:srgbClr val="120B2E"/>
                </a:solidFill>
              </a:rPr>
              <a:t>webcam, flux MJPEG</a:t>
            </a:r>
            <a:endParaRPr lang="en-US" sz="1400" dirty="0"/>
          </a:p>
        </p:txBody>
      </p:sp>
      <p:sp>
        <p:nvSpPr>
          <p:cNvPr id="50" name="Commande de déploiement"/>
          <p:cNvSpPr/>
          <p:nvPr/>
        </p:nvSpPr>
        <p:spPr>
          <a:xfrm>
            <a:off x="8997696" y="4069080"/>
            <a:ext cx="2606040" cy="2103120"/>
          </a:xfrm>
          <a:prstGeom prst="roundRect">
            <a:avLst>
              <a:gd name="adj" fmla="val 6522"/>
            </a:avLst>
          </a:prstGeom>
          <a:solidFill>
            <a:srgbClr val="120B2E"/>
          </a:solidFill>
          <a:ln/>
          <a:effectLst>
            <a:outerShdw sx="100000" sy="100000" kx="0" ky="0" algn="bl" rotWithShape="0" blurRad="127000" dist="38100" dir="5400000">
              <a:srgbClr val="000000">
                <a:alpha val="20000"/>
              </a:srgbClr>
            </a:outerShdw>
          </a:effectLst>
        </p:spPr>
      </p:sp>
      <p:sp>
        <p:nvSpPr>
          <p:cNvPr id="51" name="Text 42"/>
          <p:cNvSpPr txBox="1"/>
          <p:nvPr/>
        </p:nvSpPr>
        <p:spPr>
          <a:xfrm>
            <a:off x="9226296" y="4297680"/>
            <a:ext cx="2194560" cy="640080"/>
          </a:xfrm>
          <a:prstGeom prst="rect">
            <a:avLst/>
          </a:prstGeom>
          <a:noFill/>
          <a:ln/>
        </p:spPr>
        <p:txBody>
          <a:bodyPr wrap="square" lIns="0" tIns="0" rIns="0" bIns="0" rtlCol="0" anchor="t"/>
          <a:lstStyle/>
          <a:p>
            <a:pPr indent="0" marL="0">
              <a:buNone/>
            </a:pPr>
            <a:r>
              <a:rPr lang="en-US" sz="1600" b="1" dirty="0">
                <a:solidFill>
                  <a:srgbClr val="00C9B7"/>
                </a:solidFill>
                <a:latin typeface="Courier New" pitchFamily="34" charset="0"/>
                <a:ea typeface="Courier New" pitchFamily="34" charset="-122"/>
                <a:cs typeface="Courier New" pitchFamily="34" charset="-120"/>
              </a:rPr>
              <a:t>docker compose</a:t>
            </a:r>
            <a:endParaRPr lang="en-US" sz="1600" dirty="0"/>
          </a:p>
          <a:p>
            <a:pPr indent="0" marL="0">
              <a:buNone/>
            </a:pPr>
            <a:r>
              <a:rPr lang="en-US" sz="1600" b="1" dirty="0">
                <a:solidFill>
                  <a:srgbClr val="00C9B7"/>
                </a:solidFill>
                <a:latin typeface="Courier New" pitchFamily="34" charset="0"/>
                <a:ea typeface="Courier New" pitchFamily="34" charset="-122"/>
                <a:cs typeface="Courier New" pitchFamily="34" charset="-120"/>
              </a:rPr>
              <a:t>up -d</a:t>
            </a:r>
            <a:endParaRPr lang="en-US" sz="1600" dirty="0"/>
          </a:p>
        </p:txBody>
      </p:sp>
      <p:sp>
        <p:nvSpPr>
          <p:cNvPr id="52" name="Text 43"/>
          <p:cNvSpPr txBox="1"/>
          <p:nvPr/>
        </p:nvSpPr>
        <p:spPr>
          <a:xfrm>
            <a:off x="9226296" y="4983480"/>
            <a:ext cx="2194560" cy="1097280"/>
          </a:xfrm>
          <a:prstGeom prst="rect">
            <a:avLst/>
          </a:prstGeom>
          <a:noFill/>
          <a:ln/>
        </p:spPr>
        <p:txBody>
          <a:bodyPr wrap="square" lIns="0" tIns="0" rIns="0" bIns="0" rtlCol="0" anchor="t"/>
          <a:lstStyle/>
          <a:p>
            <a:pPr indent="0" marL="0">
              <a:buNone/>
            </a:pPr>
            <a:r>
              <a:rPr lang="en-US" sz="1400" dirty="0">
                <a:solidFill>
                  <a:schemeClr val="bg1"/>
                </a:solidFill>
              </a:rPr>
              <a:t>Build avec Internet, puis 100 % hors ligne. Images épinglées @sha256, services non root.</a:t>
            </a:r>
            <a:endParaRPr lang="en-US" sz="14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578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urtitre"/>
          <p:cNvSpPr/>
          <p:nvPr/>
        </p:nvSpPr>
        <p:spPr>
          <a:xfrm>
            <a:off x="548640" y="384048"/>
            <a:ext cx="1141171" cy="292608"/>
          </a:xfrm>
          <a:prstGeom prst="roundRect">
            <a:avLst>
              <a:gd name="adj" fmla="val 50000"/>
            </a:avLst>
          </a:prstGeom>
          <a:solidFill>
            <a:srgbClr val="7ADB4F"/>
          </a:solidFill>
          <a:ln/>
        </p:spPr>
      </p:sp>
      <p:sp>
        <p:nvSpPr>
          <p:cNvPr id="3" name="Text 1"/>
          <p:cNvSpPr txBox="1"/>
          <p:nvPr/>
        </p:nvSpPr>
        <p:spPr>
          <a:xfrm>
            <a:off x="548640" y="384048"/>
            <a:ext cx="1141171" cy="292608"/>
          </a:xfrm>
          <a:prstGeom prst="rect">
            <a:avLst/>
          </a:prstGeom>
          <a:noFill/>
          <a:ln/>
        </p:spPr>
        <p:txBody>
          <a:bodyPr wrap="square" lIns="0" tIns="0" rIns="0" bIns="0" rtlCol="0" anchor="ctr"/>
          <a:lstStyle/>
          <a:p>
            <a:pPr algn="ctr" indent="0" marL="0">
              <a:buNone/>
            </a:pPr>
            <a:r>
              <a:rPr lang="en-US" sz="1100" b="1" spc="100" kern="0" dirty="0">
                <a:solidFill>
                  <a:srgbClr val="120B2E"/>
                </a:solidFill>
              </a:rPr>
              <a:t>IA · VISION</a:t>
            </a:r>
            <a:endParaRPr lang="en-US" sz="1100" dirty="0"/>
          </a:p>
        </p:txBody>
      </p:sp>
      <p:sp>
        <p:nvSpPr>
          <p:cNvPr id="4" name="Text 0"/>
          <p:cNvSpPr/>
          <p:nvPr>
            <p:ph idx="100" type="title" hasCustomPrompt="1"/>
          </p:nvPr>
        </p:nvSpPr>
        <p:spPr>
          <a:xfrm>
            <a:off x="548640" y="749808"/>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Détecter une intrusion en moins de 100 ms</a:t>
            </a:r>
            <a:endParaRPr lang="en-US" sz="3400" dirty="0"/>
          </a:p>
        </p:txBody>
      </p:sp>
      <p:sp>
        <p:nvSpPr>
          <p:cNvPr id="5" name="Étape 1 · Webcam"/>
          <p:cNvSpPr/>
          <p:nvPr/>
        </p:nvSpPr>
        <p:spPr>
          <a:xfrm>
            <a:off x="548640" y="1783080"/>
            <a:ext cx="2468880" cy="2697480"/>
          </a:xfrm>
          <a:prstGeom prst="roundRect">
            <a:avLst>
              <a:gd name="adj" fmla="val 5556"/>
            </a:avLst>
          </a:prstGeom>
          <a:solidFill>
            <a:srgbClr val="2B1B6B"/>
          </a:solidFill>
          <a:ln/>
          <a:effectLst>
            <a:outerShdw sx="100000" sy="100000" kx="0" ky="0" algn="bl" rotWithShape="0" blurRad="127000" dist="38100" dir="5400000">
              <a:srgbClr val="000000">
                <a:alpha val="20000"/>
              </a:srgbClr>
            </a:outerShdw>
          </a:effectLst>
        </p:spPr>
      </p:sp>
      <p:sp>
        <p:nvSpPr>
          <p:cNvPr id="6" name="Pastille FaCamera"/>
          <p:cNvSpPr/>
          <p:nvPr/>
        </p:nvSpPr>
        <p:spPr>
          <a:xfrm>
            <a:off x="777240" y="2011680"/>
            <a:ext cx="685800" cy="685800"/>
          </a:xfrm>
          <a:prstGeom prst="ellipse">
            <a:avLst/>
          </a:prstGeom>
          <a:solidFill>
            <a:srgbClr val="00C9B7"/>
          </a:solidFill>
          <a:ln/>
        </p:spPr>
      </p:sp>
      <p:pic>
        <p:nvPicPr>
          <p:cNvPr id="7" name="Image 0" descr="FaCamera">    </p:cNvPr>
          <p:cNvPicPr>
            <a:picLocks noChangeAspect="1"/>
          </p:cNvPicPr>
          <p:nvPr/>
        </p:nvPicPr>
        <p:blipFill>
          <a:blip r:embed="rId1"/>
          <a:stretch>
            <a:fillRect/>
          </a:stretch>
        </p:blipFill>
        <p:spPr>
          <a:xfrm>
            <a:off x="948690" y="2183130"/>
            <a:ext cx="342900" cy="342900"/>
          </a:xfrm>
          <a:prstGeom prst="rect">
            <a:avLst/>
          </a:prstGeom>
        </p:spPr>
      </p:pic>
      <p:sp>
        <p:nvSpPr>
          <p:cNvPr id="8" name="Text 5"/>
          <p:cNvSpPr txBox="1"/>
          <p:nvPr/>
        </p:nvSpPr>
        <p:spPr>
          <a:xfrm>
            <a:off x="777240" y="2834640"/>
            <a:ext cx="2103120" cy="365760"/>
          </a:xfrm>
          <a:prstGeom prst="rect">
            <a:avLst/>
          </a:prstGeom>
          <a:noFill/>
          <a:ln/>
        </p:spPr>
        <p:txBody>
          <a:bodyPr wrap="square" lIns="0" tIns="0" rIns="0" bIns="0" rtlCol="0" anchor="t"/>
          <a:lstStyle/>
          <a:p>
            <a:pPr indent="0" marL="0">
              <a:buNone/>
            </a:pPr>
            <a:r>
              <a:rPr lang="en-US" sz="1900" b="1" dirty="0">
                <a:solidFill>
                  <a:schemeClr val="bg1"/>
                </a:solidFill>
              </a:rPr>
              <a:t>1 · Webcam</a:t>
            </a:r>
            <a:endParaRPr lang="en-US" sz="1900" dirty="0"/>
          </a:p>
        </p:txBody>
      </p:sp>
      <p:sp>
        <p:nvSpPr>
          <p:cNvPr id="9" name="Text 6"/>
          <p:cNvSpPr txBox="1"/>
          <p:nvPr/>
        </p:nvSpPr>
        <p:spPr>
          <a:xfrm>
            <a:off x="777240" y="3291840"/>
            <a:ext cx="2057400" cy="1143000"/>
          </a:xfrm>
          <a:prstGeom prst="rect">
            <a:avLst/>
          </a:prstGeom>
          <a:noFill/>
          <a:ln/>
        </p:spPr>
        <p:txBody>
          <a:bodyPr wrap="square" lIns="0" tIns="0" rIns="0" bIns="0" rtlCol="0" anchor="t"/>
          <a:lstStyle/>
          <a:p>
            <a:pPr indent="0" marL="0">
              <a:buNone/>
            </a:pPr>
            <a:r>
              <a:rPr lang="en-US" sz="1400" dirty="0">
                <a:solidFill>
                  <a:srgbClr val="B9B3E6"/>
                </a:solidFill>
              </a:rPr>
              <a:t>Images 640×480, niveaux de gris, flou gaussien.</a:t>
            </a:r>
            <a:endParaRPr lang="en-US" sz="1400" dirty="0"/>
          </a:p>
        </p:txBody>
      </p:sp>
      <p:sp>
        <p:nvSpPr>
          <p:cNvPr id="10" name="Flèche"/>
          <p:cNvSpPr/>
          <p:nvPr/>
        </p:nvSpPr>
        <p:spPr>
          <a:xfrm>
            <a:off x="3035808" y="3108960"/>
            <a:ext cx="356616" cy="0"/>
          </a:xfrm>
          <a:prstGeom prst="line">
            <a:avLst/>
          </a:prstGeom>
          <a:noFill/>
          <a:ln w="31750">
            <a:solidFill>
              <a:srgbClr val="00C9B7"/>
            </a:solidFill>
            <a:prstDash val="solid"/>
            <a:tailEnd type="triangle"/>
          </a:ln>
        </p:spPr>
      </p:sp>
      <p:sp>
        <p:nvSpPr>
          <p:cNvPr id="11" name="Étape 2 · MOG2"/>
          <p:cNvSpPr/>
          <p:nvPr/>
        </p:nvSpPr>
        <p:spPr>
          <a:xfrm>
            <a:off x="3410712" y="1783080"/>
            <a:ext cx="2468880" cy="2697480"/>
          </a:xfrm>
          <a:prstGeom prst="roundRect">
            <a:avLst>
              <a:gd name="adj" fmla="val 5556"/>
            </a:avLst>
          </a:prstGeom>
          <a:solidFill>
            <a:srgbClr val="2B1B6B"/>
          </a:solidFill>
          <a:ln/>
          <a:effectLst>
            <a:outerShdw sx="100000" sy="100000" kx="0" ky="0" algn="bl" rotWithShape="0" blurRad="127000" dist="38100" dir="5400000">
              <a:srgbClr val="000000">
                <a:alpha val="20000"/>
              </a:srgbClr>
            </a:outerShdw>
          </a:effectLst>
        </p:spPr>
      </p:sp>
      <p:sp>
        <p:nvSpPr>
          <p:cNvPr id="12" name="Pastille FaEye"/>
          <p:cNvSpPr/>
          <p:nvPr/>
        </p:nvSpPr>
        <p:spPr>
          <a:xfrm>
            <a:off x="3639312" y="2011680"/>
            <a:ext cx="685800" cy="685800"/>
          </a:xfrm>
          <a:prstGeom prst="ellipse">
            <a:avLst/>
          </a:prstGeom>
          <a:solidFill>
            <a:srgbClr val="3D8BFF"/>
          </a:solidFill>
          <a:ln/>
        </p:spPr>
      </p:sp>
      <p:pic>
        <p:nvPicPr>
          <p:cNvPr id="13" name="Image 1" descr="FaEye">    </p:cNvPr>
          <p:cNvPicPr>
            <a:picLocks noChangeAspect="1"/>
          </p:cNvPicPr>
          <p:nvPr/>
        </p:nvPicPr>
        <p:blipFill>
          <a:blip r:embed="rId2"/>
          <a:stretch>
            <a:fillRect/>
          </a:stretch>
        </p:blipFill>
        <p:spPr>
          <a:xfrm>
            <a:off x="3810762" y="2183130"/>
            <a:ext cx="342900" cy="342900"/>
          </a:xfrm>
          <a:prstGeom prst="rect">
            <a:avLst/>
          </a:prstGeom>
        </p:spPr>
      </p:pic>
      <p:sp>
        <p:nvSpPr>
          <p:cNvPr id="14" name="Text 10"/>
          <p:cNvSpPr txBox="1"/>
          <p:nvPr/>
        </p:nvSpPr>
        <p:spPr>
          <a:xfrm>
            <a:off x="3639312" y="2834640"/>
            <a:ext cx="2103120" cy="365760"/>
          </a:xfrm>
          <a:prstGeom prst="rect">
            <a:avLst/>
          </a:prstGeom>
          <a:noFill/>
          <a:ln/>
        </p:spPr>
        <p:txBody>
          <a:bodyPr wrap="square" lIns="0" tIns="0" rIns="0" bIns="0" rtlCol="0" anchor="t"/>
          <a:lstStyle/>
          <a:p>
            <a:pPr indent="0" marL="0">
              <a:buNone/>
            </a:pPr>
            <a:r>
              <a:rPr lang="en-US" sz="1900" b="1" dirty="0">
                <a:solidFill>
                  <a:schemeClr val="bg1"/>
                </a:solidFill>
              </a:rPr>
              <a:t>2 · MOG2</a:t>
            </a:r>
            <a:endParaRPr lang="en-US" sz="1900" dirty="0"/>
          </a:p>
        </p:txBody>
      </p:sp>
      <p:sp>
        <p:nvSpPr>
          <p:cNvPr id="15" name="Text 11"/>
          <p:cNvSpPr txBox="1"/>
          <p:nvPr/>
        </p:nvSpPr>
        <p:spPr>
          <a:xfrm>
            <a:off x="3639312" y="3291840"/>
            <a:ext cx="2057400" cy="1143000"/>
          </a:xfrm>
          <a:prstGeom prst="rect">
            <a:avLst/>
          </a:prstGeom>
          <a:noFill/>
          <a:ln/>
        </p:spPr>
        <p:txBody>
          <a:bodyPr wrap="square" lIns="0" tIns="0" rIns="0" bIns="0" rtlCol="0" anchor="t"/>
          <a:lstStyle/>
          <a:p>
            <a:pPr indent="0" marL="0">
              <a:buNone/>
            </a:pPr>
            <a:r>
              <a:rPr lang="en-US" sz="1400" dirty="0">
                <a:solidFill>
                  <a:srgbClr val="B9B3E6"/>
                </a:solidFill>
              </a:rPr>
              <a:t>On ne regarde que ce qui bouge. Lumière ignorée au-delà de 40 %.</a:t>
            </a:r>
            <a:endParaRPr lang="en-US" sz="1400" dirty="0"/>
          </a:p>
        </p:txBody>
      </p:sp>
      <p:sp>
        <p:nvSpPr>
          <p:cNvPr id="16" name="Flèche"/>
          <p:cNvSpPr/>
          <p:nvPr/>
        </p:nvSpPr>
        <p:spPr>
          <a:xfrm>
            <a:off x="5897880" y="3108960"/>
            <a:ext cx="356616" cy="0"/>
          </a:xfrm>
          <a:prstGeom prst="line">
            <a:avLst/>
          </a:prstGeom>
          <a:noFill/>
          <a:ln w="31750">
            <a:solidFill>
              <a:srgbClr val="3D8BFF"/>
            </a:solidFill>
            <a:prstDash val="solid"/>
            <a:tailEnd type="triangle"/>
          </a:ln>
        </p:spPr>
      </p:sp>
      <p:sp>
        <p:nvSpPr>
          <p:cNvPr id="17" name="Étape 3 · YOLOv8n"/>
          <p:cNvSpPr/>
          <p:nvPr/>
        </p:nvSpPr>
        <p:spPr>
          <a:xfrm>
            <a:off x="6272784" y="1783080"/>
            <a:ext cx="2468880" cy="2697480"/>
          </a:xfrm>
          <a:prstGeom prst="roundRect">
            <a:avLst>
              <a:gd name="adj" fmla="val 5556"/>
            </a:avLst>
          </a:prstGeom>
          <a:solidFill>
            <a:srgbClr val="2B1B6B"/>
          </a:solidFill>
          <a:ln/>
          <a:effectLst>
            <a:outerShdw sx="100000" sy="100000" kx="0" ky="0" algn="bl" rotWithShape="0" blurRad="127000" dist="38100" dir="5400000">
              <a:srgbClr val="000000">
                <a:alpha val="20000"/>
              </a:srgbClr>
            </a:outerShdw>
          </a:effectLst>
        </p:spPr>
      </p:sp>
      <p:sp>
        <p:nvSpPr>
          <p:cNvPr id="18" name="Pastille FaBullseye"/>
          <p:cNvSpPr/>
          <p:nvPr/>
        </p:nvSpPr>
        <p:spPr>
          <a:xfrm>
            <a:off x="6501384" y="2011680"/>
            <a:ext cx="685800" cy="685800"/>
          </a:xfrm>
          <a:prstGeom prst="ellipse">
            <a:avLst/>
          </a:prstGeom>
          <a:solidFill>
            <a:srgbClr val="FF4F81"/>
          </a:solidFill>
          <a:ln/>
        </p:spPr>
      </p:sp>
      <p:pic>
        <p:nvPicPr>
          <p:cNvPr id="19" name="Image 2" descr="FaBullseye">    </p:cNvPr>
          <p:cNvPicPr>
            <a:picLocks noChangeAspect="1"/>
          </p:cNvPicPr>
          <p:nvPr/>
        </p:nvPicPr>
        <p:blipFill>
          <a:blip r:embed="rId3"/>
          <a:stretch>
            <a:fillRect/>
          </a:stretch>
        </p:blipFill>
        <p:spPr>
          <a:xfrm>
            <a:off x="6672834" y="2183130"/>
            <a:ext cx="342900" cy="342900"/>
          </a:xfrm>
          <a:prstGeom prst="rect">
            <a:avLst/>
          </a:prstGeom>
        </p:spPr>
      </p:pic>
      <p:sp>
        <p:nvSpPr>
          <p:cNvPr id="20" name="Text 15"/>
          <p:cNvSpPr txBox="1"/>
          <p:nvPr/>
        </p:nvSpPr>
        <p:spPr>
          <a:xfrm>
            <a:off x="6501384" y="2834640"/>
            <a:ext cx="2103120" cy="365760"/>
          </a:xfrm>
          <a:prstGeom prst="rect">
            <a:avLst/>
          </a:prstGeom>
          <a:noFill/>
          <a:ln/>
        </p:spPr>
        <p:txBody>
          <a:bodyPr wrap="square" lIns="0" tIns="0" rIns="0" bIns="0" rtlCol="0" anchor="t"/>
          <a:lstStyle/>
          <a:p>
            <a:pPr indent="0" marL="0">
              <a:buNone/>
            </a:pPr>
            <a:r>
              <a:rPr lang="en-US" sz="1900" b="1" dirty="0">
                <a:solidFill>
                  <a:schemeClr val="bg1"/>
                </a:solidFill>
              </a:rPr>
              <a:t>3 · YOLOv8n</a:t>
            </a:r>
            <a:endParaRPr lang="en-US" sz="1900" dirty="0"/>
          </a:p>
        </p:txBody>
      </p:sp>
      <p:sp>
        <p:nvSpPr>
          <p:cNvPr id="21" name="Text 16"/>
          <p:cNvSpPr txBox="1"/>
          <p:nvPr/>
        </p:nvSpPr>
        <p:spPr>
          <a:xfrm>
            <a:off x="6501384" y="3291840"/>
            <a:ext cx="2057400" cy="1143000"/>
          </a:xfrm>
          <a:prstGeom prst="rect">
            <a:avLst/>
          </a:prstGeom>
          <a:noFill/>
          <a:ln/>
        </p:spPr>
        <p:txBody>
          <a:bodyPr wrap="square" lIns="0" tIns="0" rIns="0" bIns="0" rtlCol="0" anchor="t"/>
          <a:lstStyle/>
          <a:p>
            <a:pPr indent="0" marL="0">
              <a:buNone/>
            </a:pPr>
            <a:r>
              <a:rPr lang="en-US" sz="1400" dirty="0">
                <a:solidFill>
                  <a:srgbClr val="B9B3E6"/>
                </a:solidFill>
              </a:rPr>
              <a:t>Lancé si contour &gt; 20 000 px. Classe personne, confiance ≥ 0,5.</a:t>
            </a:r>
            <a:endParaRPr lang="en-US" sz="1400" dirty="0"/>
          </a:p>
        </p:txBody>
      </p:sp>
      <p:sp>
        <p:nvSpPr>
          <p:cNvPr id="22" name="Flèche"/>
          <p:cNvSpPr/>
          <p:nvPr/>
        </p:nvSpPr>
        <p:spPr>
          <a:xfrm>
            <a:off x="8759952" y="3108960"/>
            <a:ext cx="356616" cy="0"/>
          </a:xfrm>
          <a:prstGeom prst="line">
            <a:avLst/>
          </a:prstGeom>
          <a:noFill/>
          <a:ln w="31750">
            <a:solidFill>
              <a:srgbClr val="FF4F81"/>
            </a:solidFill>
            <a:prstDash val="solid"/>
            <a:tailEnd type="triangle"/>
          </a:ln>
        </p:spPr>
      </p:sp>
      <p:sp>
        <p:nvSpPr>
          <p:cNvPr id="23" name="Étape 4 · Alertes"/>
          <p:cNvSpPr/>
          <p:nvPr/>
        </p:nvSpPr>
        <p:spPr>
          <a:xfrm>
            <a:off x="9134856" y="1783080"/>
            <a:ext cx="2468880" cy="2697480"/>
          </a:xfrm>
          <a:prstGeom prst="roundRect">
            <a:avLst>
              <a:gd name="adj" fmla="val 5556"/>
            </a:avLst>
          </a:prstGeom>
          <a:solidFill>
            <a:srgbClr val="2B1B6B"/>
          </a:solidFill>
          <a:ln/>
          <a:effectLst>
            <a:outerShdw sx="100000" sy="100000" kx="0" ky="0" algn="bl" rotWithShape="0" blurRad="127000" dist="38100" dir="5400000">
              <a:srgbClr val="000000">
                <a:alpha val="20000"/>
              </a:srgbClr>
            </a:outerShdw>
          </a:effectLst>
        </p:spPr>
      </p:sp>
      <p:sp>
        <p:nvSpPr>
          <p:cNvPr id="24" name="Pastille FaBell"/>
          <p:cNvSpPr/>
          <p:nvPr/>
        </p:nvSpPr>
        <p:spPr>
          <a:xfrm>
            <a:off x="9363456" y="2011680"/>
            <a:ext cx="685800" cy="685800"/>
          </a:xfrm>
          <a:prstGeom prst="ellipse">
            <a:avLst/>
          </a:prstGeom>
          <a:solidFill>
            <a:srgbClr val="FFB400"/>
          </a:solidFill>
          <a:ln/>
        </p:spPr>
      </p:sp>
      <p:pic>
        <p:nvPicPr>
          <p:cNvPr id="25" name="Image 3" descr="FaBell">    </p:cNvPr>
          <p:cNvPicPr>
            <a:picLocks noChangeAspect="1"/>
          </p:cNvPicPr>
          <p:nvPr/>
        </p:nvPicPr>
        <p:blipFill>
          <a:blip r:embed="rId4"/>
          <a:stretch>
            <a:fillRect/>
          </a:stretch>
        </p:blipFill>
        <p:spPr>
          <a:xfrm>
            <a:off x="9534906" y="2183130"/>
            <a:ext cx="342900" cy="342900"/>
          </a:xfrm>
          <a:prstGeom prst="rect">
            <a:avLst/>
          </a:prstGeom>
        </p:spPr>
      </p:pic>
      <p:sp>
        <p:nvSpPr>
          <p:cNvPr id="26" name="Text 20"/>
          <p:cNvSpPr txBox="1"/>
          <p:nvPr/>
        </p:nvSpPr>
        <p:spPr>
          <a:xfrm>
            <a:off x="9363456" y="2834640"/>
            <a:ext cx="2103120" cy="365760"/>
          </a:xfrm>
          <a:prstGeom prst="rect">
            <a:avLst/>
          </a:prstGeom>
          <a:noFill/>
          <a:ln/>
        </p:spPr>
        <p:txBody>
          <a:bodyPr wrap="square" lIns="0" tIns="0" rIns="0" bIns="0" rtlCol="0" anchor="t"/>
          <a:lstStyle/>
          <a:p>
            <a:pPr indent="0" marL="0">
              <a:buNone/>
            </a:pPr>
            <a:r>
              <a:rPr lang="en-US" sz="1900" b="1" dirty="0">
                <a:solidFill>
                  <a:schemeClr val="bg1"/>
                </a:solidFill>
              </a:rPr>
              <a:t>4 · Alertes</a:t>
            </a:r>
            <a:endParaRPr lang="en-US" sz="1900" dirty="0"/>
          </a:p>
        </p:txBody>
      </p:sp>
      <p:sp>
        <p:nvSpPr>
          <p:cNvPr id="27" name="Text 21"/>
          <p:cNvSpPr txBox="1"/>
          <p:nvPr/>
        </p:nvSpPr>
        <p:spPr>
          <a:xfrm>
            <a:off x="9363456" y="3291840"/>
            <a:ext cx="2057400" cy="1143000"/>
          </a:xfrm>
          <a:prstGeom prst="rect">
            <a:avLst/>
          </a:prstGeom>
          <a:noFill/>
          <a:ln/>
        </p:spPr>
        <p:txBody>
          <a:bodyPr wrap="square" lIns="0" tIns="0" rIns="0" bIns="0" rtlCol="0" anchor="t"/>
          <a:lstStyle/>
          <a:p>
            <a:pPr indent="0" marL="0">
              <a:buNone/>
            </a:pPr>
            <a:r>
              <a:rPr lang="en-US" sz="1400" dirty="0">
                <a:solidFill>
                  <a:srgbClr val="B9B3E6"/>
                </a:solidFill>
              </a:rPr>
              <a:t>Warning dès la 1re personne. Confirmed après 3 s, la LED du nœud réagit.</a:t>
            </a:r>
            <a:endParaRPr lang="en-US" sz="1400" dirty="0"/>
          </a:p>
        </p:txBody>
      </p:sp>
      <p:sp>
        <p:nvSpPr>
          <p:cNvPr id="28" name="Performance vision"/>
          <p:cNvSpPr/>
          <p:nvPr/>
        </p:nvSpPr>
        <p:spPr>
          <a:xfrm>
            <a:off x="548640" y="4709160"/>
            <a:ext cx="6675120" cy="1508760"/>
          </a:xfrm>
          <a:prstGeom prst="roundRect">
            <a:avLst>
              <a:gd name="adj" fmla="val 9091"/>
            </a:avLst>
          </a:prstGeom>
          <a:solidFill>
            <a:srgbClr val="2B1B6B"/>
          </a:solidFill>
          <a:ln/>
          <a:effectLst>
            <a:outerShdw sx="100000" sy="100000" kx="0" ky="0" algn="bl" rotWithShape="0" blurRad="127000" dist="38100" dir="5400000">
              <a:srgbClr val="000000">
                <a:alpha val="20000"/>
              </a:srgbClr>
            </a:outerShdw>
          </a:effectLst>
        </p:spPr>
      </p:sp>
      <p:sp>
        <p:nvSpPr>
          <p:cNvPr id="29" name="Text 23"/>
          <p:cNvSpPr txBox="1"/>
          <p:nvPr/>
        </p:nvSpPr>
        <p:spPr>
          <a:xfrm>
            <a:off x="822960" y="4937760"/>
            <a:ext cx="1188720" cy="274320"/>
          </a:xfrm>
          <a:prstGeom prst="rect">
            <a:avLst/>
          </a:prstGeom>
          <a:noFill/>
          <a:ln/>
        </p:spPr>
        <p:txBody>
          <a:bodyPr wrap="square" lIns="0" tIns="0" rIns="0" bIns="0" rtlCol="0" anchor="t"/>
          <a:lstStyle/>
          <a:p>
            <a:pPr indent="0" marL="0">
              <a:buNone/>
            </a:pPr>
            <a:r>
              <a:rPr lang="en-US" sz="1400" dirty="0">
                <a:solidFill>
                  <a:schemeClr val="bg1"/>
                </a:solidFill>
              </a:rPr>
              <a:t>Objectif</a:t>
            </a:r>
            <a:endParaRPr lang="en-US" sz="1400" dirty="0"/>
          </a:p>
        </p:txBody>
      </p:sp>
      <p:sp>
        <p:nvSpPr>
          <p:cNvPr id="30" name="Piste objectif"/>
          <p:cNvSpPr/>
          <p:nvPr/>
        </p:nvSpPr>
        <p:spPr>
          <a:xfrm>
            <a:off x="2103120" y="4937760"/>
            <a:ext cx="4480560" cy="274320"/>
          </a:xfrm>
          <a:prstGeom prst="roundRect">
            <a:avLst>
              <a:gd name="adj" fmla="val 50000"/>
            </a:avLst>
          </a:prstGeom>
          <a:solidFill>
            <a:srgbClr val="FFFFFF">
              <a:alpha val="20000"/>
            </a:srgbClr>
          </a:solidFill>
          <a:ln/>
        </p:spPr>
      </p:sp>
      <p:sp>
        <p:nvSpPr>
          <p:cNvPr id="31" name="Text 25"/>
          <p:cNvSpPr txBox="1"/>
          <p:nvPr/>
        </p:nvSpPr>
        <p:spPr>
          <a:xfrm>
            <a:off x="2103120" y="4937760"/>
            <a:ext cx="4297680" cy="274320"/>
          </a:xfrm>
          <a:prstGeom prst="rect">
            <a:avLst/>
          </a:prstGeom>
          <a:noFill/>
          <a:ln/>
        </p:spPr>
        <p:txBody>
          <a:bodyPr wrap="square" lIns="0" tIns="0" rIns="0" bIns="0" rtlCol="0" anchor="ctr"/>
          <a:lstStyle/>
          <a:p>
            <a:pPr algn="r" indent="0" marL="0">
              <a:buNone/>
            </a:pPr>
            <a:r>
              <a:rPr lang="en-US" sz="1200" b="1" dirty="0">
                <a:solidFill>
                  <a:schemeClr val="bg1"/>
                </a:solidFill>
              </a:rPr>
              <a:t>&lt; 100 ms</a:t>
            </a:r>
            <a:endParaRPr lang="en-US" sz="1200" dirty="0"/>
          </a:p>
        </p:txBody>
      </p:sp>
      <p:sp>
        <p:nvSpPr>
          <p:cNvPr id="32" name="Text 26"/>
          <p:cNvSpPr txBox="1"/>
          <p:nvPr/>
        </p:nvSpPr>
        <p:spPr>
          <a:xfrm>
            <a:off x="822960" y="5349240"/>
            <a:ext cx="1188720" cy="274320"/>
          </a:xfrm>
          <a:prstGeom prst="rect">
            <a:avLst/>
          </a:prstGeom>
          <a:noFill/>
          <a:ln/>
        </p:spPr>
        <p:txBody>
          <a:bodyPr wrap="square" lIns="0" tIns="0" rIns="0" bIns="0" rtlCol="0" anchor="t"/>
          <a:lstStyle/>
          <a:p>
            <a:pPr indent="0" marL="0">
              <a:buNone/>
            </a:pPr>
            <a:r>
              <a:rPr lang="en-US" sz="1400" b="1" dirty="0">
                <a:solidFill>
                  <a:srgbClr val="00C9B7"/>
                </a:solidFill>
              </a:rPr>
              <a:t>Mesuré</a:t>
            </a:r>
            <a:endParaRPr lang="en-US" sz="1400" dirty="0"/>
          </a:p>
        </p:txBody>
      </p:sp>
      <p:sp>
        <p:nvSpPr>
          <p:cNvPr id="33" name="Barre mesurée"/>
          <p:cNvSpPr/>
          <p:nvPr/>
        </p:nvSpPr>
        <p:spPr>
          <a:xfrm>
            <a:off x="2103120" y="5349240"/>
            <a:ext cx="1657807" cy="274320"/>
          </a:xfrm>
          <a:prstGeom prst="roundRect">
            <a:avLst>
              <a:gd name="adj" fmla="val 50000"/>
            </a:avLst>
          </a:prstGeom>
          <a:solidFill>
            <a:srgbClr val="00C9B7"/>
          </a:solidFill>
          <a:ln/>
        </p:spPr>
      </p:sp>
      <p:sp>
        <p:nvSpPr>
          <p:cNvPr id="34" name="Text 28"/>
          <p:cNvSpPr txBox="1"/>
          <p:nvPr/>
        </p:nvSpPr>
        <p:spPr>
          <a:xfrm>
            <a:off x="3898087" y="5349240"/>
            <a:ext cx="1371600" cy="274320"/>
          </a:xfrm>
          <a:prstGeom prst="rect">
            <a:avLst/>
          </a:prstGeom>
          <a:noFill/>
          <a:ln/>
        </p:spPr>
        <p:txBody>
          <a:bodyPr wrap="square" lIns="0" tIns="0" rIns="0" bIns="0" rtlCol="0" anchor="ctr"/>
          <a:lstStyle/>
          <a:p>
            <a:pPr indent="0" marL="0">
              <a:buNone/>
            </a:pPr>
            <a:r>
              <a:rPr lang="en-US" sz="1600" b="1" dirty="0">
                <a:solidFill>
                  <a:srgbClr val="00C9B7"/>
                </a:solidFill>
              </a:rPr>
              <a:t>37 ms</a:t>
            </a:r>
            <a:endParaRPr lang="en-US" sz="1600" dirty="0"/>
          </a:p>
        </p:txBody>
      </p:sp>
      <p:sp>
        <p:nvSpPr>
          <p:cNvPr id="35" name="Text 29"/>
          <p:cNvSpPr txBox="1"/>
          <p:nvPr/>
        </p:nvSpPr>
        <p:spPr>
          <a:xfrm>
            <a:off x="822960" y="5806440"/>
            <a:ext cx="6217920" cy="274320"/>
          </a:xfrm>
          <a:prstGeom prst="rect">
            <a:avLst/>
          </a:prstGeom>
          <a:noFill/>
          <a:ln/>
        </p:spPr>
        <p:txBody>
          <a:bodyPr wrap="square" lIns="0" tIns="0" rIns="0" bIns="0" rtlCol="0" anchor="t"/>
          <a:lstStyle/>
          <a:p>
            <a:pPr indent="0" marL="0">
              <a:buNone/>
            </a:pPr>
            <a:r>
              <a:rPr lang="en-US" sz="1200" i="1" dirty="0">
                <a:solidFill>
                  <a:srgbClr val="B9B3E6"/>
                </a:solidFill>
              </a:rPr>
              <a:t>24,5 images/s · tests CPU en conteneur</a:t>
            </a:r>
            <a:endParaRPr lang="en-US" sz="1200" dirty="0"/>
          </a:p>
        </p:txBody>
      </p:sp>
      <p:sp>
        <p:nvSpPr>
          <p:cNvPr id="36" name="Pourquoi deux étages"/>
          <p:cNvSpPr/>
          <p:nvPr/>
        </p:nvSpPr>
        <p:spPr>
          <a:xfrm>
            <a:off x="7498080" y="4709160"/>
            <a:ext cx="4114800" cy="1508760"/>
          </a:xfrm>
          <a:prstGeom prst="roundRect">
            <a:avLst>
              <a:gd name="adj" fmla="val 9091"/>
            </a:avLst>
          </a:prstGeom>
          <a:solidFill>
            <a:srgbClr val="7ADB4F"/>
          </a:solidFill>
          <a:ln/>
          <a:effectLst>
            <a:outerShdw sx="100000" sy="100000" kx="0" ky="0" algn="bl" rotWithShape="0" blurRad="127000" dist="38100" dir="5400000">
              <a:srgbClr val="000000">
                <a:alpha val="20000"/>
              </a:srgbClr>
            </a:outerShdw>
          </a:effectLst>
        </p:spPr>
      </p:sp>
      <p:sp>
        <p:nvSpPr>
          <p:cNvPr id="37" name="Text 31"/>
          <p:cNvSpPr txBox="1"/>
          <p:nvPr/>
        </p:nvSpPr>
        <p:spPr>
          <a:xfrm>
            <a:off x="7726680" y="4709160"/>
            <a:ext cx="3657600" cy="1508760"/>
          </a:xfrm>
          <a:prstGeom prst="rect">
            <a:avLst/>
          </a:prstGeom>
          <a:noFill/>
          <a:ln/>
        </p:spPr>
        <p:txBody>
          <a:bodyPr wrap="square" lIns="0" tIns="0" rIns="0" bIns="0" rtlCol="0" anchor="ctr"/>
          <a:lstStyle/>
          <a:p>
            <a:pPr indent="0" marL="0">
              <a:buNone/>
            </a:pPr>
            <a:r>
              <a:rPr lang="en-US" sz="1400" b="1" dirty="0">
                <a:solidFill>
                  <a:srgbClr val="120B2E"/>
                </a:solidFill>
              </a:rPr>
              <a:t>Pourquoi deux étages ? </a:t>
            </a:r>
            <a:pPr indent="0" marL="0">
              <a:buNone/>
            </a:pPr>
            <a:r>
              <a:rPr lang="en-US" sz="1400" dirty="0">
                <a:solidFill>
                  <a:srgbClr val="120B2E"/>
                </a:solidFill>
              </a:rPr>
              <a:t>YOLO ne tourne que sur les grands mouvements : la latence reste sous 100 ms sans gaspiller le CPU.</a:t>
            </a:r>
            <a:endParaRPr lang="en-US" sz="14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9B3E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Anneau radar"/>
          <p:cNvSpPr/>
          <p:nvPr/>
        </p:nvSpPr>
        <p:spPr>
          <a:xfrm>
            <a:off x="11457432" y="-731520"/>
            <a:ext cx="1463040" cy="1463040"/>
          </a:xfrm>
          <a:prstGeom prst="ellipse">
            <a:avLst/>
          </a:prstGeom>
          <a:solidFill>
            <a:srgbClr val="FFFFFF">
              <a:alpha val="0"/>
            </a:srgbClr>
          </a:solidFill>
          <a:ln w="19050">
            <a:solidFill>
              <a:srgbClr val="00C9B7">
                <a:alpha val="35000"/>
              </a:srgbClr>
            </a:solidFill>
            <a:prstDash val="solid"/>
          </a:ln>
        </p:spPr>
      </p:sp>
      <p:sp>
        <p:nvSpPr>
          <p:cNvPr id="3" name="Anneau radar"/>
          <p:cNvSpPr/>
          <p:nvPr/>
        </p:nvSpPr>
        <p:spPr>
          <a:xfrm>
            <a:off x="11000232" y="-1188720"/>
            <a:ext cx="2377440" cy="2377440"/>
          </a:xfrm>
          <a:prstGeom prst="ellipse">
            <a:avLst/>
          </a:prstGeom>
          <a:solidFill>
            <a:srgbClr val="FFFFFF">
              <a:alpha val="0"/>
            </a:srgbClr>
          </a:solidFill>
          <a:ln w="19050">
            <a:solidFill>
              <a:srgbClr val="6C3BFF">
                <a:alpha val="35000"/>
              </a:srgbClr>
            </a:solidFill>
            <a:prstDash val="solid"/>
          </a:ln>
        </p:spPr>
      </p:sp>
      <p:sp>
        <p:nvSpPr>
          <p:cNvPr id="4" name="Anneau radar"/>
          <p:cNvSpPr/>
          <p:nvPr/>
        </p:nvSpPr>
        <p:spPr>
          <a:xfrm>
            <a:off x="10543032" y="-1645920"/>
            <a:ext cx="3291840" cy="3291840"/>
          </a:xfrm>
          <a:prstGeom prst="ellipse">
            <a:avLst/>
          </a:prstGeom>
          <a:solidFill>
            <a:srgbClr val="FFFFFF">
              <a:alpha val="0"/>
            </a:srgbClr>
          </a:solidFill>
          <a:ln w="19050">
            <a:solidFill>
              <a:srgbClr val="FF4F81">
                <a:alpha val="35000"/>
              </a:srgbClr>
            </a:solidFill>
            <a:prstDash val="solid"/>
          </a:ln>
        </p:spPr>
      </p:sp>
      <p:sp>
        <p:nvSpPr>
          <p:cNvPr id="5" name="Surtitre"/>
          <p:cNvSpPr/>
          <p:nvPr/>
        </p:nvSpPr>
        <p:spPr>
          <a:xfrm>
            <a:off x="548640" y="384048"/>
            <a:ext cx="2574950" cy="292608"/>
          </a:xfrm>
          <a:prstGeom prst="roundRect">
            <a:avLst>
              <a:gd name="adj" fmla="val 50000"/>
            </a:avLst>
          </a:prstGeom>
          <a:solidFill>
            <a:srgbClr val="FF4F81"/>
          </a:solidFill>
          <a:ln/>
        </p:spPr>
      </p:sp>
      <p:sp>
        <p:nvSpPr>
          <p:cNvPr id="6" name="Text 4"/>
          <p:cNvSpPr txBox="1"/>
          <p:nvPr/>
        </p:nvSpPr>
        <p:spPr>
          <a:xfrm>
            <a:off x="548640" y="384048"/>
            <a:ext cx="2574950" cy="292608"/>
          </a:xfrm>
          <a:prstGeom prst="rect">
            <a:avLst/>
          </a:prstGeom>
          <a:noFill/>
          <a:ln/>
        </p:spPr>
        <p:txBody>
          <a:bodyPr wrap="square" lIns="0" tIns="0" rIns="0" bIns="0" rtlCol="0" anchor="ctr"/>
          <a:lstStyle/>
          <a:p>
            <a:pPr algn="ctr" indent="0" marL="0">
              <a:buNone/>
            </a:pPr>
            <a:r>
              <a:rPr lang="en-US" sz="1100" b="1" spc="100" kern="0" dirty="0">
                <a:solidFill>
                  <a:srgbClr val="120B2E"/>
                </a:solidFill>
              </a:rPr>
              <a:t>IA · MAINTENANCE PRÉDICTIVE</a:t>
            </a:r>
            <a:endParaRPr lang="en-US" sz="1100" dirty="0"/>
          </a:p>
        </p:txBody>
      </p:sp>
      <p:sp>
        <p:nvSpPr>
          <p:cNvPr id="7" name="Text 0"/>
          <p:cNvSpPr/>
          <p:nvPr>
            <p:ph idx="100" type="title" hasCustomPrompt="1"/>
          </p:nvPr>
        </p:nvSpPr>
        <p:spPr>
          <a:xfrm>
            <a:off x="548640" y="749808"/>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Prédire avant que ça casse</a:t>
            </a:r>
            <a:endParaRPr lang="en-US" sz="3400" dirty="0"/>
          </a:p>
        </p:txBody>
      </p:sp>
      <p:sp>
        <p:nvSpPr>
          <p:cNvPr id="8" name="Pipeline Fenêtres de 60 mesures"/>
          <p:cNvSpPr/>
          <p:nvPr/>
        </p:nvSpPr>
        <p:spPr>
          <a:xfrm>
            <a:off x="548640" y="1783080"/>
            <a:ext cx="5394960" cy="1005840"/>
          </a:xfrm>
          <a:prstGeom prst="roundRect">
            <a:avLst>
              <a:gd name="adj" fmla="val 13636"/>
            </a:avLst>
          </a:prstGeom>
          <a:solidFill>
            <a:srgbClr val="F3F0FF"/>
          </a:solidFill>
          <a:ln/>
        </p:spPr>
      </p:sp>
      <p:sp>
        <p:nvSpPr>
          <p:cNvPr id="9" name="Numéro"/>
          <p:cNvSpPr/>
          <p:nvPr/>
        </p:nvSpPr>
        <p:spPr>
          <a:xfrm>
            <a:off x="777240" y="2011680"/>
            <a:ext cx="548640" cy="548640"/>
          </a:xfrm>
          <a:prstGeom prst="ellipse">
            <a:avLst/>
          </a:prstGeom>
          <a:solidFill>
            <a:srgbClr val="00C9B7"/>
          </a:solidFill>
          <a:ln/>
        </p:spPr>
      </p:sp>
      <p:sp>
        <p:nvSpPr>
          <p:cNvPr id="10" name="Text 8"/>
          <p:cNvSpPr txBox="1"/>
          <p:nvPr/>
        </p:nvSpPr>
        <p:spPr>
          <a:xfrm>
            <a:off x="777240" y="2011680"/>
            <a:ext cx="548640" cy="548640"/>
          </a:xfrm>
          <a:prstGeom prst="rect">
            <a:avLst/>
          </a:prstGeom>
          <a:noFill/>
          <a:ln/>
        </p:spPr>
        <p:txBody>
          <a:bodyPr wrap="square" lIns="0" tIns="0" rIns="0" bIns="0" rtlCol="0" anchor="ctr"/>
          <a:lstStyle/>
          <a:p>
            <a:pPr algn="ctr" indent="0" marL="0">
              <a:buNone/>
            </a:pPr>
            <a:r>
              <a:rPr lang="en-US" sz="2000" b="1" dirty="0">
                <a:solidFill>
                  <a:srgbClr val="120B2E"/>
                </a:solidFill>
              </a:rPr>
              <a:t>1</a:t>
            </a:r>
            <a:endParaRPr lang="en-US" sz="2000" dirty="0"/>
          </a:p>
        </p:txBody>
      </p:sp>
      <p:sp>
        <p:nvSpPr>
          <p:cNvPr id="11" name="Text 9"/>
          <p:cNvSpPr txBox="1"/>
          <p:nvPr/>
        </p:nvSpPr>
        <p:spPr>
          <a:xfrm>
            <a:off x="1554480" y="1892808"/>
            <a:ext cx="4206240" cy="320040"/>
          </a:xfrm>
          <a:prstGeom prst="rect">
            <a:avLst/>
          </a:prstGeom>
          <a:noFill/>
          <a:ln/>
        </p:spPr>
        <p:txBody>
          <a:bodyPr wrap="square" lIns="0" tIns="0" rIns="0" bIns="0" rtlCol="0" anchor="t"/>
          <a:lstStyle/>
          <a:p>
            <a:pPr indent="0" marL="0">
              <a:buNone/>
            </a:pPr>
            <a:r>
              <a:rPr lang="en-US" sz="1700" b="1" dirty="0">
                <a:solidFill>
                  <a:schemeClr val="tx1"/>
                </a:solidFill>
              </a:rPr>
              <a:t>Fenêtres de 60 mesures</a:t>
            </a:r>
            <a:endParaRPr lang="en-US" sz="1700" dirty="0"/>
          </a:p>
        </p:txBody>
      </p:sp>
      <p:sp>
        <p:nvSpPr>
          <p:cNvPr id="12" name="Text 10"/>
          <p:cNvSpPr txBox="1"/>
          <p:nvPr/>
        </p:nvSpPr>
        <p:spPr>
          <a:xfrm>
            <a:off x="1554480" y="2240280"/>
            <a:ext cx="4206240" cy="502920"/>
          </a:xfrm>
          <a:prstGeom prst="rect">
            <a:avLst/>
          </a:prstGeom>
          <a:noFill/>
          <a:ln/>
        </p:spPr>
        <p:txBody>
          <a:bodyPr wrap="square" lIns="0" tIns="0" rIns="0" bIns="0" rtlCol="0" anchor="t"/>
          <a:lstStyle/>
          <a:p>
            <a:pPr indent="0" marL="0">
              <a:buNone/>
            </a:pPr>
            <a:r>
              <a:rPr lang="en-US" sz="1300" dirty="0">
                <a:solidFill>
                  <a:srgbClr val="5B5780"/>
                </a:solidFill>
              </a:rPr>
              <a:t>2 minutes, segments continus, jamais à cheval sur une coupure</a:t>
            </a:r>
            <a:endParaRPr lang="en-US" sz="1300" dirty="0"/>
          </a:p>
        </p:txBody>
      </p:sp>
      <p:sp>
        <p:nvSpPr>
          <p:cNvPr id="13" name="Pipeline 10 caractéristiques"/>
          <p:cNvSpPr/>
          <p:nvPr/>
        </p:nvSpPr>
        <p:spPr>
          <a:xfrm>
            <a:off x="548640" y="2971800"/>
            <a:ext cx="5394960" cy="1005840"/>
          </a:xfrm>
          <a:prstGeom prst="roundRect">
            <a:avLst>
              <a:gd name="adj" fmla="val 13636"/>
            </a:avLst>
          </a:prstGeom>
          <a:solidFill>
            <a:srgbClr val="F3F0FF"/>
          </a:solidFill>
          <a:ln/>
        </p:spPr>
      </p:sp>
      <p:sp>
        <p:nvSpPr>
          <p:cNvPr id="14" name="Numéro"/>
          <p:cNvSpPr/>
          <p:nvPr/>
        </p:nvSpPr>
        <p:spPr>
          <a:xfrm>
            <a:off x="777240" y="3200400"/>
            <a:ext cx="548640" cy="548640"/>
          </a:xfrm>
          <a:prstGeom prst="ellipse">
            <a:avLst/>
          </a:prstGeom>
          <a:solidFill>
            <a:srgbClr val="FFB400"/>
          </a:solidFill>
          <a:ln/>
        </p:spPr>
      </p:sp>
      <p:sp>
        <p:nvSpPr>
          <p:cNvPr id="15" name="Text 13"/>
          <p:cNvSpPr txBox="1"/>
          <p:nvPr/>
        </p:nvSpPr>
        <p:spPr>
          <a:xfrm>
            <a:off x="777240" y="3200400"/>
            <a:ext cx="548640" cy="548640"/>
          </a:xfrm>
          <a:prstGeom prst="rect">
            <a:avLst/>
          </a:prstGeom>
          <a:noFill/>
          <a:ln/>
        </p:spPr>
        <p:txBody>
          <a:bodyPr wrap="square" lIns="0" tIns="0" rIns="0" bIns="0" rtlCol="0" anchor="ctr"/>
          <a:lstStyle/>
          <a:p>
            <a:pPr algn="ctr" indent="0" marL="0">
              <a:buNone/>
            </a:pPr>
            <a:r>
              <a:rPr lang="en-US" sz="2000" b="1" dirty="0">
                <a:solidFill>
                  <a:srgbClr val="120B2E"/>
                </a:solidFill>
              </a:rPr>
              <a:t>2</a:t>
            </a:r>
            <a:endParaRPr lang="en-US" sz="2000" dirty="0"/>
          </a:p>
        </p:txBody>
      </p:sp>
      <p:sp>
        <p:nvSpPr>
          <p:cNvPr id="16" name="Text 14"/>
          <p:cNvSpPr txBox="1"/>
          <p:nvPr/>
        </p:nvSpPr>
        <p:spPr>
          <a:xfrm>
            <a:off x="1554480" y="3081528"/>
            <a:ext cx="4206240" cy="320040"/>
          </a:xfrm>
          <a:prstGeom prst="rect">
            <a:avLst/>
          </a:prstGeom>
          <a:noFill/>
          <a:ln/>
        </p:spPr>
        <p:txBody>
          <a:bodyPr wrap="square" lIns="0" tIns="0" rIns="0" bIns="0" rtlCol="0" anchor="t"/>
          <a:lstStyle/>
          <a:p>
            <a:pPr indent="0" marL="0">
              <a:buNone/>
            </a:pPr>
            <a:r>
              <a:rPr lang="en-US" sz="1700" b="1" dirty="0">
                <a:solidFill>
                  <a:schemeClr val="tx1"/>
                </a:solidFill>
              </a:rPr>
              <a:t>10 caractéristiques</a:t>
            </a:r>
            <a:endParaRPr lang="en-US" sz="1700" dirty="0"/>
          </a:p>
        </p:txBody>
      </p:sp>
      <p:sp>
        <p:nvSpPr>
          <p:cNvPr id="17" name="Text 15"/>
          <p:cNvSpPr txBox="1"/>
          <p:nvPr/>
        </p:nvSpPr>
        <p:spPr>
          <a:xfrm>
            <a:off x="1554480" y="3429000"/>
            <a:ext cx="4206240" cy="502920"/>
          </a:xfrm>
          <a:prstGeom prst="rect">
            <a:avLst/>
          </a:prstGeom>
          <a:noFill/>
          <a:ln/>
        </p:spPr>
        <p:txBody>
          <a:bodyPr wrap="square" lIns="0" tIns="0" rIns="0" bIns="0" rtlCol="0" anchor="t"/>
          <a:lstStyle/>
          <a:p>
            <a:pPr indent="0" marL="0">
              <a:buNone/>
            </a:pPr>
            <a:r>
              <a:rPr lang="en-US" sz="1300" dirty="0">
                <a:solidFill>
                  <a:srgbClr val="5B5780"/>
                </a:solidFill>
              </a:rPr>
              <a:t>moyenne, écart-type, pente, corrélation température / gaz</a:t>
            </a:r>
            <a:endParaRPr lang="en-US" sz="1300" dirty="0"/>
          </a:p>
        </p:txBody>
      </p:sp>
      <p:sp>
        <p:nvSpPr>
          <p:cNvPr id="18" name="Pipeline Isolation Forest"/>
          <p:cNvSpPr/>
          <p:nvPr/>
        </p:nvSpPr>
        <p:spPr>
          <a:xfrm>
            <a:off x="548640" y="4160520"/>
            <a:ext cx="5394960" cy="1005840"/>
          </a:xfrm>
          <a:prstGeom prst="roundRect">
            <a:avLst>
              <a:gd name="adj" fmla="val 13636"/>
            </a:avLst>
          </a:prstGeom>
          <a:solidFill>
            <a:srgbClr val="F3F0FF"/>
          </a:solidFill>
          <a:ln/>
        </p:spPr>
      </p:sp>
      <p:sp>
        <p:nvSpPr>
          <p:cNvPr id="19" name="Numéro"/>
          <p:cNvSpPr/>
          <p:nvPr/>
        </p:nvSpPr>
        <p:spPr>
          <a:xfrm>
            <a:off x="777240" y="4389120"/>
            <a:ext cx="548640" cy="548640"/>
          </a:xfrm>
          <a:prstGeom prst="ellipse">
            <a:avLst/>
          </a:prstGeom>
          <a:solidFill>
            <a:srgbClr val="FF4F81"/>
          </a:solidFill>
          <a:ln/>
        </p:spPr>
      </p:sp>
      <p:sp>
        <p:nvSpPr>
          <p:cNvPr id="20" name="Text 18"/>
          <p:cNvSpPr txBox="1"/>
          <p:nvPr/>
        </p:nvSpPr>
        <p:spPr>
          <a:xfrm>
            <a:off x="777240" y="4389120"/>
            <a:ext cx="548640" cy="548640"/>
          </a:xfrm>
          <a:prstGeom prst="rect">
            <a:avLst/>
          </a:prstGeom>
          <a:noFill/>
          <a:ln/>
        </p:spPr>
        <p:txBody>
          <a:bodyPr wrap="square" lIns="0" tIns="0" rIns="0" bIns="0" rtlCol="0" anchor="ctr"/>
          <a:lstStyle/>
          <a:p>
            <a:pPr algn="ctr" indent="0" marL="0">
              <a:buNone/>
            </a:pPr>
            <a:r>
              <a:rPr lang="en-US" sz="2000" b="1" dirty="0">
                <a:solidFill>
                  <a:srgbClr val="120B2E"/>
                </a:solidFill>
              </a:rPr>
              <a:t>3</a:t>
            </a:r>
            <a:endParaRPr lang="en-US" sz="2000" dirty="0"/>
          </a:p>
        </p:txBody>
      </p:sp>
      <p:sp>
        <p:nvSpPr>
          <p:cNvPr id="21" name="Text 19"/>
          <p:cNvSpPr txBox="1"/>
          <p:nvPr/>
        </p:nvSpPr>
        <p:spPr>
          <a:xfrm>
            <a:off x="1554480" y="4270248"/>
            <a:ext cx="4206240" cy="320040"/>
          </a:xfrm>
          <a:prstGeom prst="rect">
            <a:avLst/>
          </a:prstGeom>
          <a:noFill/>
          <a:ln/>
        </p:spPr>
        <p:txBody>
          <a:bodyPr wrap="square" lIns="0" tIns="0" rIns="0" bIns="0" rtlCol="0" anchor="t"/>
          <a:lstStyle/>
          <a:p>
            <a:pPr indent="0" marL="0">
              <a:buNone/>
            </a:pPr>
            <a:r>
              <a:rPr lang="en-US" sz="1700" b="1" dirty="0">
                <a:solidFill>
                  <a:schemeClr val="tx1"/>
                </a:solidFill>
              </a:rPr>
              <a:t>Isolation Forest</a:t>
            </a:r>
            <a:endParaRPr lang="en-US" sz="1700" dirty="0"/>
          </a:p>
        </p:txBody>
      </p:sp>
      <p:sp>
        <p:nvSpPr>
          <p:cNvPr id="22" name="Text 20"/>
          <p:cNvSpPr txBox="1"/>
          <p:nvPr/>
        </p:nvSpPr>
        <p:spPr>
          <a:xfrm>
            <a:off x="1554480" y="4617720"/>
            <a:ext cx="4206240" cy="502920"/>
          </a:xfrm>
          <a:prstGeom prst="rect">
            <a:avLst/>
          </a:prstGeom>
          <a:noFill/>
          <a:ln/>
        </p:spPr>
        <p:txBody>
          <a:bodyPr wrap="square" lIns="0" tIns="0" rIns="0" bIns="0" rtlCol="0" anchor="t"/>
          <a:lstStyle/>
          <a:p>
            <a:pPr indent="0" marL="0">
              <a:buNone/>
            </a:pPr>
            <a:r>
              <a:rPr lang="en-US" sz="1300" dirty="0">
                <a:solidFill>
                  <a:srgbClr val="5B5780"/>
                </a:solidFill>
              </a:rPr>
              <a:t>200 arbres, non supervisé : il apprend le normal sur les vraies mesures</a:t>
            </a:r>
            <a:endParaRPr lang="en-US" sz="1300" dirty="0"/>
          </a:p>
        </p:txBody>
      </p:sp>
      <p:sp>
        <p:nvSpPr>
          <p:cNvPr id="23" name="Niveau Normal"/>
          <p:cNvSpPr/>
          <p:nvPr/>
        </p:nvSpPr>
        <p:spPr>
          <a:xfrm>
            <a:off x="6400800" y="1783080"/>
            <a:ext cx="5212080" cy="1005840"/>
          </a:xfrm>
          <a:prstGeom prst="roundRect">
            <a:avLst>
              <a:gd name="adj" fmla="val 13636"/>
            </a:avLst>
          </a:prstGeom>
          <a:solidFill>
            <a:srgbClr val="7ADB4F"/>
          </a:solidFill>
          <a:ln/>
          <a:effectLst>
            <a:outerShdw sx="100000" sy="100000" kx="0" ky="0" algn="bl" rotWithShape="0" blurRad="127000" dist="38100" dir="5400000">
              <a:srgbClr val="000000">
                <a:alpha val="20000"/>
              </a:srgbClr>
            </a:outerShdw>
          </a:effectLst>
        </p:spPr>
      </p:sp>
      <p:sp>
        <p:nvSpPr>
          <p:cNvPr id="24" name="Text 22"/>
          <p:cNvSpPr txBox="1"/>
          <p:nvPr/>
        </p:nvSpPr>
        <p:spPr>
          <a:xfrm>
            <a:off x="6675120" y="1911096"/>
            <a:ext cx="4754880" cy="320040"/>
          </a:xfrm>
          <a:prstGeom prst="rect">
            <a:avLst/>
          </a:prstGeom>
          <a:noFill/>
          <a:ln/>
        </p:spPr>
        <p:txBody>
          <a:bodyPr wrap="square" lIns="0" tIns="0" rIns="0" bIns="0" rtlCol="0" anchor="t"/>
          <a:lstStyle/>
          <a:p>
            <a:pPr indent="0" marL="0">
              <a:buNone/>
            </a:pPr>
            <a:r>
              <a:rPr lang="en-US" sz="1900" b="1" dirty="0">
                <a:solidFill>
                  <a:srgbClr val="120B2E"/>
                </a:solidFill>
              </a:rPr>
              <a:t>Normal</a:t>
            </a:r>
            <a:endParaRPr lang="en-US" sz="1900" dirty="0"/>
          </a:p>
        </p:txBody>
      </p:sp>
      <p:sp>
        <p:nvSpPr>
          <p:cNvPr id="25" name="Text 23"/>
          <p:cNvSpPr txBox="1"/>
          <p:nvPr/>
        </p:nvSpPr>
        <p:spPr>
          <a:xfrm>
            <a:off x="6675120" y="2286000"/>
            <a:ext cx="4754880" cy="365760"/>
          </a:xfrm>
          <a:prstGeom prst="rect">
            <a:avLst/>
          </a:prstGeom>
          <a:noFill/>
          <a:ln/>
        </p:spPr>
        <p:txBody>
          <a:bodyPr wrap="square" lIns="0" tIns="0" rIns="0" bIns="0" rtlCol="0" anchor="t"/>
          <a:lstStyle/>
          <a:p>
            <a:pPr indent="0" marL="0">
              <a:buNone/>
            </a:pPr>
            <a:r>
              <a:rPr lang="en-US" sz="1400" dirty="0">
                <a:solidFill>
                  <a:srgbClr val="120B2E"/>
                </a:solidFill>
              </a:rPr>
              <a:t>rien à signaler</a:t>
            </a:r>
            <a:endParaRPr lang="en-US" sz="1400" dirty="0"/>
          </a:p>
        </p:txBody>
      </p:sp>
      <p:sp>
        <p:nvSpPr>
          <p:cNvPr id="26" name="Niveau Avertissement"/>
          <p:cNvSpPr/>
          <p:nvPr/>
        </p:nvSpPr>
        <p:spPr>
          <a:xfrm>
            <a:off x="6720840" y="2971800"/>
            <a:ext cx="4892040" cy="1005840"/>
          </a:xfrm>
          <a:prstGeom prst="roundRect">
            <a:avLst>
              <a:gd name="adj" fmla="val 13636"/>
            </a:avLst>
          </a:prstGeom>
          <a:solidFill>
            <a:srgbClr val="FFB400"/>
          </a:solidFill>
          <a:ln/>
          <a:effectLst>
            <a:outerShdw sx="100000" sy="100000" kx="0" ky="0" algn="bl" rotWithShape="0" blurRad="127000" dist="38100" dir="5400000">
              <a:srgbClr val="000000">
                <a:alpha val="20000"/>
              </a:srgbClr>
            </a:outerShdw>
          </a:effectLst>
        </p:spPr>
      </p:sp>
      <p:sp>
        <p:nvSpPr>
          <p:cNvPr id="27" name="Text 25"/>
          <p:cNvSpPr txBox="1"/>
          <p:nvPr/>
        </p:nvSpPr>
        <p:spPr>
          <a:xfrm>
            <a:off x="6995160" y="3099816"/>
            <a:ext cx="4434840" cy="320040"/>
          </a:xfrm>
          <a:prstGeom prst="rect">
            <a:avLst/>
          </a:prstGeom>
          <a:noFill/>
          <a:ln/>
        </p:spPr>
        <p:txBody>
          <a:bodyPr wrap="square" lIns="0" tIns="0" rIns="0" bIns="0" rtlCol="0" anchor="t"/>
          <a:lstStyle/>
          <a:p>
            <a:pPr indent="0" marL="0">
              <a:buNone/>
            </a:pPr>
            <a:r>
              <a:rPr lang="en-US" sz="1900" b="1" dirty="0">
                <a:solidFill>
                  <a:srgbClr val="120B2E"/>
                </a:solidFill>
              </a:rPr>
              <a:t>Avertissement</a:t>
            </a:r>
            <a:endParaRPr lang="en-US" sz="1900" dirty="0"/>
          </a:p>
        </p:txBody>
      </p:sp>
      <p:sp>
        <p:nvSpPr>
          <p:cNvPr id="28" name="Text 26"/>
          <p:cNvSpPr txBox="1"/>
          <p:nvPr/>
        </p:nvSpPr>
        <p:spPr>
          <a:xfrm>
            <a:off x="6995160" y="3474720"/>
            <a:ext cx="4434840" cy="365760"/>
          </a:xfrm>
          <a:prstGeom prst="rect">
            <a:avLst/>
          </a:prstGeom>
          <a:noFill/>
          <a:ln/>
        </p:spPr>
        <p:txBody>
          <a:bodyPr wrap="square" lIns="0" tIns="0" rIns="0" bIns="0" rtlCol="0" anchor="t"/>
          <a:lstStyle/>
          <a:p>
            <a:pPr indent="0" marL="0">
              <a:buNone/>
            </a:pPr>
            <a:r>
              <a:rPr lang="en-US" sz="1400" dirty="0">
                <a:solidFill>
                  <a:srgbClr val="120B2E"/>
                </a:solidFill>
              </a:rPr>
              <a:t>2 fenêtres anormales d'affilée</a:t>
            </a:r>
            <a:endParaRPr lang="en-US" sz="1400" dirty="0"/>
          </a:p>
        </p:txBody>
      </p:sp>
      <p:sp>
        <p:nvSpPr>
          <p:cNvPr id="29" name="Niveau Confirmée"/>
          <p:cNvSpPr/>
          <p:nvPr/>
        </p:nvSpPr>
        <p:spPr>
          <a:xfrm>
            <a:off x="7040880" y="4160520"/>
            <a:ext cx="4572000" cy="1005840"/>
          </a:xfrm>
          <a:prstGeom prst="roundRect">
            <a:avLst>
              <a:gd name="adj" fmla="val 13636"/>
            </a:avLst>
          </a:prstGeom>
          <a:solidFill>
            <a:srgbClr val="FF4F81"/>
          </a:solidFill>
          <a:ln/>
          <a:effectLst>
            <a:outerShdw sx="100000" sy="100000" kx="0" ky="0" algn="bl" rotWithShape="0" blurRad="127000" dist="38100" dir="5400000">
              <a:srgbClr val="000000">
                <a:alpha val="20000"/>
              </a:srgbClr>
            </a:outerShdw>
          </a:effectLst>
        </p:spPr>
      </p:sp>
      <p:sp>
        <p:nvSpPr>
          <p:cNvPr id="30" name="Text 28"/>
          <p:cNvSpPr txBox="1"/>
          <p:nvPr/>
        </p:nvSpPr>
        <p:spPr>
          <a:xfrm>
            <a:off x="7315200" y="4288536"/>
            <a:ext cx="4114800" cy="320040"/>
          </a:xfrm>
          <a:prstGeom prst="rect">
            <a:avLst/>
          </a:prstGeom>
          <a:noFill/>
          <a:ln/>
        </p:spPr>
        <p:txBody>
          <a:bodyPr wrap="square" lIns="0" tIns="0" rIns="0" bIns="0" rtlCol="0" anchor="t"/>
          <a:lstStyle/>
          <a:p>
            <a:pPr indent="0" marL="0">
              <a:buNone/>
            </a:pPr>
            <a:r>
              <a:rPr lang="en-US" sz="1900" b="1" dirty="0">
                <a:solidFill>
                  <a:srgbClr val="120B2E"/>
                </a:solidFill>
              </a:rPr>
              <a:t>Confirmée</a:t>
            </a:r>
            <a:endParaRPr lang="en-US" sz="1900" dirty="0"/>
          </a:p>
        </p:txBody>
      </p:sp>
      <p:sp>
        <p:nvSpPr>
          <p:cNvPr id="31" name="Text 29"/>
          <p:cNvSpPr txBox="1"/>
          <p:nvPr/>
        </p:nvSpPr>
        <p:spPr>
          <a:xfrm>
            <a:off x="7315200" y="4663440"/>
            <a:ext cx="4114800" cy="365760"/>
          </a:xfrm>
          <a:prstGeom prst="rect">
            <a:avLst/>
          </a:prstGeom>
          <a:noFill/>
          <a:ln/>
        </p:spPr>
        <p:txBody>
          <a:bodyPr wrap="square" lIns="0" tIns="0" rIns="0" bIns="0" rtlCol="0" anchor="t"/>
          <a:lstStyle/>
          <a:p>
            <a:pPr indent="0" marL="0">
              <a:buNone/>
            </a:pPr>
            <a:r>
              <a:rPr lang="en-US" sz="1400" dirty="0">
                <a:solidFill>
                  <a:srgbClr val="120B2E"/>
                </a:solidFill>
              </a:rPr>
              <a:t>5 fenêtres : la LED clignote</a:t>
            </a:r>
            <a:endParaRPr lang="en-US" sz="1400" dirty="0"/>
          </a:p>
        </p:txBody>
      </p:sp>
      <p:sp>
        <p:nvSpPr>
          <p:cNvPr id="32" name="Résultat 0,07 %"/>
          <p:cNvSpPr/>
          <p:nvPr/>
        </p:nvSpPr>
        <p:spPr>
          <a:xfrm>
            <a:off x="548640" y="5440680"/>
            <a:ext cx="3566160" cy="822960"/>
          </a:xfrm>
          <a:prstGeom prst="roundRect">
            <a:avLst>
              <a:gd name="adj" fmla="val 16667"/>
            </a:avLst>
          </a:prstGeom>
          <a:solidFill>
            <a:srgbClr val="120B2E"/>
          </a:solidFill>
          <a:ln/>
          <a:effectLst>
            <a:outerShdw sx="100000" sy="100000" kx="0" ky="0" algn="bl" rotWithShape="0" blurRad="127000" dist="38100" dir="5400000">
              <a:srgbClr val="000000">
                <a:alpha val="20000"/>
              </a:srgbClr>
            </a:outerShdw>
          </a:effectLst>
        </p:spPr>
      </p:sp>
      <p:sp>
        <p:nvSpPr>
          <p:cNvPr id="33" name="Text 31"/>
          <p:cNvSpPr txBox="1"/>
          <p:nvPr/>
        </p:nvSpPr>
        <p:spPr>
          <a:xfrm>
            <a:off x="777240" y="5440680"/>
            <a:ext cx="1371600" cy="822960"/>
          </a:xfrm>
          <a:prstGeom prst="rect">
            <a:avLst/>
          </a:prstGeom>
          <a:noFill/>
          <a:ln/>
        </p:spPr>
        <p:txBody>
          <a:bodyPr wrap="square" lIns="0" tIns="0" rIns="0" bIns="0" rtlCol="0" anchor="ctr"/>
          <a:lstStyle/>
          <a:p>
            <a:pPr indent="0" marL="0">
              <a:buNone/>
            </a:pPr>
            <a:r>
              <a:rPr lang="en-US" sz="2800" b="1" dirty="0">
                <a:solidFill>
                  <a:srgbClr val="00C9B7"/>
                </a:solidFill>
                <a:latin typeface="+mj-lt" pitchFamily="34" charset="0"/>
                <a:ea typeface="+mj-lt" pitchFamily="34" charset="-122"/>
                <a:cs typeface="+mj-lt" pitchFamily="34" charset="-120"/>
              </a:rPr>
              <a:t>0,07 %</a:t>
            </a:r>
            <a:endParaRPr lang="en-US" sz="2800" dirty="0"/>
          </a:p>
        </p:txBody>
      </p:sp>
      <p:sp>
        <p:nvSpPr>
          <p:cNvPr id="34" name="Text 32"/>
          <p:cNvSpPr txBox="1"/>
          <p:nvPr/>
        </p:nvSpPr>
        <p:spPr>
          <a:xfrm>
            <a:off x="2148840" y="5440680"/>
            <a:ext cx="1874520" cy="822960"/>
          </a:xfrm>
          <a:prstGeom prst="rect">
            <a:avLst/>
          </a:prstGeom>
          <a:noFill/>
          <a:ln/>
        </p:spPr>
        <p:txBody>
          <a:bodyPr wrap="square" lIns="0" tIns="0" rIns="0" bIns="0" rtlCol="0" anchor="ctr"/>
          <a:lstStyle/>
          <a:p>
            <a:pPr indent="0" marL="0">
              <a:buNone/>
            </a:pPr>
            <a:r>
              <a:rPr lang="en-US" sz="1300" dirty="0">
                <a:solidFill>
                  <a:schemeClr val="bg1"/>
                </a:solidFill>
              </a:rPr>
              <a:t>de fausses alertes</a:t>
            </a:r>
            <a:endParaRPr lang="en-US" sz="1300" dirty="0"/>
          </a:p>
        </p:txBody>
      </p:sp>
      <p:sp>
        <p:nvSpPr>
          <p:cNvPr id="35" name="Résultat 10/10"/>
          <p:cNvSpPr/>
          <p:nvPr/>
        </p:nvSpPr>
        <p:spPr>
          <a:xfrm>
            <a:off x="4297680" y="5440680"/>
            <a:ext cx="3566160" cy="822960"/>
          </a:xfrm>
          <a:prstGeom prst="roundRect">
            <a:avLst>
              <a:gd name="adj" fmla="val 16667"/>
            </a:avLst>
          </a:prstGeom>
          <a:solidFill>
            <a:srgbClr val="120B2E"/>
          </a:solidFill>
          <a:ln/>
          <a:effectLst>
            <a:outerShdw sx="100000" sy="100000" kx="0" ky="0" algn="bl" rotWithShape="0" blurRad="127000" dist="38100" dir="5400000">
              <a:srgbClr val="000000">
                <a:alpha val="20000"/>
              </a:srgbClr>
            </a:outerShdw>
          </a:effectLst>
        </p:spPr>
      </p:sp>
      <p:sp>
        <p:nvSpPr>
          <p:cNvPr id="36" name="Text 34"/>
          <p:cNvSpPr txBox="1"/>
          <p:nvPr/>
        </p:nvSpPr>
        <p:spPr>
          <a:xfrm>
            <a:off x="4526280" y="5440680"/>
            <a:ext cx="1371600" cy="822960"/>
          </a:xfrm>
          <a:prstGeom prst="rect">
            <a:avLst/>
          </a:prstGeom>
          <a:noFill/>
          <a:ln/>
        </p:spPr>
        <p:txBody>
          <a:bodyPr wrap="square" lIns="0" tIns="0" rIns="0" bIns="0" rtlCol="0" anchor="ctr"/>
          <a:lstStyle/>
          <a:p>
            <a:pPr indent="0" marL="0">
              <a:buNone/>
            </a:pPr>
            <a:r>
              <a:rPr lang="en-US" sz="2800" b="1" dirty="0">
                <a:solidFill>
                  <a:srgbClr val="FFB400"/>
                </a:solidFill>
                <a:latin typeface="+mj-lt" pitchFamily="34" charset="0"/>
                <a:ea typeface="+mj-lt" pitchFamily="34" charset="-122"/>
                <a:cs typeface="+mj-lt" pitchFamily="34" charset="-120"/>
              </a:rPr>
              <a:t>10/10</a:t>
            </a:r>
            <a:endParaRPr lang="en-US" sz="2800" dirty="0"/>
          </a:p>
        </p:txBody>
      </p:sp>
      <p:sp>
        <p:nvSpPr>
          <p:cNvPr id="37" name="Text 35"/>
          <p:cNvSpPr txBox="1"/>
          <p:nvPr/>
        </p:nvSpPr>
        <p:spPr>
          <a:xfrm>
            <a:off x="5897880" y="5440680"/>
            <a:ext cx="1874520" cy="822960"/>
          </a:xfrm>
          <a:prstGeom prst="rect">
            <a:avLst/>
          </a:prstGeom>
          <a:noFill/>
          <a:ln/>
        </p:spPr>
        <p:txBody>
          <a:bodyPr wrap="square" lIns="0" tIns="0" rIns="0" bIns="0" rtlCol="0" anchor="ctr"/>
          <a:lstStyle/>
          <a:p>
            <a:pPr indent="0" marL="0">
              <a:buNone/>
            </a:pPr>
            <a:r>
              <a:rPr lang="en-US" sz="1300" dirty="0">
                <a:solidFill>
                  <a:schemeClr val="bg1"/>
                </a:solidFill>
              </a:rPr>
              <a:t>dérives lentes, en 0,8 min</a:t>
            </a:r>
            <a:endParaRPr lang="en-US" sz="1300" dirty="0"/>
          </a:p>
        </p:txBody>
      </p:sp>
      <p:sp>
        <p:nvSpPr>
          <p:cNvPr id="38" name="Résultat 10/10"/>
          <p:cNvSpPr/>
          <p:nvPr/>
        </p:nvSpPr>
        <p:spPr>
          <a:xfrm>
            <a:off x="8046720" y="5440680"/>
            <a:ext cx="3566160" cy="822960"/>
          </a:xfrm>
          <a:prstGeom prst="roundRect">
            <a:avLst>
              <a:gd name="adj" fmla="val 16667"/>
            </a:avLst>
          </a:prstGeom>
          <a:solidFill>
            <a:srgbClr val="120B2E"/>
          </a:solidFill>
          <a:ln/>
          <a:effectLst>
            <a:outerShdw sx="100000" sy="100000" kx="0" ky="0" algn="bl" rotWithShape="0" blurRad="127000" dist="38100" dir="5400000">
              <a:srgbClr val="000000">
                <a:alpha val="20000"/>
              </a:srgbClr>
            </a:outerShdw>
          </a:effectLst>
        </p:spPr>
      </p:sp>
      <p:sp>
        <p:nvSpPr>
          <p:cNvPr id="39" name="Text 37"/>
          <p:cNvSpPr txBox="1"/>
          <p:nvPr/>
        </p:nvSpPr>
        <p:spPr>
          <a:xfrm>
            <a:off x="8275320" y="5440680"/>
            <a:ext cx="1371600" cy="822960"/>
          </a:xfrm>
          <a:prstGeom prst="rect">
            <a:avLst/>
          </a:prstGeom>
          <a:noFill/>
          <a:ln/>
        </p:spPr>
        <p:txBody>
          <a:bodyPr wrap="square" lIns="0" tIns="0" rIns="0" bIns="0" rtlCol="0" anchor="ctr"/>
          <a:lstStyle/>
          <a:p>
            <a:pPr indent="0" marL="0">
              <a:buNone/>
            </a:pPr>
            <a:r>
              <a:rPr lang="en-US" sz="2800" b="1" dirty="0">
                <a:solidFill>
                  <a:srgbClr val="FF4F81"/>
                </a:solidFill>
                <a:latin typeface="+mj-lt" pitchFamily="34" charset="0"/>
                <a:ea typeface="+mj-lt" pitchFamily="34" charset="-122"/>
                <a:cs typeface="+mj-lt" pitchFamily="34" charset="-120"/>
              </a:rPr>
              <a:t>10/10</a:t>
            </a:r>
            <a:endParaRPr lang="en-US" sz="2800" dirty="0"/>
          </a:p>
        </p:txBody>
      </p:sp>
      <p:sp>
        <p:nvSpPr>
          <p:cNvPr id="40" name="Text 38"/>
          <p:cNvSpPr txBox="1"/>
          <p:nvPr/>
        </p:nvSpPr>
        <p:spPr>
          <a:xfrm>
            <a:off x="9646920" y="5440680"/>
            <a:ext cx="1874520" cy="822960"/>
          </a:xfrm>
          <a:prstGeom prst="rect">
            <a:avLst/>
          </a:prstGeom>
          <a:noFill/>
          <a:ln/>
        </p:spPr>
        <p:txBody>
          <a:bodyPr wrap="square" lIns="0" tIns="0" rIns="0" bIns="0" rtlCol="0" anchor="ctr"/>
          <a:lstStyle/>
          <a:p>
            <a:pPr indent="0" marL="0">
              <a:buNone/>
            </a:pPr>
            <a:r>
              <a:rPr lang="en-US" sz="1300" dirty="0">
                <a:solidFill>
                  <a:schemeClr val="bg1"/>
                </a:solidFill>
              </a:rPr>
              <a:t>pics de gaz, en 0,2 min</a:t>
            </a:r>
            <a:endParaRPr lang="en-US" sz="13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578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urtitre"/>
          <p:cNvSpPr/>
          <p:nvPr/>
        </p:nvSpPr>
        <p:spPr>
          <a:xfrm>
            <a:off x="548640" y="384048"/>
            <a:ext cx="1320394" cy="292608"/>
          </a:xfrm>
          <a:prstGeom prst="roundRect">
            <a:avLst>
              <a:gd name="adj" fmla="val 50000"/>
            </a:avLst>
          </a:prstGeom>
          <a:solidFill>
            <a:srgbClr val="6C3BFF"/>
          </a:solidFill>
          <a:ln/>
        </p:spPr>
      </p:sp>
      <p:sp>
        <p:nvSpPr>
          <p:cNvPr id="3" name="Text 1"/>
          <p:cNvSpPr txBox="1"/>
          <p:nvPr/>
        </p:nvSpPr>
        <p:spPr>
          <a:xfrm>
            <a:off x="548640" y="384048"/>
            <a:ext cx="1320394"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CYBERSÉCURITÉ</a:t>
            </a:r>
            <a:endParaRPr lang="en-US" sz="1100" dirty="0"/>
          </a:p>
        </p:txBody>
      </p:sp>
      <p:sp>
        <p:nvSpPr>
          <p:cNvPr id="4" name="Text 0"/>
          <p:cNvSpPr/>
          <p:nvPr>
            <p:ph idx="100" type="title" hasCustomPrompt="1"/>
          </p:nvPr>
        </p:nvSpPr>
        <p:spPr>
          <a:xfrm>
            <a:off x="548640" y="749808"/>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Défense en profondeur</a:t>
            </a:r>
            <a:endParaRPr lang="en-US" sz="3400" dirty="0"/>
          </a:p>
        </p:txBody>
      </p:sp>
      <p:sp>
        <p:nvSpPr>
          <p:cNvPr id="5" name="TLS vérifié par le nœud"/>
          <p:cNvSpPr/>
          <p:nvPr/>
        </p:nvSpPr>
        <p:spPr>
          <a:xfrm>
            <a:off x="548640" y="1783080"/>
            <a:ext cx="3566160" cy="2011680"/>
          </a:xfrm>
          <a:prstGeom prst="roundRect">
            <a:avLst>
              <a:gd name="adj" fmla="val 6818"/>
            </a:avLst>
          </a:prstGeom>
          <a:solidFill>
            <a:srgbClr val="2B1B6B"/>
          </a:solidFill>
          <a:ln/>
          <a:effectLst>
            <a:outerShdw sx="100000" sy="100000" kx="0" ky="0" algn="bl" rotWithShape="0" blurRad="127000" dist="38100" dir="5400000">
              <a:srgbClr val="000000">
                <a:alpha val="20000"/>
              </a:srgbClr>
            </a:outerShdw>
          </a:effectLst>
        </p:spPr>
      </p:sp>
      <p:sp>
        <p:nvSpPr>
          <p:cNvPr id="6" name="Pastille FaLock"/>
          <p:cNvSpPr/>
          <p:nvPr/>
        </p:nvSpPr>
        <p:spPr>
          <a:xfrm>
            <a:off x="777240" y="1984248"/>
            <a:ext cx="594360" cy="594360"/>
          </a:xfrm>
          <a:prstGeom prst="ellipse">
            <a:avLst/>
          </a:prstGeom>
          <a:solidFill>
            <a:srgbClr val="00C9B7"/>
          </a:solidFill>
          <a:ln/>
        </p:spPr>
      </p:sp>
      <p:pic>
        <p:nvPicPr>
          <p:cNvPr id="7" name="Image 0" descr="FaLock">    </p:cNvPr>
          <p:cNvPicPr>
            <a:picLocks noChangeAspect="1"/>
          </p:cNvPicPr>
          <p:nvPr/>
        </p:nvPicPr>
        <p:blipFill>
          <a:blip r:embed="rId1"/>
          <a:stretch>
            <a:fillRect/>
          </a:stretch>
        </p:blipFill>
        <p:spPr>
          <a:xfrm>
            <a:off x="925830" y="2132838"/>
            <a:ext cx="297180" cy="297180"/>
          </a:xfrm>
          <a:prstGeom prst="rect">
            <a:avLst/>
          </a:prstGeom>
        </p:spPr>
      </p:pic>
      <p:sp>
        <p:nvSpPr>
          <p:cNvPr id="8" name="Text 5"/>
          <p:cNvSpPr txBox="1"/>
          <p:nvPr/>
        </p:nvSpPr>
        <p:spPr>
          <a:xfrm>
            <a:off x="1554480" y="1984248"/>
            <a:ext cx="2423160" cy="594360"/>
          </a:xfrm>
          <a:prstGeom prst="rect">
            <a:avLst/>
          </a:prstGeom>
          <a:noFill/>
          <a:ln/>
        </p:spPr>
        <p:txBody>
          <a:bodyPr wrap="square" lIns="0" tIns="0" rIns="0" bIns="0" rtlCol="0" anchor="ctr"/>
          <a:lstStyle/>
          <a:p>
            <a:pPr indent="0" marL="0">
              <a:buNone/>
            </a:pPr>
            <a:r>
              <a:rPr lang="en-US" sz="1700" b="1" dirty="0">
                <a:solidFill>
                  <a:schemeClr val="bg1"/>
                </a:solidFill>
              </a:rPr>
              <a:t>TLS vérifié par le nœud</a:t>
            </a:r>
            <a:endParaRPr lang="en-US" sz="1700" dirty="0"/>
          </a:p>
        </p:txBody>
      </p:sp>
      <p:sp>
        <p:nvSpPr>
          <p:cNvPr id="9" name="Text 6"/>
          <p:cNvSpPr txBox="1"/>
          <p:nvPr/>
        </p:nvSpPr>
        <p:spPr>
          <a:xfrm>
            <a:off x="777240" y="2743200"/>
            <a:ext cx="3108960" cy="1005840"/>
          </a:xfrm>
          <a:prstGeom prst="rect">
            <a:avLst/>
          </a:prstGeom>
          <a:noFill/>
          <a:ln/>
        </p:spPr>
        <p:txBody>
          <a:bodyPr wrap="square" lIns="0" tIns="0" rIns="0" bIns="0" rtlCol="0" anchor="t"/>
          <a:lstStyle/>
          <a:p>
            <a:pPr indent="0" marL="0">
              <a:buNone/>
            </a:pPr>
            <a:r>
              <a:rPr lang="en-US" sz="1500" dirty="0">
                <a:solidFill>
                  <a:srgbClr val="B9B3E6"/>
                </a:solidFill>
              </a:rPr>
              <a:t>CA locale embarquée dans l'ESP32 : un faux broker est refusé.</a:t>
            </a:r>
            <a:endParaRPr lang="en-US" sz="1500" dirty="0"/>
          </a:p>
        </p:txBody>
      </p:sp>
      <p:sp>
        <p:nvSpPr>
          <p:cNvPr id="10" name="Un compte + ACL par nœud"/>
          <p:cNvSpPr/>
          <p:nvPr/>
        </p:nvSpPr>
        <p:spPr>
          <a:xfrm>
            <a:off x="4297680" y="1783080"/>
            <a:ext cx="3566160" cy="2011680"/>
          </a:xfrm>
          <a:prstGeom prst="roundRect">
            <a:avLst>
              <a:gd name="adj" fmla="val 6818"/>
            </a:avLst>
          </a:prstGeom>
          <a:solidFill>
            <a:srgbClr val="2B1B6B"/>
          </a:solidFill>
          <a:ln/>
          <a:effectLst>
            <a:outerShdw sx="100000" sy="100000" kx="0" ky="0" algn="bl" rotWithShape="0" blurRad="127000" dist="38100" dir="5400000">
              <a:srgbClr val="000000">
                <a:alpha val="20000"/>
              </a:srgbClr>
            </a:outerShdw>
          </a:effectLst>
        </p:spPr>
      </p:sp>
      <p:sp>
        <p:nvSpPr>
          <p:cNvPr id="11" name="Pastille FaKey"/>
          <p:cNvSpPr/>
          <p:nvPr/>
        </p:nvSpPr>
        <p:spPr>
          <a:xfrm>
            <a:off x="4526280" y="1984248"/>
            <a:ext cx="594360" cy="594360"/>
          </a:xfrm>
          <a:prstGeom prst="ellipse">
            <a:avLst/>
          </a:prstGeom>
          <a:solidFill>
            <a:srgbClr val="FFB400"/>
          </a:solidFill>
          <a:ln/>
        </p:spPr>
      </p:sp>
      <p:pic>
        <p:nvPicPr>
          <p:cNvPr id="12" name="Image 1" descr="FaKey">    </p:cNvPr>
          <p:cNvPicPr>
            <a:picLocks noChangeAspect="1"/>
          </p:cNvPicPr>
          <p:nvPr/>
        </p:nvPicPr>
        <p:blipFill>
          <a:blip r:embed="rId2"/>
          <a:stretch>
            <a:fillRect/>
          </a:stretch>
        </p:blipFill>
        <p:spPr>
          <a:xfrm>
            <a:off x="4674870" y="2132838"/>
            <a:ext cx="297180" cy="297180"/>
          </a:xfrm>
          <a:prstGeom prst="rect">
            <a:avLst/>
          </a:prstGeom>
        </p:spPr>
      </p:pic>
      <p:sp>
        <p:nvSpPr>
          <p:cNvPr id="13" name="Text 9"/>
          <p:cNvSpPr txBox="1"/>
          <p:nvPr/>
        </p:nvSpPr>
        <p:spPr>
          <a:xfrm>
            <a:off x="5303520" y="1984248"/>
            <a:ext cx="2423160" cy="594360"/>
          </a:xfrm>
          <a:prstGeom prst="rect">
            <a:avLst/>
          </a:prstGeom>
          <a:noFill/>
          <a:ln/>
        </p:spPr>
        <p:txBody>
          <a:bodyPr wrap="square" lIns="0" tIns="0" rIns="0" bIns="0" rtlCol="0" anchor="ctr"/>
          <a:lstStyle/>
          <a:p>
            <a:pPr indent="0" marL="0">
              <a:buNone/>
            </a:pPr>
            <a:r>
              <a:rPr lang="en-US" sz="1700" b="1" dirty="0">
                <a:solidFill>
                  <a:schemeClr val="bg1"/>
                </a:solidFill>
              </a:rPr>
              <a:t>Un compte + ACL par nœud</a:t>
            </a:r>
            <a:endParaRPr lang="en-US" sz="1700" dirty="0"/>
          </a:p>
        </p:txBody>
      </p:sp>
      <p:sp>
        <p:nvSpPr>
          <p:cNvPr id="14" name="Text 10"/>
          <p:cNvSpPr txBox="1"/>
          <p:nvPr/>
        </p:nvSpPr>
        <p:spPr>
          <a:xfrm>
            <a:off x="4526280" y="2743200"/>
            <a:ext cx="3108960" cy="1005840"/>
          </a:xfrm>
          <a:prstGeom prst="rect">
            <a:avLst/>
          </a:prstGeom>
          <a:noFill/>
          <a:ln/>
        </p:spPr>
        <p:txBody>
          <a:bodyPr wrap="square" lIns="0" tIns="0" rIns="0" bIns="0" rtlCol="0" anchor="t"/>
          <a:lstStyle/>
          <a:p>
            <a:pPr indent="0" marL="0">
              <a:buNone/>
            </a:pPr>
            <a:r>
              <a:rPr lang="en-US" sz="1500" dirty="0">
                <a:solidFill>
                  <a:srgbClr val="B9B3E6"/>
                </a:solidFill>
              </a:rPr>
              <a:t>Impossible de publier au nom d'un autre. Seul le backend écrit sur /cmd.</a:t>
            </a:r>
            <a:endParaRPr lang="en-US" sz="1500" dirty="0"/>
          </a:p>
        </p:txBody>
      </p:sp>
      <p:sp>
        <p:nvSpPr>
          <p:cNvPr id="15" name="Validation à l'entrée"/>
          <p:cNvSpPr/>
          <p:nvPr/>
        </p:nvSpPr>
        <p:spPr>
          <a:xfrm>
            <a:off x="8046720" y="1783080"/>
            <a:ext cx="3566160" cy="2011680"/>
          </a:xfrm>
          <a:prstGeom prst="roundRect">
            <a:avLst>
              <a:gd name="adj" fmla="val 6818"/>
            </a:avLst>
          </a:prstGeom>
          <a:solidFill>
            <a:srgbClr val="2B1B6B"/>
          </a:solidFill>
          <a:ln/>
          <a:effectLst>
            <a:outerShdw sx="100000" sy="100000" kx="0" ky="0" algn="bl" rotWithShape="0" blurRad="127000" dist="38100" dir="5400000">
              <a:srgbClr val="000000">
                <a:alpha val="20000"/>
              </a:srgbClr>
            </a:outerShdw>
          </a:effectLst>
        </p:spPr>
      </p:sp>
      <p:sp>
        <p:nvSpPr>
          <p:cNvPr id="16" name="Pastille FaClipboardCheck"/>
          <p:cNvSpPr/>
          <p:nvPr/>
        </p:nvSpPr>
        <p:spPr>
          <a:xfrm>
            <a:off x="8275320" y="1984248"/>
            <a:ext cx="594360" cy="594360"/>
          </a:xfrm>
          <a:prstGeom prst="ellipse">
            <a:avLst/>
          </a:prstGeom>
          <a:solidFill>
            <a:srgbClr val="FF4F81"/>
          </a:solidFill>
          <a:ln/>
        </p:spPr>
      </p:sp>
      <p:pic>
        <p:nvPicPr>
          <p:cNvPr id="17" name="Image 2" descr="FaClipboardCheck">    </p:cNvPr>
          <p:cNvPicPr>
            <a:picLocks noChangeAspect="1"/>
          </p:cNvPicPr>
          <p:nvPr/>
        </p:nvPicPr>
        <p:blipFill>
          <a:blip r:embed="rId3"/>
          <a:stretch>
            <a:fillRect/>
          </a:stretch>
        </p:blipFill>
        <p:spPr>
          <a:xfrm>
            <a:off x="8423910" y="2132838"/>
            <a:ext cx="297180" cy="297180"/>
          </a:xfrm>
          <a:prstGeom prst="rect">
            <a:avLst/>
          </a:prstGeom>
        </p:spPr>
      </p:pic>
      <p:sp>
        <p:nvSpPr>
          <p:cNvPr id="18" name="Text 13"/>
          <p:cNvSpPr txBox="1"/>
          <p:nvPr/>
        </p:nvSpPr>
        <p:spPr>
          <a:xfrm>
            <a:off x="9052560" y="1984248"/>
            <a:ext cx="2423160" cy="594360"/>
          </a:xfrm>
          <a:prstGeom prst="rect">
            <a:avLst/>
          </a:prstGeom>
          <a:noFill/>
          <a:ln/>
        </p:spPr>
        <p:txBody>
          <a:bodyPr wrap="square" lIns="0" tIns="0" rIns="0" bIns="0" rtlCol="0" anchor="ctr"/>
          <a:lstStyle/>
          <a:p>
            <a:pPr indent="0" marL="0">
              <a:buNone/>
            </a:pPr>
            <a:r>
              <a:rPr lang="en-US" sz="1700" b="1" dirty="0">
                <a:solidFill>
                  <a:schemeClr val="bg1"/>
                </a:solidFill>
              </a:rPr>
              <a:t>Validation à l'entrée</a:t>
            </a:r>
            <a:endParaRPr lang="en-US" sz="1700" dirty="0"/>
          </a:p>
        </p:txBody>
      </p:sp>
      <p:sp>
        <p:nvSpPr>
          <p:cNvPr id="19" name="Text 14"/>
          <p:cNvSpPr txBox="1"/>
          <p:nvPr/>
        </p:nvSpPr>
        <p:spPr>
          <a:xfrm>
            <a:off x="8275320" y="2743200"/>
            <a:ext cx="3108960" cy="1005840"/>
          </a:xfrm>
          <a:prstGeom prst="rect">
            <a:avLst/>
          </a:prstGeom>
          <a:noFill/>
          <a:ln/>
        </p:spPr>
        <p:txBody>
          <a:bodyPr wrap="square" lIns="0" tIns="0" rIns="0" bIns="0" rtlCol="0" anchor="t"/>
          <a:lstStyle/>
          <a:p>
            <a:pPr indent="0" marL="0">
              <a:buNone/>
            </a:pPr>
            <a:r>
              <a:rPr lang="en-US" sz="1500" dirty="0">
                <a:solidFill>
                  <a:srgbClr val="B9B3E6"/>
                </a:solidFill>
              </a:rPr>
              <a:t>Format, plages, device_id = topic. Les messages louches sont rejetés et comptés.</a:t>
            </a:r>
            <a:endParaRPr lang="en-US" sz="1500" dirty="0"/>
          </a:p>
        </p:txBody>
      </p:sp>
      <p:sp>
        <p:nvSpPr>
          <p:cNvPr id="20" name="Moindre privilège"/>
          <p:cNvSpPr/>
          <p:nvPr/>
        </p:nvSpPr>
        <p:spPr>
          <a:xfrm>
            <a:off x="548640" y="3977640"/>
            <a:ext cx="3566160" cy="2011680"/>
          </a:xfrm>
          <a:prstGeom prst="roundRect">
            <a:avLst>
              <a:gd name="adj" fmla="val 6818"/>
            </a:avLst>
          </a:prstGeom>
          <a:solidFill>
            <a:srgbClr val="2B1B6B"/>
          </a:solidFill>
          <a:ln/>
          <a:effectLst>
            <a:outerShdw sx="100000" sy="100000" kx="0" ky="0" algn="bl" rotWithShape="0" blurRad="127000" dist="38100" dir="5400000">
              <a:srgbClr val="000000">
                <a:alpha val="20000"/>
              </a:srgbClr>
            </a:outerShdw>
          </a:effectLst>
        </p:spPr>
      </p:sp>
      <p:sp>
        <p:nvSpPr>
          <p:cNvPr id="21" name="Pastille FaUserSecret"/>
          <p:cNvSpPr/>
          <p:nvPr/>
        </p:nvSpPr>
        <p:spPr>
          <a:xfrm>
            <a:off x="777240" y="4178808"/>
            <a:ext cx="594360" cy="594360"/>
          </a:xfrm>
          <a:prstGeom prst="ellipse">
            <a:avLst/>
          </a:prstGeom>
          <a:solidFill>
            <a:srgbClr val="7ADB4F"/>
          </a:solidFill>
          <a:ln/>
        </p:spPr>
      </p:sp>
      <p:pic>
        <p:nvPicPr>
          <p:cNvPr id="22" name="Image 3" descr="FaUserSecret">    </p:cNvPr>
          <p:cNvPicPr>
            <a:picLocks noChangeAspect="1"/>
          </p:cNvPicPr>
          <p:nvPr/>
        </p:nvPicPr>
        <p:blipFill>
          <a:blip r:embed="rId4"/>
          <a:stretch>
            <a:fillRect/>
          </a:stretch>
        </p:blipFill>
        <p:spPr>
          <a:xfrm>
            <a:off x="925830" y="4327398"/>
            <a:ext cx="297180" cy="297180"/>
          </a:xfrm>
          <a:prstGeom prst="rect">
            <a:avLst/>
          </a:prstGeom>
        </p:spPr>
      </p:pic>
      <p:sp>
        <p:nvSpPr>
          <p:cNvPr id="23" name="Text 17"/>
          <p:cNvSpPr txBox="1"/>
          <p:nvPr/>
        </p:nvSpPr>
        <p:spPr>
          <a:xfrm>
            <a:off x="1554480" y="4178808"/>
            <a:ext cx="2423160" cy="594360"/>
          </a:xfrm>
          <a:prstGeom prst="rect">
            <a:avLst/>
          </a:prstGeom>
          <a:noFill/>
          <a:ln/>
        </p:spPr>
        <p:txBody>
          <a:bodyPr wrap="square" lIns="0" tIns="0" rIns="0" bIns="0" rtlCol="0" anchor="ctr"/>
          <a:lstStyle/>
          <a:p>
            <a:pPr indent="0" marL="0">
              <a:buNone/>
            </a:pPr>
            <a:r>
              <a:rPr lang="en-US" sz="1700" b="1" dirty="0">
                <a:solidFill>
                  <a:schemeClr val="bg1"/>
                </a:solidFill>
              </a:rPr>
              <a:t>Moindre privilège</a:t>
            </a:r>
            <a:endParaRPr lang="en-US" sz="1700" dirty="0"/>
          </a:p>
        </p:txBody>
      </p:sp>
      <p:sp>
        <p:nvSpPr>
          <p:cNvPr id="24" name="Text 18"/>
          <p:cNvSpPr txBox="1"/>
          <p:nvPr/>
        </p:nvSpPr>
        <p:spPr>
          <a:xfrm>
            <a:off x="777240" y="4937760"/>
            <a:ext cx="3108960" cy="1005840"/>
          </a:xfrm>
          <a:prstGeom prst="rect">
            <a:avLst/>
          </a:prstGeom>
          <a:noFill/>
          <a:ln/>
        </p:spPr>
        <p:txBody>
          <a:bodyPr wrap="square" lIns="0" tIns="0" rIns="0" bIns="0" rtlCol="0" anchor="t"/>
          <a:lstStyle/>
          <a:p>
            <a:pPr indent="0" marL="0">
              <a:buNone/>
            </a:pPr>
            <a:r>
              <a:rPr lang="en-US" sz="1500" dirty="0">
                <a:solidFill>
                  <a:srgbClr val="B9B3E6"/>
                </a:solidFill>
              </a:rPr>
              <a:t>Conteneurs non root, rôles writer / reader sur CouchDB, jetons opérateur / service.</a:t>
            </a:r>
            <a:endParaRPr lang="en-US" sz="1500" dirty="0"/>
          </a:p>
        </p:txBody>
      </p:sp>
      <p:sp>
        <p:nvSpPr>
          <p:cNvPr id="25" name="Surface minimale"/>
          <p:cNvSpPr/>
          <p:nvPr/>
        </p:nvSpPr>
        <p:spPr>
          <a:xfrm>
            <a:off x="4297680" y="3977640"/>
            <a:ext cx="3566160" cy="2011680"/>
          </a:xfrm>
          <a:prstGeom prst="roundRect">
            <a:avLst>
              <a:gd name="adj" fmla="val 6818"/>
            </a:avLst>
          </a:prstGeom>
          <a:solidFill>
            <a:srgbClr val="2B1B6B"/>
          </a:solidFill>
          <a:ln/>
          <a:effectLst>
            <a:outerShdw sx="100000" sy="100000" kx="0" ky="0" algn="bl" rotWithShape="0" blurRad="127000" dist="38100" dir="5400000">
              <a:srgbClr val="000000">
                <a:alpha val="20000"/>
              </a:srgbClr>
            </a:outerShdw>
          </a:effectLst>
        </p:spPr>
      </p:sp>
      <p:sp>
        <p:nvSpPr>
          <p:cNvPr id="26" name="Pastille FaNetworkWired"/>
          <p:cNvSpPr/>
          <p:nvPr/>
        </p:nvSpPr>
        <p:spPr>
          <a:xfrm>
            <a:off x="4526280" y="4178808"/>
            <a:ext cx="594360" cy="594360"/>
          </a:xfrm>
          <a:prstGeom prst="ellipse">
            <a:avLst/>
          </a:prstGeom>
          <a:solidFill>
            <a:srgbClr val="3D8BFF"/>
          </a:solidFill>
          <a:ln/>
        </p:spPr>
      </p:sp>
      <p:pic>
        <p:nvPicPr>
          <p:cNvPr id="27" name="Image 4" descr="FaNetworkWired">    </p:cNvPr>
          <p:cNvPicPr>
            <a:picLocks noChangeAspect="1"/>
          </p:cNvPicPr>
          <p:nvPr/>
        </p:nvPicPr>
        <p:blipFill>
          <a:blip r:embed="rId5"/>
          <a:stretch>
            <a:fillRect/>
          </a:stretch>
        </p:blipFill>
        <p:spPr>
          <a:xfrm>
            <a:off x="4674870" y="4327398"/>
            <a:ext cx="297180" cy="297180"/>
          </a:xfrm>
          <a:prstGeom prst="rect">
            <a:avLst/>
          </a:prstGeom>
        </p:spPr>
      </p:pic>
      <p:sp>
        <p:nvSpPr>
          <p:cNvPr id="28" name="Text 21"/>
          <p:cNvSpPr txBox="1"/>
          <p:nvPr/>
        </p:nvSpPr>
        <p:spPr>
          <a:xfrm>
            <a:off x="5303520" y="4178808"/>
            <a:ext cx="2423160" cy="594360"/>
          </a:xfrm>
          <a:prstGeom prst="rect">
            <a:avLst/>
          </a:prstGeom>
          <a:noFill/>
          <a:ln/>
        </p:spPr>
        <p:txBody>
          <a:bodyPr wrap="square" lIns="0" tIns="0" rIns="0" bIns="0" rtlCol="0" anchor="ctr"/>
          <a:lstStyle/>
          <a:p>
            <a:pPr indent="0" marL="0">
              <a:buNone/>
            </a:pPr>
            <a:r>
              <a:rPr lang="en-US" sz="1700" b="1" dirty="0">
                <a:solidFill>
                  <a:schemeClr val="bg1"/>
                </a:solidFill>
              </a:rPr>
              <a:t>Surface minimale</a:t>
            </a:r>
            <a:endParaRPr lang="en-US" sz="1700" dirty="0"/>
          </a:p>
        </p:txBody>
      </p:sp>
      <p:sp>
        <p:nvSpPr>
          <p:cNvPr id="29" name="Text 22"/>
          <p:cNvSpPr txBox="1"/>
          <p:nvPr/>
        </p:nvSpPr>
        <p:spPr>
          <a:xfrm>
            <a:off x="4526280" y="4937760"/>
            <a:ext cx="3108960" cy="1005840"/>
          </a:xfrm>
          <a:prstGeom prst="rect">
            <a:avLst/>
          </a:prstGeom>
          <a:noFill/>
          <a:ln/>
        </p:spPr>
        <p:txBody>
          <a:bodyPr wrap="square" lIns="0" tIns="0" rIns="0" bIns="0" rtlCol="0" anchor="t"/>
          <a:lstStyle/>
          <a:p>
            <a:pPr indent="0" marL="0">
              <a:buNone/>
            </a:pPr>
            <a:r>
              <a:rPr lang="en-US" sz="1500" dirty="0">
                <a:solidFill>
                  <a:srgbClr val="B9B3E6"/>
                </a:solidFill>
              </a:rPr>
              <a:t>1 seul port exposé, lié au hotspot. Dashboard sur la boucle locale.</a:t>
            </a:r>
            <a:endParaRPr lang="en-US" sz="1500" dirty="0"/>
          </a:p>
        </p:txBody>
      </p:sp>
      <p:sp>
        <p:nvSpPr>
          <p:cNvPr id="30" name="Chaîne d'approvisionnement"/>
          <p:cNvSpPr/>
          <p:nvPr/>
        </p:nvSpPr>
        <p:spPr>
          <a:xfrm>
            <a:off x="8046720" y="3977640"/>
            <a:ext cx="3566160" cy="2011680"/>
          </a:xfrm>
          <a:prstGeom prst="roundRect">
            <a:avLst>
              <a:gd name="adj" fmla="val 6818"/>
            </a:avLst>
          </a:prstGeom>
          <a:solidFill>
            <a:srgbClr val="2B1B6B"/>
          </a:solidFill>
          <a:ln/>
          <a:effectLst>
            <a:outerShdw sx="100000" sy="100000" kx="0" ky="0" algn="bl" rotWithShape="0" blurRad="127000" dist="38100" dir="5400000">
              <a:srgbClr val="000000">
                <a:alpha val="20000"/>
              </a:srgbClr>
            </a:outerShdw>
          </a:effectLst>
        </p:spPr>
      </p:sp>
      <p:sp>
        <p:nvSpPr>
          <p:cNvPr id="31" name="Pastille FaShieldAlt"/>
          <p:cNvSpPr/>
          <p:nvPr/>
        </p:nvSpPr>
        <p:spPr>
          <a:xfrm>
            <a:off x="8275320" y="4178808"/>
            <a:ext cx="594360" cy="594360"/>
          </a:xfrm>
          <a:prstGeom prst="ellipse">
            <a:avLst/>
          </a:prstGeom>
          <a:solidFill>
            <a:srgbClr val="6C3BFF"/>
          </a:solidFill>
          <a:ln/>
        </p:spPr>
      </p:sp>
      <p:pic>
        <p:nvPicPr>
          <p:cNvPr id="32" name="Image 5" descr="FaShieldAlt">    </p:cNvPr>
          <p:cNvPicPr>
            <a:picLocks noChangeAspect="1"/>
          </p:cNvPicPr>
          <p:nvPr/>
        </p:nvPicPr>
        <p:blipFill>
          <a:blip r:embed="rId6"/>
          <a:stretch>
            <a:fillRect/>
          </a:stretch>
        </p:blipFill>
        <p:spPr>
          <a:xfrm>
            <a:off x="8423910" y="4327398"/>
            <a:ext cx="297180" cy="297180"/>
          </a:xfrm>
          <a:prstGeom prst="rect">
            <a:avLst/>
          </a:prstGeom>
        </p:spPr>
      </p:pic>
      <p:sp>
        <p:nvSpPr>
          <p:cNvPr id="33" name="Text 25"/>
          <p:cNvSpPr txBox="1"/>
          <p:nvPr/>
        </p:nvSpPr>
        <p:spPr>
          <a:xfrm>
            <a:off x="9052560" y="4178808"/>
            <a:ext cx="2423160" cy="594360"/>
          </a:xfrm>
          <a:prstGeom prst="rect">
            <a:avLst/>
          </a:prstGeom>
          <a:noFill/>
          <a:ln/>
        </p:spPr>
        <p:txBody>
          <a:bodyPr wrap="square" lIns="0" tIns="0" rIns="0" bIns="0" rtlCol="0" anchor="ctr"/>
          <a:lstStyle/>
          <a:p>
            <a:pPr indent="0" marL="0">
              <a:buNone/>
            </a:pPr>
            <a:r>
              <a:rPr lang="en-US" sz="1700" b="1" dirty="0">
                <a:solidFill>
                  <a:schemeClr val="bg1"/>
                </a:solidFill>
              </a:rPr>
              <a:t>Chaîne d'approvisionnement</a:t>
            </a:r>
            <a:endParaRPr lang="en-US" sz="1700" dirty="0"/>
          </a:p>
        </p:txBody>
      </p:sp>
      <p:sp>
        <p:nvSpPr>
          <p:cNvPr id="34" name="Text 26"/>
          <p:cNvSpPr txBox="1"/>
          <p:nvPr/>
        </p:nvSpPr>
        <p:spPr>
          <a:xfrm>
            <a:off x="8275320" y="4937760"/>
            <a:ext cx="3108960" cy="1005840"/>
          </a:xfrm>
          <a:prstGeom prst="rect">
            <a:avLst/>
          </a:prstGeom>
          <a:noFill/>
          <a:ln/>
        </p:spPr>
        <p:txBody>
          <a:bodyPr wrap="square" lIns="0" tIns="0" rIns="0" bIns="0" rtlCol="0" anchor="t"/>
          <a:lstStyle/>
          <a:p>
            <a:pPr indent="0" marL="0">
              <a:buNone/>
            </a:pPr>
            <a:r>
              <a:rPr lang="en-US" sz="1500" dirty="0">
                <a:solidFill>
                  <a:srgbClr val="B9B3E6"/>
                </a:solidFill>
              </a:rPr>
              <a:t>Images épinglées par @sha256, secrets hors dépôt git.</a:t>
            </a:r>
            <a:endParaRPr lang="en-US" sz="15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9B3E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Anneau radar"/>
          <p:cNvSpPr/>
          <p:nvPr/>
        </p:nvSpPr>
        <p:spPr>
          <a:xfrm>
            <a:off x="11457432" y="-731520"/>
            <a:ext cx="1463040" cy="1463040"/>
          </a:xfrm>
          <a:prstGeom prst="ellipse">
            <a:avLst/>
          </a:prstGeom>
          <a:solidFill>
            <a:srgbClr val="FFFFFF">
              <a:alpha val="0"/>
            </a:srgbClr>
          </a:solidFill>
          <a:ln w="19050">
            <a:solidFill>
              <a:srgbClr val="00C9B7">
                <a:alpha val="35000"/>
              </a:srgbClr>
            </a:solidFill>
            <a:prstDash val="solid"/>
          </a:ln>
        </p:spPr>
      </p:sp>
      <p:sp>
        <p:nvSpPr>
          <p:cNvPr id="3" name="Anneau radar"/>
          <p:cNvSpPr/>
          <p:nvPr/>
        </p:nvSpPr>
        <p:spPr>
          <a:xfrm>
            <a:off x="11000232" y="-1188720"/>
            <a:ext cx="2377440" cy="2377440"/>
          </a:xfrm>
          <a:prstGeom prst="ellipse">
            <a:avLst/>
          </a:prstGeom>
          <a:solidFill>
            <a:srgbClr val="FFFFFF">
              <a:alpha val="0"/>
            </a:srgbClr>
          </a:solidFill>
          <a:ln w="19050">
            <a:solidFill>
              <a:srgbClr val="6C3BFF">
                <a:alpha val="35000"/>
              </a:srgbClr>
            </a:solidFill>
            <a:prstDash val="solid"/>
          </a:ln>
        </p:spPr>
      </p:sp>
      <p:sp>
        <p:nvSpPr>
          <p:cNvPr id="4" name="Anneau radar"/>
          <p:cNvSpPr/>
          <p:nvPr/>
        </p:nvSpPr>
        <p:spPr>
          <a:xfrm>
            <a:off x="10543032" y="-1645920"/>
            <a:ext cx="3291840" cy="3291840"/>
          </a:xfrm>
          <a:prstGeom prst="ellipse">
            <a:avLst/>
          </a:prstGeom>
          <a:solidFill>
            <a:srgbClr val="FFFFFF">
              <a:alpha val="0"/>
            </a:srgbClr>
          </a:solidFill>
          <a:ln w="19050">
            <a:solidFill>
              <a:srgbClr val="FF4F81">
                <a:alpha val="35000"/>
              </a:srgbClr>
            </a:solidFill>
            <a:prstDash val="solid"/>
          </a:ln>
        </p:spPr>
      </p:sp>
      <p:sp>
        <p:nvSpPr>
          <p:cNvPr id="5" name="Surtitre"/>
          <p:cNvSpPr/>
          <p:nvPr/>
        </p:nvSpPr>
        <p:spPr>
          <a:xfrm>
            <a:off x="548640" y="384048"/>
            <a:ext cx="1051560" cy="292608"/>
          </a:xfrm>
          <a:prstGeom prst="roundRect">
            <a:avLst>
              <a:gd name="adj" fmla="val 50000"/>
            </a:avLst>
          </a:prstGeom>
          <a:solidFill>
            <a:srgbClr val="7ADB4F"/>
          </a:solidFill>
          <a:ln/>
        </p:spPr>
      </p:sp>
      <p:sp>
        <p:nvSpPr>
          <p:cNvPr id="6" name="Text 4"/>
          <p:cNvSpPr txBox="1"/>
          <p:nvPr/>
        </p:nvSpPr>
        <p:spPr>
          <a:xfrm>
            <a:off x="548640" y="384048"/>
            <a:ext cx="1051560" cy="292608"/>
          </a:xfrm>
          <a:prstGeom prst="rect">
            <a:avLst/>
          </a:prstGeom>
          <a:noFill/>
          <a:ln/>
        </p:spPr>
        <p:txBody>
          <a:bodyPr wrap="square" lIns="0" tIns="0" rIns="0" bIns="0" rtlCol="0" anchor="ctr"/>
          <a:lstStyle/>
          <a:p>
            <a:pPr algn="ctr" indent="0" marL="0">
              <a:buNone/>
            </a:pPr>
            <a:r>
              <a:rPr lang="en-US" sz="1100" b="1" spc="100" kern="0" dirty="0">
                <a:solidFill>
                  <a:srgbClr val="120B2E"/>
                </a:solidFill>
              </a:rPr>
              <a:t>VALIDATION</a:t>
            </a:r>
            <a:endParaRPr lang="en-US" sz="1100" dirty="0"/>
          </a:p>
        </p:txBody>
      </p:sp>
      <p:sp>
        <p:nvSpPr>
          <p:cNvPr id="7" name="Text 0"/>
          <p:cNvSpPr/>
          <p:nvPr>
            <p:ph idx="100" type="title" hasCustomPrompt="1"/>
          </p:nvPr>
        </p:nvSpPr>
        <p:spPr>
          <a:xfrm>
            <a:off x="548640" y="749808"/>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Ce qu'on a essayé de casser</a:t>
            </a:r>
            <a:endParaRPr lang="en-US" sz="3400" dirty="0"/>
          </a:p>
        </p:txBody>
      </p:sp>
      <p:sp>
        <p:nvSpPr>
          <p:cNvPr id="8" name="Test Connexion TLS sans notre CA"/>
          <p:cNvSpPr/>
          <p:nvPr/>
        </p:nvSpPr>
        <p:spPr>
          <a:xfrm>
            <a:off x="548640" y="1783080"/>
            <a:ext cx="5440680" cy="914400"/>
          </a:xfrm>
          <a:prstGeom prst="roundRect">
            <a:avLst>
              <a:gd name="adj" fmla="val 15000"/>
            </a:avLst>
          </a:prstGeom>
          <a:solidFill>
            <a:srgbClr val="F3F0FF"/>
          </a:solidFill>
          <a:ln/>
        </p:spPr>
      </p:sp>
      <p:sp>
        <p:nvSpPr>
          <p:cNvPr id="9" name="Test réussi"/>
          <p:cNvSpPr/>
          <p:nvPr/>
        </p:nvSpPr>
        <p:spPr>
          <a:xfrm>
            <a:off x="731520" y="1984248"/>
            <a:ext cx="512064" cy="512064"/>
          </a:xfrm>
          <a:prstGeom prst="ellipse">
            <a:avLst/>
          </a:prstGeom>
          <a:solidFill>
            <a:srgbClr val="7ADB4F"/>
          </a:solidFill>
          <a:ln/>
        </p:spPr>
      </p:sp>
      <p:pic>
        <p:nvPicPr>
          <p:cNvPr id="10" name="Image 0" descr="Réussi">    </p:cNvPr>
          <p:cNvPicPr>
            <a:picLocks noChangeAspect="1"/>
          </p:cNvPicPr>
          <p:nvPr/>
        </p:nvPicPr>
        <p:blipFill>
          <a:blip r:embed="rId1"/>
          <a:stretch>
            <a:fillRect/>
          </a:stretch>
        </p:blipFill>
        <p:spPr>
          <a:xfrm>
            <a:off x="859536" y="2112264"/>
            <a:ext cx="256032" cy="256032"/>
          </a:xfrm>
          <a:prstGeom prst="rect">
            <a:avLst/>
          </a:prstGeom>
        </p:spPr>
      </p:pic>
      <p:sp>
        <p:nvSpPr>
          <p:cNvPr id="11" name="Text 8"/>
          <p:cNvSpPr txBox="1"/>
          <p:nvPr/>
        </p:nvSpPr>
        <p:spPr>
          <a:xfrm>
            <a:off x="1417320" y="1874520"/>
            <a:ext cx="2743200" cy="731520"/>
          </a:xfrm>
          <a:prstGeom prst="rect">
            <a:avLst/>
          </a:prstGeom>
          <a:noFill/>
          <a:ln/>
        </p:spPr>
        <p:txBody>
          <a:bodyPr wrap="square" lIns="0" tIns="0" rIns="0" bIns="0" rtlCol="0" anchor="ctr"/>
          <a:lstStyle/>
          <a:p>
            <a:pPr indent="0" marL="0">
              <a:buNone/>
            </a:pPr>
            <a:r>
              <a:rPr lang="en-US" sz="1500" b="1" dirty="0">
                <a:solidFill>
                  <a:schemeClr val="tx1"/>
                </a:solidFill>
              </a:rPr>
              <a:t>Connexion TLS sans notre CA</a:t>
            </a:r>
            <a:endParaRPr lang="en-US" sz="1500" dirty="0"/>
          </a:p>
        </p:txBody>
      </p:sp>
      <p:sp>
        <p:nvSpPr>
          <p:cNvPr id="12" name="Étiquette"/>
          <p:cNvSpPr/>
          <p:nvPr/>
        </p:nvSpPr>
        <p:spPr>
          <a:xfrm>
            <a:off x="4297680" y="2057400"/>
            <a:ext cx="1508760" cy="365760"/>
          </a:xfrm>
          <a:prstGeom prst="roundRect">
            <a:avLst>
              <a:gd name="adj" fmla="val 50000"/>
            </a:avLst>
          </a:prstGeom>
          <a:solidFill>
            <a:srgbClr val="120B2E"/>
          </a:solidFill>
          <a:ln/>
        </p:spPr>
      </p:sp>
      <p:sp>
        <p:nvSpPr>
          <p:cNvPr id="13" name="Text 10"/>
          <p:cNvSpPr txBox="1"/>
          <p:nvPr/>
        </p:nvSpPr>
        <p:spPr>
          <a:xfrm>
            <a:off x="4297680" y="2057400"/>
            <a:ext cx="1508760" cy="365760"/>
          </a:xfrm>
          <a:prstGeom prst="rect">
            <a:avLst/>
          </a:prstGeom>
          <a:noFill/>
          <a:ln/>
        </p:spPr>
        <p:txBody>
          <a:bodyPr wrap="square" lIns="0" tIns="0" rIns="0" bIns="0" rtlCol="0" anchor="ctr"/>
          <a:lstStyle/>
          <a:p>
            <a:pPr algn="ctr" indent="0" marL="0">
              <a:buNone/>
            </a:pPr>
            <a:r>
              <a:rPr lang="en-US" sz="1200" b="1" dirty="0">
                <a:solidFill>
                  <a:srgbClr val="7ADB4F"/>
                </a:solidFill>
              </a:rPr>
              <a:t>refusée</a:t>
            </a:r>
            <a:endParaRPr lang="en-US" sz="1200" dirty="0"/>
          </a:p>
        </p:txBody>
      </p:sp>
      <p:sp>
        <p:nvSpPr>
          <p:cNvPr id="14" name="Test Broker : anonyme, mauvais mot de passe"/>
          <p:cNvSpPr/>
          <p:nvPr/>
        </p:nvSpPr>
        <p:spPr>
          <a:xfrm>
            <a:off x="6172200" y="1783080"/>
            <a:ext cx="5440680" cy="914400"/>
          </a:xfrm>
          <a:prstGeom prst="roundRect">
            <a:avLst>
              <a:gd name="adj" fmla="val 15000"/>
            </a:avLst>
          </a:prstGeom>
          <a:solidFill>
            <a:srgbClr val="F3F0FF"/>
          </a:solidFill>
          <a:ln/>
        </p:spPr>
      </p:sp>
      <p:sp>
        <p:nvSpPr>
          <p:cNvPr id="15" name="Test réussi"/>
          <p:cNvSpPr/>
          <p:nvPr/>
        </p:nvSpPr>
        <p:spPr>
          <a:xfrm>
            <a:off x="6355080" y="1984248"/>
            <a:ext cx="512064" cy="512064"/>
          </a:xfrm>
          <a:prstGeom prst="ellipse">
            <a:avLst/>
          </a:prstGeom>
          <a:solidFill>
            <a:srgbClr val="7ADB4F"/>
          </a:solidFill>
          <a:ln/>
        </p:spPr>
      </p:sp>
      <p:pic>
        <p:nvPicPr>
          <p:cNvPr id="16" name="Image 1" descr="Réussi">    </p:cNvPr>
          <p:cNvPicPr>
            <a:picLocks noChangeAspect="1"/>
          </p:cNvPicPr>
          <p:nvPr/>
        </p:nvPicPr>
        <p:blipFill>
          <a:blip r:embed="rId2"/>
          <a:stretch>
            <a:fillRect/>
          </a:stretch>
        </p:blipFill>
        <p:spPr>
          <a:xfrm>
            <a:off x="6483096" y="2112264"/>
            <a:ext cx="256032" cy="256032"/>
          </a:xfrm>
          <a:prstGeom prst="rect">
            <a:avLst/>
          </a:prstGeom>
        </p:spPr>
      </p:pic>
      <p:sp>
        <p:nvSpPr>
          <p:cNvPr id="17" name="Text 13"/>
          <p:cNvSpPr txBox="1"/>
          <p:nvPr/>
        </p:nvSpPr>
        <p:spPr>
          <a:xfrm>
            <a:off x="7040880" y="1874520"/>
            <a:ext cx="2743200" cy="731520"/>
          </a:xfrm>
          <a:prstGeom prst="rect">
            <a:avLst/>
          </a:prstGeom>
          <a:noFill/>
          <a:ln/>
        </p:spPr>
        <p:txBody>
          <a:bodyPr wrap="square" lIns="0" tIns="0" rIns="0" bIns="0" rtlCol="0" anchor="ctr"/>
          <a:lstStyle/>
          <a:p>
            <a:pPr indent="0" marL="0">
              <a:buNone/>
            </a:pPr>
            <a:r>
              <a:rPr lang="en-US" sz="1500" b="1" dirty="0">
                <a:solidFill>
                  <a:schemeClr val="tx1"/>
                </a:solidFill>
              </a:rPr>
              <a:t>Broker : anonyme, mauvais mot de passe</a:t>
            </a:r>
            <a:endParaRPr lang="en-US" sz="1500" dirty="0"/>
          </a:p>
        </p:txBody>
      </p:sp>
      <p:sp>
        <p:nvSpPr>
          <p:cNvPr id="18" name="Étiquette"/>
          <p:cNvSpPr/>
          <p:nvPr/>
        </p:nvSpPr>
        <p:spPr>
          <a:xfrm>
            <a:off x="9921240" y="2057400"/>
            <a:ext cx="1508760" cy="365760"/>
          </a:xfrm>
          <a:prstGeom prst="roundRect">
            <a:avLst>
              <a:gd name="adj" fmla="val 50000"/>
            </a:avLst>
          </a:prstGeom>
          <a:solidFill>
            <a:srgbClr val="120B2E"/>
          </a:solidFill>
          <a:ln/>
        </p:spPr>
      </p:sp>
      <p:sp>
        <p:nvSpPr>
          <p:cNvPr id="19" name="Text 15"/>
          <p:cNvSpPr txBox="1"/>
          <p:nvPr/>
        </p:nvSpPr>
        <p:spPr>
          <a:xfrm>
            <a:off x="9921240" y="2057400"/>
            <a:ext cx="1508760" cy="365760"/>
          </a:xfrm>
          <a:prstGeom prst="rect">
            <a:avLst/>
          </a:prstGeom>
          <a:noFill/>
          <a:ln/>
        </p:spPr>
        <p:txBody>
          <a:bodyPr wrap="square" lIns="0" tIns="0" rIns="0" bIns="0" rtlCol="0" anchor="ctr"/>
          <a:lstStyle/>
          <a:p>
            <a:pPr algn="ctr" indent="0" marL="0">
              <a:buNone/>
            </a:pPr>
            <a:r>
              <a:rPr lang="en-US" sz="1200" b="1" dirty="0">
                <a:solidFill>
                  <a:srgbClr val="7ADB4F"/>
                </a:solidFill>
              </a:rPr>
              <a:t>refusés</a:t>
            </a:r>
            <a:endParaRPr lang="en-US" sz="1200" dirty="0"/>
          </a:p>
        </p:txBody>
      </p:sp>
      <p:sp>
        <p:nvSpPr>
          <p:cNvPr id="20" name="Test Un nœud publie au nom d'un autre"/>
          <p:cNvSpPr/>
          <p:nvPr/>
        </p:nvSpPr>
        <p:spPr>
          <a:xfrm>
            <a:off x="548640" y="2880360"/>
            <a:ext cx="5440680" cy="914400"/>
          </a:xfrm>
          <a:prstGeom prst="roundRect">
            <a:avLst>
              <a:gd name="adj" fmla="val 15000"/>
            </a:avLst>
          </a:prstGeom>
          <a:solidFill>
            <a:srgbClr val="F3F0FF"/>
          </a:solidFill>
          <a:ln/>
        </p:spPr>
      </p:sp>
      <p:sp>
        <p:nvSpPr>
          <p:cNvPr id="21" name="Test réussi"/>
          <p:cNvSpPr/>
          <p:nvPr/>
        </p:nvSpPr>
        <p:spPr>
          <a:xfrm>
            <a:off x="731520" y="3081528"/>
            <a:ext cx="512064" cy="512064"/>
          </a:xfrm>
          <a:prstGeom prst="ellipse">
            <a:avLst/>
          </a:prstGeom>
          <a:solidFill>
            <a:srgbClr val="7ADB4F"/>
          </a:solidFill>
          <a:ln/>
        </p:spPr>
      </p:sp>
      <p:pic>
        <p:nvPicPr>
          <p:cNvPr id="22" name="Image 2" descr="Réussi">    </p:cNvPr>
          <p:cNvPicPr>
            <a:picLocks noChangeAspect="1"/>
          </p:cNvPicPr>
          <p:nvPr/>
        </p:nvPicPr>
        <p:blipFill>
          <a:blip r:embed="rId3"/>
          <a:stretch>
            <a:fillRect/>
          </a:stretch>
        </p:blipFill>
        <p:spPr>
          <a:xfrm>
            <a:off x="859536" y="3209544"/>
            <a:ext cx="256032" cy="256032"/>
          </a:xfrm>
          <a:prstGeom prst="rect">
            <a:avLst/>
          </a:prstGeom>
        </p:spPr>
      </p:pic>
      <p:sp>
        <p:nvSpPr>
          <p:cNvPr id="23" name="Text 18"/>
          <p:cNvSpPr txBox="1"/>
          <p:nvPr/>
        </p:nvSpPr>
        <p:spPr>
          <a:xfrm>
            <a:off x="1417320" y="2971800"/>
            <a:ext cx="2743200" cy="731520"/>
          </a:xfrm>
          <a:prstGeom prst="rect">
            <a:avLst/>
          </a:prstGeom>
          <a:noFill/>
          <a:ln/>
        </p:spPr>
        <p:txBody>
          <a:bodyPr wrap="square" lIns="0" tIns="0" rIns="0" bIns="0" rtlCol="0" anchor="ctr"/>
          <a:lstStyle/>
          <a:p>
            <a:pPr indent="0" marL="0">
              <a:buNone/>
            </a:pPr>
            <a:r>
              <a:rPr lang="en-US" sz="1500" b="1" dirty="0">
                <a:solidFill>
                  <a:schemeClr val="tx1"/>
                </a:solidFill>
              </a:rPr>
              <a:t>Un nœud publie au nom d'un autre</a:t>
            </a:r>
            <a:endParaRPr lang="en-US" sz="1500" dirty="0"/>
          </a:p>
        </p:txBody>
      </p:sp>
      <p:sp>
        <p:nvSpPr>
          <p:cNvPr id="24" name="Étiquette"/>
          <p:cNvSpPr/>
          <p:nvPr/>
        </p:nvSpPr>
        <p:spPr>
          <a:xfrm>
            <a:off x="4297680" y="3154680"/>
            <a:ext cx="1508760" cy="365760"/>
          </a:xfrm>
          <a:prstGeom prst="roundRect">
            <a:avLst>
              <a:gd name="adj" fmla="val 50000"/>
            </a:avLst>
          </a:prstGeom>
          <a:solidFill>
            <a:srgbClr val="120B2E"/>
          </a:solidFill>
          <a:ln/>
        </p:spPr>
      </p:sp>
      <p:sp>
        <p:nvSpPr>
          <p:cNvPr id="25" name="Text 20"/>
          <p:cNvSpPr txBox="1"/>
          <p:nvPr/>
        </p:nvSpPr>
        <p:spPr>
          <a:xfrm>
            <a:off x="4297680" y="3154680"/>
            <a:ext cx="1508760" cy="365760"/>
          </a:xfrm>
          <a:prstGeom prst="rect">
            <a:avLst/>
          </a:prstGeom>
          <a:noFill/>
          <a:ln/>
        </p:spPr>
        <p:txBody>
          <a:bodyPr wrap="square" lIns="0" tIns="0" rIns="0" bIns="0" rtlCol="0" anchor="ctr"/>
          <a:lstStyle/>
          <a:p>
            <a:pPr algn="ctr" indent="0" marL="0">
              <a:buNone/>
            </a:pPr>
            <a:r>
              <a:rPr lang="en-US" sz="1200" b="1" dirty="0">
                <a:solidFill>
                  <a:srgbClr val="7ADB4F"/>
                </a:solidFill>
              </a:rPr>
              <a:t>bloqué</a:t>
            </a:r>
            <a:endParaRPr lang="en-US" sz="1200" dirty="0"/>
          </a:p>
        </p:txBody>
      </p:sp>
      <p:sp>
        <p:nvSpPr>
          <p:cNvPr id="26" name="Test device_id différent du topic"/>
          <p:cNvSpPr/>
          <p:nvPr/>
        </p:nvSpPr>
        <p:spPr>
          <a:xfrm>
            <a:off x="6172200" y="2880360"/>
            <a:ext cx="5440680" cy="914400"/>
          </a:xfrm>
          <a:prstGeom prst="roundRect">
            <a:avLst>
              <a:gd name="adj" fmla="val 15000"/>
            </a:avLst>
          </a:prstGeom>
          <a:solidFill>
            <a:srgbClr val="F3F0FF"/>
          </a:solidFill>
          <a:ln/>
        </p:spPr>
      </p:sp>
      <p:sp>
        <p:nvSpPr>
          <p:cNvPr id="27" name="Test réussi"/>
          <p:cNvSpPr/>
          <p:nvPr/>
        </p:nvSpPr>
        <p:spPr>
          <a:xfrm>
            <a:off x="6355080" y="3081528"/>
            <a:ext cx="512064" cy="512064"/>
          </a:xfrm>
          <a:prstGeom prst="ellipse">
            <a:avLst/>
          </a:prstGeom>
          <a:solidFill>
            <a:srgbClr val="7ADB4F"/>
          </a:solidFill>
          <a:ln/>
        </p:spPr>
      </p:sp>
      <p:pic>
        <p:nvPicPr>
          <p:cNvPr id="28" name="Image 3" descr="Réussi">    </p:cNvPr>
          <p:cNvPicPr>
            <a:picLocks noChangeAspect="1"/>
          </p:cNvPicPr>
          <p:nvPr/>
        </p:nvPicPr>
        <p:blipFill>
          <a:blip r:embed="rId4"/>
          <a:stretch>
            <a:fillRect/>
          </a:stretch>
        </p:blipFill>
        <p:spPr>
          <a:xfrm>
            <a:off x="6483096" y="3209544"/>
            <a:ext cx="256032" cy="256032"/>
          </a:xfrm>
          <a:prstGeom prst="rect">
            <a:avLst/>
          </a:prstGeom>
        </p:spPr>
      </p:pic>
      <p:sp>
        <p:nvSpPr>
          <p:cNvPr id="29" name="Text 23"/>
          <p:cNvSpPr txBox="1"/>
          <p:nvPr/>
        </p:nvSpPr>
        <p:spPr>
          <a:xfrm>
            <a:off x="7040880" y="2971800"/>
            <a:ext cx="2743200" cy="731520"/>
          </a:xfrm>
          <a:prstGeom prst="rect">
            <a:avLst/>
          </a:prstGeom>
          <a:noFill/>
          <a:ln/>
        </p:spPr>
        <p:txBody>
          <a:bodyPr wrap="square" lIns="0" tIns="0" rIns="0" bIns="0" rtlCol="0" anchor="ctr"/>
          <a:lstStyle/>
          <a:p>
            <a:pPr indent="0" marL="0">
              <a:buNone/>
            </a:pPr>
            <a:r>
              <a:rPr lang="en-US" sz="1500" b="1" dirty="0">
                <a:solidFill>
                  <a:schemeClr val="tx1"/>
                </a:solidFill>
              </a:rPr>
              <a:t>device_id différent du topic</a:t>
            </a:r>
            <a:endParaRPr lang="en-US" sz="1500" dirty="0"/>
          </a:p>
        </p:txBody>
      </p:sp>
      <p:sp>
        <p:nvSpPr>
          <p:cNvPr id="30" name="Étiquette"/>
          <p:cNvSpPr/>
          <p:nvPr/>
        </p:nvSpPr>
        <p:spPr>
          <a:xfrm>
            <a:off x="9921240" y="3154680"/>
            <a:ext cx="1508760" cy="365760"/>
          </a:xfrm>
          <a:prstGeom prst="roundRect">
            <a:avLst>
              <a:gd name="adj" fmla="val 50000"/>
            </a:avLst>
          </a:prstGeom>
          <a:solidFill>
            <a:srgbClr val="120B2E"/>
          </a:solidFill>
          <a:ln/>
        </p:spPr>
      </p:sp>
      <p:sp>
        <p:nvSpPr>
          <p:cNvPr id="31" name="Text 25"/>
          <p:cNvSpPr txBox="1"/>
          <p:nvPr/>
        </p:nvSpPr>
        <p:spPr>
          <a:xfrm>
            <a:off x="9921240" y="3154680"/>
            <a:ext cx="1508760" cy="365760"/>
          </a:xfrm>
          <a:prstGeom prst="rect">
            <a:avLst/>
          </a:prstGeom>
          <a:noFill/>
          <a:ln/>
        </p:spPr>
        <p:txBody>
          <a:bodyPr wrap="square" lIns="0" tIns="0" rIns="0" bIns="0" rtlCol="0" anchor="ctr"/>
          <a:lstStyle/>
          <a:p>
            <a:pPr algn="ctr" indent="0" marL="0">
              <a:buNone/>
            </a:pPr>
            <a:r>
              <a:rPr lang="en-US" sz="1200" b="1" dirty="0">
                <a:solidFill>
                  <a:srgbClr val="7ADB4F"/>
                </a:solidFill>
              </a:rPr>
              <a:t>rejeté + compté</a:t>
            </a:r>
            <a:endParaRPr lang="en-US" sz="1200" dirty="0"/>
          </a:p>
        </p:txBody>
      </p:sp>
      <p:sp>
        <p:nvSpPr>
          <p:cNvPr id="32" name="Test CouchDB : anonyme, écriture par ia"/>
          <p:cNvSpPr/>
          <p:nvPr/>
        </p:nvSpPr>
        <p:spPr>
          <a:xfrm>
            <a:off x="548640" y="3977640"/>
            <a:ext cx="5440680" cy="914400"/>
          </a:xfrm>
          <a:prstGeom prst="roundRect">
            <a:avLst>
              <a:gd name="adj" fmla="val 15000"/>
            </a:avLst>
          </a:prstGeom>
          <a:solidFill>
            <a:srgbClr val="F3F0FF"/>
          </a:solidFill>
          <a:ln/>
        </p:spPr>
      </p:sp>
      <p:sp>
        <p:nvSpPr>
          <p:cNvPr id="33" name="Test réussi"/>
          <p:cNvSpPr/>
          <p:nvPr/>
        </p:nvSpPr>
        <p:spPr>
          <a:xfrm>
            <a:off x="731520" y="4178808"/>
            <a:ext cx="512064" cy="512064"/>
          </a:xfrm>
          <a:prstGeom prst="ellipse">
            <a:avLst/>
          </a:prstGeom>
          <a:solidFill>
            <a:srgbClr val="7ADB4F"/>
          </a:solidFill>
          <a:ln/>
        </p:spPr>
      </p:sp>
      <p:pic>
        <p:nvPicPr>
          <p:cNvPr id="34" name="Image 4" descr="Réussi">    </p:cNvPr>
          <p:cNvPicPr>
            <a:picLocks noChangeAspect="1"/>
          </p:cNvPicPr>
          <p:nvPr/>
        </p:nvPicPr>
        <p:blipFill>
          <a:blip r:embed="rId5"/>
          <a:stretch>
            <a:fillRect/>
          </a:stretch>
        </p:blipFill>
        <p:spPr>
          <a:xfrm>
            <a:off x="859536" y="4306824"/>
            <a:ext cx="256032" cy="256032"/>
          </a:xfrm>
          <a:prstGeom prst="rect">
            <a:avLst/>
          </a:prstGeom>
        </p:spPr>
      </p:pic>
      <p:sp>
        <p:nvSpPr>
          <p:cNvPr id="35" name="Text 28"/>
          <p:cNvSpPr txBox="1"/>
          <p:nvPr/>
        </p:nvSpPr>
        <p:spPr>
          <a:xfrm>
            <a:off x="1417320" y="4069080"/>
            <a:ext cx="2743200" cy="731520"/>
          </a:xfrm>
          <a:prstGeom prst="rect">
            <a:avLst/>
          </a:prstGeom>
          <a:noFill/>
          <a:ln/>
        </p:spPr>
        <p:txBody>
          <a:bodyPr wrap="square" lIns="0" tIns="0" rIns="0" bIns="0" rtlCol="0" anchor="ctr"/>
          <a:lstStyle/>
          <a:p>
            <a:pPr indent="0" marL="0">
              <a:buNone/>
            </a:pPr>
            <a:r>
              <a:rPr lang="en-US" sz="1500" b="1" dirty="0">
                <a:solidFill>
                  <a:schemeClr val="tx1"/>
                </a:solidFill>
              </a:rPr>
              <a:t>CouchDB : anonyme, écriture par ia</a:t>
            </a:r>
            <a:endParaRPr lang="en-US" sz="1500" dirty="0"/>
          </a:p>
        </p:txBody>
      </p:sp>
      <p:sp>
        <p:nvSpPr>
          <p:cNvPr id="36" name="Étiquette"/>
          <p:cNvSpPr/>
          <p:nvPr/>
        </p:nvSpPr>
        <p:spPr>
          <a:xfrm>
            <a:off x="4297680" y="4251960"/>
            <a:ext cx="1508760" cy="365760"/>
          </a:xfrm>
          <a:prstGeom prst="roundRect">
            <a:avLst>
              <a:gd name="adj" fmla="val 50000"/>
            </a:avLst>
          </a:prstGeom>
          <a:solidFill>
            <a:srgbClr val="120B2E"/>
          </a:solidFill>
          <a:ln/>
        </p:spPr>
      </p:sp>
      <p:sp>
        <p:nvSpPr>
          <p:cNvPr id="37" name="Text 30"/>
          <p:cNvSpPr txBox="1"/>
          <p:nvPr/>
        </p:nvSpPr>
        <p:spPr>
          <a:xfrm>
            <a:off x="4297680" y="4251960"/>
            <a:ext cx="1508760" cy="365760"/>
          </a:xfrm>
          <a:prstGeom prst="rect">
            <a:avLst/>
          </a:prstGeom>
          <a:noFill/>
          <a:ln/>
        </p:spPr>
        <p:txBody>
          <a:bodyPr wrap="square" lIns="0" tIns="0" rIns="0" bIns="0" rtlCol="0" anchor="ctr"/>
          <a:lstStyle/>
          <a:p>
            <a:pPr algn="ctr" indent="0" marL="0">
              <a:buNone/>
            </a:pPr>
            <a:r>
              <a:rPr lang="en-US" sz="1200" b="1" dirty="0">
                <a:solidFill>
                  <a:srgbClr val="7ADB4F"/>
                </a:solidFill>
              </a:rPr>
              <a:t>401 / 403</a:t>
            </a:r>
            <a:endParaRPr lang="en-US" sz="1200" dirty="0"/>
          </a:p>
        </p:txBody>
      </p:sp>
      <p:sp>
        <p:nvSpPr>
          <p:cNvPr id="38" name="Test API : sans jeton, jeton service sur commande"/>
          <p:cNvSpPr/>
          <p:nvPr/>
        </p:nvSpPr>
        <p:spPr>
          <a:xfrm>
            <a:off x="6172200" y="3977640"/>
            <a:ext cx="5440680" cy="914400"/>
          </a:xfrm>
          <a:prstGeom prst="roundRect">
            <a:avLst>
              <a:gd name="adj" fmla="val 15000"/>
            </a:avLst>
          </a:prstGeom>
          <a:solidFill>
            <a:srgbClr val="F3F0FF"/>
          </a:solidFill>
          <a:ln/>
        </p:spPr>
      </p:sp>
      <p:sp>
        <p:nvSpPr>
          <p:cNvPr id="39" name="Test réussi"/>
          <p:cNvSpPr/>
          <p:nvPr/>
        </p:nvSpPr>
        <p:spPr>
          <a:xfrm>
            <a:off x="6355080" y="4178808"/>
            <a:ext cx="512064" cy="512064"/>
          </a:xfrm>
          <a:prstGeom prst="ellipse">
            <a:avLst/>
          </a:prstGeom>
          <a:solidFill>
            <a:srgbClr val="7ADB4F"/>
          </a:solidFill>
          <a:ln/>
        </p:spPr>
      </p:sp>
      <p:pic>
        <p:nvPicPr>
          <p:cNvPr id="40" name="Image 5" descr="Réussi">    </p:cNvPr>
          <p:cNvPicPr>
            <a:picLocks noChangeAspect="1"/>
          </p:cNvPicPr>
          <p:nvPr/>
        </p:nvPicPr>
        <p:blipFill>
          <a:blip r:embed="rId6"/>
          <a:stretch>
            <a:fillRect/>
          </a:stretch>
        </p:blipFill>
        <p:spPr>
          <a:xfrm>
            <a:off x="6483096" y="4306824"/>
            <a:ext cx="256032" cy="256032"/>
          </a:xfrm>
          <a:prstGeom prst="rect">
            <a:avLst/>
          </a:prstGeom>
        </p:spPr>
      </p:pic>
      <p:sp>
        <p:nvSpPr>
          <p:cNvPr id="41" name="Text 33"/>
          <p:cNvSpPr txBox="1"/>
          <p:nvPr/>
        </p:nvSpPr>
        <p:spPr>
          <a:xfrm>
            <a:off x="7040880" y="4069080"/>
            <a:ext cx="2743200" cy="731520"/>
          </a:xfrm>
          <a:prstGeom prst="rect">
            <a:avLst/>
          </a:prstGeom>
          <a:noFill/>
          <a:ln/>
        </p:spPr>
        <p:txBody>
          <a:bodyPr wrap="square" lIns="0" tIns="0" rIns="0" bIns="0" rtlCol="0" anchor="ctr"/>
          <a:lstStyle/>
          <a:p>
            <a:pPr indent="0" marL="0">
              <a:buNone/>
            </a:pPr>
            <a:r>
              <a:rPr lang="en-US" sz="1500" b="1" dirty="0">
                <a:solidFill>
                  <a:schemeClr val="tx1"/>
                </a:solidFill>
              </a:rPr>
              <a:t>API : sans jeton, jeton service sur commande</a:t>
            </a:r>
            <a:endParaRPr lang="en-US" sz="1500" dirty="0"/>
          </a:p>
        </p:txBody>
      </p:sp>
      <p:sp>
        <p:nvSpPr>
          <p:cNvPr id="42" name="Étiquette"/>
          <p:cNvSpPr/>
          <p:nvPr/>
        </p:nvSpPr>
        <p:spPr>
          <a:xfrm>
            <a:off x="9921240" y="4251960"/>
            <a:ext cx="1508760" cy="365760"/>
          </a:xfrm>
          <a:prstGeom prst="roundRect">
            <a:avLst>
              <a:gd name="adj" fmla="val 50000"/>
            </a:avLst>
          </a:prstGeom>
          <a:solidFill>
            <a:srgbClr val="120B2E"/>
          </a:solidFill>
          <a:ln/>
        </p:spPr>
      </p:sp>
      <p:sp>
        <p:nvSpPr>
          <p:cNvPr id="43" name="Text 35"/>
          <p:cNvSpPr txBox="1"/>
          <p:nvPr/>
        </p:nvSpPr>
        <p:spPr>
          <a:xfrm>
            <a:off x="9921240" y="4251960"/>
            <a:ext cx="1508760" cy="365760"/>
          </a:xfrm>
          <a:prstGeom prst="rect">
            <a:avLst/>
          </a:prstGeom>
          <a:noFill/>
          <a:ln/>
        </p:spPr>
        <p:txBody>
          <a:bodyPr wrap="square" lIns="0" tIns="0" rIns="0" bIns="0" rtlCol="0" anchor="ctr"/>
          <a:lstStyle/>
          <a:p>
            <a:pPr algn="ctr" indent="0" marL="0">
              <a:buNone/>
            </a:pPr>
            <a:r>
              <a:rPr lang="en-US" sz="1200" b="1" dirty="0">
                <a:solidFill>
                  <a:srgbClr val="7ADB4F"/>
                </a:solidFill>
              </a:rPr>
              <a:t>401 / 403</a:t>
            </a:r>
            <a:endParaRPr lang="en-US" sz="1200" dirty="0"/>
          </a:p>
        </p:txBody>
      </p:sp>
      <p:sp>
        <p:nvSpPr>
          <p:cNvPr id="44" name="Test WebSocket : mauvais jeton, origine étrangère"/>
          <p:cNvSpPr/>
          <p:nvPr/>
        </p:nvSpPr>
        <p:spPr>
          <a:xfrm>
            <a:off x="548640" y="5074920"/>
            <a:ext cx="5440680" cy="914400"/>
          </a:xfrm>
          <a:prstGeom prst="roundRect">
            <a:avLst>
              <a:gd name="adj" fmla="val 15000"/>
            </a:avLst>
          </a:prstGeom>
          <a:solidFill>
            <a:srgbClr val="F3F0FF"/>
          </a:solidFill>
          <a:ln/>
        </p:spPr>
      </p:sp>
      <p:sp>
        <p:nvSpPr>
          <p:cNvPr id="45" name="Test réussi"/>
          <p:cNvSpPr/>
          <p:nvPr/>
        </p:nvSpPr>
        <p:spPr>
          <a:xfrm>
            <a:off x="731520" y="5276088"/>
            <a:ext cx="512064" cy="512064"/>
          </a:xfrm>
          <a:prstGeom prst="ellipse">
            <a:avLst/>
          </a:prstGeom>
          <a:solidFill>
            <a:srgbClr val="7ADB4F"/>
          </a:solidFill>
          <a:ln/>
        </p:spPr>
      </p:sp>
      <p:pic>
        <p:nvPicPr>
          <p:cNvPr id="46" name="Image 6" descr="Réussi">    </p:cNvPr>
          <p:cNvPicPr>
            <a:picLocks noChangeAspect="1"/>
          </p:cNvPicPr>
          <p:nvPr/>
        </p:nvPicPr>
        <p:blipFill>
          <a:blip r:embed="rId7"/>
          <a:stretch>
            <a:fillRect/>
          </a:stretch>
        </p:blipFill>
        <p:spPr>
          <a:xfrm>
            <a:off x="859536" y="5404104"/>
            <a:ext cx="256032" cy="256032"/>
          </a:xfrm>
          <a:prstGeom prst="rect">
            <a:avLst/>
          </a:prstGeom>
        </p:spPr>
      </p:pic>
      <p:sp>
        <p:nvSpPr>
          <p:cNvPr id="47" name="Text 38"/>
          <p:cNvSpPr txBox="1"/>
          <p:nvPr/>
        </p:nvSpPr>
        <p:spPr>
          <a:xfrm>
            <a:off x="1417320" y="5166360"/>
            <a:ext cx="2743200" cy="731520"/>
          </a:xfrm>
          <a:prstGeom prst="rect">
            <a:avLst/>
          </a:prstGeom>
          <a:noFill/>
          <a:ln/>
        </p:spPr>
        <p:txBody>
          <a:bodyPr wrap="square" lIns="0" tIns="0" rIns="0" bIns="0" rtlCol="0" anchor="ctr"/>
          <a:lstStyle/>
          <a:p>
            <a:pPr indent="0" marL="0">
              <a:buNone/>
            </a:pPr>
            <a:r>
              <a:rPr lang="en-US" sz="1500" b="1" dirty="0">
                <a:solidFill>
                  <a:schemeClr val="tx1"/>
                </a:solidFill>
              </a:rPr>
              <a:t>WebSocket : mauvais jeton, origine étrangère</a:t>
            </a:r>
            <a:endParaRPr lang="en-US" sz="1500" dirty="0"/>
          </a:p>
        </p:txBody>
      </p:sp>
      <p:sp>
        <p:nvSpPr>
          <p:cNvPr id="48" name="Étiquette"/>
          <p:cNvSpPr/>
          <p:nvPr/>
        </p:nvSpPr>
        <p:spPr>
          <a:xfrm>
            <a:off x="4297680" y="5349240"/>
            <a:ext cx="1508760" cy="365760"/>
          </a:xfrm>
          <a:prstGeom prst="roundRect">
            <a:avLst>
              <a:gd name="adj" fmla="val 50000"/>
            </a:avLst>
          </a:prstGeom>
          <a:solidFill>
            <a:srgbClr val="120B2E"/>
          </a:solidFill>
          <a:ln/>
        </p:spPr>
      </p:sp>
      <p:sp>
        <p:nvSpPr>
          <p:cNvPr id="49" name="Text 40"/>
          <p:cNvSpPr txBox="1"/>
          <p:nvPr/>
        </p:nvSpPr>
        <p:spPr>
          <a:xfrm>
            <a:off x="4297680" y="5349240"/>
            <a:ext cx="1508760" cy="365760"/>
          </a:xfrm>
          <a:prstGeom prst="rect">
            <a:avLst/>
          </a:prstGeom>
          <a:noFill/>
          <a:ln/>
        </p:spPr>
        <p:txBody>
          <a:bodyPr wrap="square" lIns="0" tIns="0" rIns="0" bIns="0" rtlCol="0" anchor="ctr"/>
          <a:lstStyle/>
          <a:p>
            <a:pPr algn="ctr" indent="0" marL="0">
              <a:buNone/>
            </a:pPr>
            <a:r>
              <a:rPr lang="en-US" sz="1200" b="1" dirty="0">
                <a:solidFill>
                  <a:srgbClr val="7ADB4F"/>
                </a:solidFill>
              </a:rPr>
              <a:t>401 / 403</a:t>
            </a:r>
            <a:endParaRPr lang="en-US" sz="1200" dirty="0"/>
          </a:p>
        </p:txBody>
      </p:sp>
      <p:sp>
        <p:nvSpPr>
          <p:cNvPr id="50" name="Test Flux caméra sans clé (avec clé)"/>
          <p:cNvSpPr/>
          <p:nvPr/>
        </p:nvSpPr>
        <p:spPr>
          <a:xfrm>
            <a:off x="6172200" y="5074920"/>
            <a:ext cx="5440680" cy="914400"/>
          </a:xfrm>
          <a:prstGeom prst="roundRect">
            <a:avLst>
              <a:gd name="adj" fmla="val 15000"/>
            </a:avLst>
          </a:prstGeom>
          <a:solidFill>
            <a:srgbClr val="F3F0FF"/>
          </a:solidFill>
          <a:ln/>
        </p:spPr>
      </p:sp>
      <p:sp>
        <p:nvSpPr>
          <p:cNvPr id="51" name="Test réussi"/>
          <p:cNvSpPr/>
          <p:nvPr/>
        </p:nvSpPr>
        <p:spPr>
          <a:xfrm>
            <a:off x="6355080" y="5276088"/>
            <a:ext cx="512064" cy="512064"/>
          </a:xfrm>
          <a:prstGeom prst="ellipse">
            <a:avLst/>
          </a:prstGeom>
          <a:solidFill>
            <a:srgbClr val="7ADB4F"/>
          </a:solidFill>
          <a:ln/>
        </p:spPr>
      </p:sp>
      <p:pic>
        <p:nvPicPr>
          <p:cNvPr id="52" name="Image 7" descr="Réussi">    </p:cNvPr>
          <p:cNvPicPr>
            <a:picLocks noChangeAspect="1"/>
          </p:cNvPicPr>
          <p:nvPr/>
        </p:nvPicPr>
        <p:blipFill>
          <a:blip r:embed="rId8"/>
          <a:stretch>
            <a:fillRect/>
          </a:stretch>
        </p:blipFill>
        <p:spPr>
          <a:xfrm>
            <a:off x="6483096" y="5404104"/>
            <a:ext cx="256032" cy="256032"/>
          </a:xfrm>
          <a:prstGeom prst="rect">
            <a:avLst/>
          </a:prstGeom>
        </p:spPr>
      </p:pic>
      <p:sp>
        <p:nvSpPr>
          <p:cNvPr id="53" name="Text 43"/>
          <p:cNvSpPr txBox="1"/>
          <p:nvPr/>
        </p:nvSpPr>
        <p:spPr>
          <a:xfrm>
            <a:off x="7040880" y="5166360"/>
            <a:ext cx="2743200" cy="731520"/>
          </a:xfrm>
          <a:prstGeom prst="rect">
            <a:avLst/>
          </a:prstGeom>
          <a:noFill/>
          <a:ln/>
        </p:spPr>
        <p:txBody>
          <a:bodyPr wrap="square" lIns="0" tIns="0" rIns="0" bIns="0" rtlCol="0" anchor="ctr"/>
          <a:lstStyle/>
          <a:p>
            <a:pPr indent="0" marL="0">
              <a:buNone/>
            </a:pPr>
            <a:r>
              <a:rPr lang="en-US" sz="1500" b="1" dirty="0">
                <a:solidFill>
                  <a:schemeClr val="tx1"/>
                </a:solidFill>
              </a:rPr>
              <a:t>Flux caméra sans clé (avec clé)</a:t>
            </a:r>
            <a:endParaRPr lang="en-US" sz="1500" dirty="0"/>
          </a:p>
        </p:txBody>
      </p:sp>
      <p:sp>
        <p:nvSpPr>
          <p:cNvPr id="54" name="Étiquette"/>
          <p:cNvSpPr/>
          <p:nvPr/>
        </p:nvSpPr>
        <p:spPr>
          <a:xfrm>
            <a:off x="9921240" y="5349240"/>
            <a:ext cx="1508760" cy="365760"/>
          </a:xfrm>
          <a:prstGeom prst="roundRect">
            <a:avLst>
              <a:gd name="adj" fmla="val 50000"/>
            </a:avLst>
          </a:prstGeom>
          <a:solidFill>
            <a:srgbClr val="120B2E"/>
          </a:solidFill>
          <a:ln/>
        </p:spPr>
      </p:sp>
      <p:sp>
        <p:nvSpPr>
          <p:cNvPr id="55" name="Text 45"/>
          <p:cNvSpPr txBox="1"/>
          <p:nvPr/>
        </p:nvSpPr>
        <p:spPr>
          <a:xfrm>
            <a:off x="9921240" y="5349240"/>
            <a:ext cx="1508760" cy="365760"/>
          </a:xfrm>
          <a:prstGeom prst="rect">
            <a:avLst/>
          </a:prstGeom>
          <a:noFill/>
          <a:ln/>
        </p:spPr>
        <p:txBody>
          <a:bodyPr wrap="square" lIns="0" tIns="0" rIns="0" bIns="0" rtlCol="0" anchor="ctr"/>
          <a:lstStyle/>
          <a:p>
            <a:pPr algn="ctr" indent="0" marL="0">
              <a:buNone/>
            </a:pPr>
            <a:r>
              <a:rPr lang="en-US" sz="1200" b="1" dirty="0">
                <a:solidFill>
                  <a:srgbClr val="7ADB4F"/>
                </a:solidFill>
              </a:rPr>
              <a:t>401 (200)</a:t>
            </a:r>
            <a:endParaRPr lang="en-US" sz="1200" dirty="0"/>
          </a:p>
        </p:txBody>
      </p:sp>
      <p:sp>
        <p:nvSpPr>
          <p:cNvPr id="56" name="Text 46"/>
          <p:cNvSpPr txBox="1"/>
          <p:nvPr/>
        </p:nvSpPr>
        <p:spPr>
          <a:xfrm>
            <a:off x="548640" y="6126480"/>
            <a:ext cx="10332720" cy="274320"/>
          </a:xfrm>
          <a:prstGeom prst="rect">
            <a:avLst/>
          </a:prstGeom>
          <a:noFill/>
          <a:ln/>
        </p:spPr>
        <p:txBody>
          <a:bodyPr wrap="square" lIns="0" tIns="0" rIns="0" bIns="0" rtlCol="0" anchor="t"/>
          <a:lstStyle/>
          <a:p>
            <a:pPr indent="0" marL="0">
              <a:buNone/>
            </a:pPr>
            <a:r>
              <a:rPr lang="en-US" sz="1200" i="1" dirty="0">
                <a:solidFill>
                  <a:srgbClr val="5B5780"/>
                </a:solidFill>
              </a:rPr>
              <a:t>Aussi : tests unitaires Go avec détection de courses, et pile complète validée avec un nœud ESP32 simulé en MQTTS.</a:t>
            </a:r>
            <a:endParaRPr lang="en-US" sz="12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5780"/>
                </a:solidFill>
              </a:defRPr>
            </a:lvl1pPr>
          </a:lstStyle>
          <a:p>
            <a:pPr algn="r"/>
            <a:fld id="{F7021451-1387-4CA6-816F-3879F97B5CBC}" type="slidenum">
              <a:rPr b="0" lang="en-US"/>
              <a:t>12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Anneau radar"/>
          <p:cNvSpPr/>
          <p:nvPr/>
        </p:nvSpPr>
        <p:spPr>
          <a:xfrm>
            <a:off x="11457432" y="-731520"/>
            <a:ext cx="1463040" cy="1463040"/>
          </a:xfrm>
          <a:prstGeom prst="ellipse">
            <a:avLst/>
          </a:prstGeom>
          <a:solidFill>
            <a:srgbClr val="FFFFFF">
              <a:alpha val="0"/>
            </a:srgbClr>
          </a:solidFill>
          <a:ln w="19050">
            <a:solidFill>
              <a:srgbClr val="00C9B7">
                <a:alpha val="35000"/>
              </a:srgbClr>
            </a:solidFill>
            <a:prstDash val="solid"/>
          </a:ln>
        </p:spPr>
      </p:sp>
      <p:sp>
        <p:nvSpPr>
          <p:cNvPr id="3" name="Anneau radar"/>
          <p:cNvSpPr/>
          <p:nvPr/>
        </p:nvSpPr>
        <p:spPr>
          <a:xfrm>
            <a:off x="11000232" y="-1188720"/>
            <a:ext cx="2377440" cy="2377440"/>
          </a:xfrm>
          <a:prstGeom prst="ellipse">
            <a:avLst/>
          </a:prstGeom>
          <a:solidFill>
            <a:srgbClr val="FFFFFF">
              <a:alpha val="0"/>
            </a:srgbClr>
          </a:solidFill>
          <a:ln w="19050">
            <a:solidFill>
              <a:srgbClr val="6C3BFF">
                <a:alpha val="35000"/>
              </a:srgbClr>
            </a:solidFill>
            <a:prstDash val="solid"/>
          </a:ln>
        </p:spPr>
      </p:sp>
      <p:sp>
        <p:nvSpPr>
          <p:cNvPr id="4" name="Anneau radar"/>
          <p:cNvSpPr/>
          <p:nvPr/>
        </p:nvSpPr>
        <p:spPr>
          <a:xfrm>
            <a:off x="10543032" y="-1645920"/>
            <a:ext cx="3291840" cy="3291840"/>
          </a:xfrm>
          <a:prstGeom prst="ellipse">
            <a:avLst/>
          </a:prstGeom>
          <a:solidFill>
            <a:srgbClr val="FFFFFF">
              <a:alpha val="0"/>
            </a:srgbClr>
          </a:solidFill>
          <a:ln w="19050">
            <a:solidFill>
              <a:srgbClr val="FF4F81">
                <a:alpha val="35000"/>
              </a:srgbClr>
            </a:solidFill>
            <a:prstDash val="solid"/>
          </a:ln>
        </p:spPr>
      </p:sp>
      <p:sp>
        <p:nvSpPr>
          <p:cNvPr id="5" name="Surtitre"/>
          <p:cNvSpPr/>
          <p:nvPr/>
        </p:nvSpPr>
        <p:spPr>
          <a:xfrm>
            <a:off x="548640" y="384048"/>
            <a:ext cx="872338" cy="292608"/>
          </a:xfrm>
          <a:prstGeom prst="roundRect">
            <a:avLst>
              <a:gd name="adj" fmla="val 50000"/>
            </a:avLst>
          </a:prstGeom>
          <a:solidFill>
            <a:srgbClr val="FFB400"/>
          </a:solidFill>
          <a:ln/>
        </p:spPr>
      </p:sp>
      <p:sp>
        <p:nvSpPr>
          <p:cNvPr id="6" name="Text 4"/>
          <p:cNvSpPr txBox="1"/>
          <p:nvPr/>
        </p:nvSpPr>
        <p:spPr>
          <a:xfrm>
            <a:off x="548640" y="384048"/>
            <a:ext cx="872338" cy="292608"/>
          </a:xfrm>
          <a:prstGeom prst="rect">
            <a:avLst/>
          </a:prstGeom>
          <a:noFill/>
          <a:ln/>
        </p:spPr>
        <p:txBody>
          <a:bodyPr wrap="square" lIns="0" tIns="0" rIns="0" bIns="0" rtlCol="0" anchor="ctr"/>
          <a:lstStyle/>
          <a:p>
            <a:pPr algn="ctr" indent="0" marL="0">
              <a:buNone/>
            </a:pPr>
            <a:r>
              <a:rPr lang="en-US" sz="1100" b="1" spc="100" kern="0" dirty="0">
                <a:solidFill>
                  <a:srgbClr val="120B2E"/>
                </a:solidFill>
              </a:rPr>
              <a:t>LUCIDITÉ</a:t>
            </a:r>
            <a:endParaRPr lang="en-US" sz="1100" dirty="0"/>
          </a:p>
        </p:txBody>
      </p:sp>
      <p:sp>
        <p:nvSpPr>
          <p:cNvPr id="7" name="Text 0"/>
          <p:cNvSpPr/>
          <p:nvPr>
            <p:ph idx="100" type="title" hasCustomPrompt="1"/>
          </p:nvPr>
        </p:nvSpPr>
        <p:spPr>
          <a:xfrm>
            <a:off x="548640" y="749808"/>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Nos limites, nos prochaines étapes</a:t>
            </a:r>
            <a:endParaRPr lang="en-US" sz="3400" dirty="0"/>
          </a:p>
        </p:txBody>
      </p:sp>
      <p:sp>
        <p:nvSpPr>
          <p:cNvPr id="8" name="Limite Hôte non durci"/>
          <p:cNvSpPr/>
          <p:nvPr/>
        </p:nvSpPr>
        <p:spPr>
          <a:xfrm>
            <a:off x="548640" y="1783080"/>
            <a:ext cx="3566160" cy="2057400"/>
          </a:xfrm>
          <a:prstGeom prst="roundRect">
            <a:avLst>
              <a:gd name="adj" fmla="val 6667"/>
            </a:avLst>
          </a:prstGeom>
          <a:solidFill>
            <a:srgbClr val="F3F0FF"/>
          </a:solidFill>
          <a:ln/>
        </p:spPr>
      </p:sp>
      <p:sp>
        <p:nvSpPr>
          <p:cNvPr id="9" name="Pastille limite"/>
          <p:cNvSpPr/>
          <p:nvPr/>
        </p:nvSpPr>
        <p:spPr>
          <a:xfrm>
            <a:off x="777240" y="2029968"/>
            <a:ext cx="237744" cy="237744"/>
          </a:xfrm>
          <a:prstGeom prst="ellipse">
            <a:avLst/>
          </a:prstGeom>
          <a:solidFill>
            <a:srgbClr val="FFB400"/>
          </a:solidFill>
          <a:ln/>
        </p:spPr>
      </p:sp>
      <p:sp>
        <p:nvSpPr>
          <p:cNvPr id="10" name="Text 8"/>
          <p:cNvSpPr txBox="1"/>
          <p:nvPr/>
        </p:nvSpPr>
        <p:spPr>
          <a:xfrm>
            <a:off x="1143000" y="1965960"/>
            <a:ext cx="2834640" cy="365760"/>
          </a:xfrm>
          <a:prstGeom prst="rect">
            <a:avLst/>
          </a:prstGeom>
          <a:noFill/>
          <a:ln/>
        </p:spPr>
        <p:txBody>
          <a:bodyPr wrap="square" lIns="0" tIns="0" rIns="0" bIns="0" rtlCol="0" anchor="ctr"/>
          <a:lstStyle/>
          <a:p>
            <a:pPr indent="0" marL="0">
              <a:buNone/>
            </a:pPr>
            <a:r>
              <a:rPr lang="en-US" sz="1700" b="1" dirty="0">
                <a:solidFill>
                  <a:schemeClr val="tx1"/>
                </a:solidFill>
              </a:rPr>
              <a:t>Hôte non durci</a:t>
            </a:r>
            <a:endParaRPr lang="en-US" sz="1700" dirty="0"/>
          </a:p>
        </p:txBody>
      </p:sp>
      <p:sp>
        <p:nvSpPr>
          <p:cNvPr id="11" name="Text 9"/>
          <p:cNvSpPr txBox="1"/>
          <p:nvPr/>
        </p:nvSpPr>
        <p:spPr>
          <a:xfrm>
            <a:off x="777240" y="2514600"/>
            <a:ext cx="3154680" cy="502920"/>
          </a:xfrm>
          <a:prstGeom prst="rect">
            <a:avLst/>
          </a:prstGeom>
          <a:noFill/>
          <a:ln/>
        </p:spPr>
        <p:txBody>
          <a:bodyPr wrap="square" lIns="0" tIns="0" rIns="0" bIns="0" rtlCol="0" anchor="t"/>
          <a:lstStyle/>
          <a:p>
            <a:pPr indent="0" marL="0">
              <a:buNone/>
            </a:pPr>
            <a:r>
              <a:rPr lang="en-US" sz="1400" dirty="0">
                <a:solidFill>
                  <a:srgbClr val="5B5780"/>
                </a:solidFill>
              </a:rPr>
              <a:t>Portable utilisé sur place (option B).</a:t>
            </a:r>
            <a:endParaRPr lang="en-US" sz="1400" dirty="0"/>
          </a:p>
        </p:txBody>
      </p:sp>
      <p:sp>
        <p:nvSpPr>
          <p:cNvPr id="12" name="Text 10"/>
          <p:cNvSpPr txBox="1"/>
          <p:nvPr/>
        </p:nvSpPr>
        <p:spPr>
          <a:xfrm>
            <a:off x="777240" y="3063240"/>
            <a:ext cx="3154680" cy="685800"/>
          </a:xfrm>
          <a:prstGeom prst="rect">
            <a:avLst/>
          </a:prstGeom>
          <a:noFill/>
          <a:ln/>
        </p:spPr>
        <p:txBody>
          <a:bodyPr wrap="square" lIns="0" tIns="0" rIns="0" bIns="0" rtlCol="0" anchor="t"/>
          <a:lstStyle/>
          <a:p>
            <a:pPr indent="0" marL="0">
              <a:buNone/>
            </a:pPr>
            <a:r>
              <a:rPr lang="en-US" sz="1400" b="1" dirty="0">
                <a:solidFill>
                  <a:srgbClr val="6C3BFF"/>
                </a:solidFill>
              </a:rPr>
              <a:t>→ </a:t>
            </a:r>
            <a:pPr indent="0" marL="0">
              <a:buNone/>
            </a:pPr>
            <a:r>
              <a:rPr lang="en-US" sz="1400" b="1" dirty="0">
                <a:solidFill>
                  <a:schemeClr val="tx1"/>
                </a:solidFill>
              </a:rPr>
              <a:t>UFW, SSH par clés, UID remappés (option A)</a:t>
            </a:r>
            <a:endParaRPr lang="en-US" sz="1400" dirty="0"/>
          </a:p>
        </p:txBody>
      </p:sp>
      <p:sp>
        <p:nvSpPr>
          <p:cNvPr id="13" name="Limite Wi-Fi WPA2 partagé"/>
          <p:cNvSpPr/>
          <p:nvPr/>
        </p:nvSpPr>
        <p:spPr>
          <a:xfrm>
            <a:off x="4297680" y="1783080"/>
            <a:ext cx="3566160" cy="2057400"/>
          </a:xfrm>
          <a:prstGeom prst="roundRect">
            <a:avLst>
              <a:gd name="adj" fmla="val 6667"/>
            </a:avLst>
          </a:prstGeom>
          <a:solidFill>
            <a:srgbClr val="F3F0FF"/>
          </a:solidFill>
          <a:ln/>
        </p:spPr>
      </p:sp>
      <p:sp>
        <p:nvSpPr>
          <p:cNvPr id="14" name="Pastille limite"/>
          <p:cNvSpPr/>
          <p:nvPr/>
        </p:nvSpPr>
        <p:spPr>
          <a:xfrm>
            <a:off x="4526280" y="2029968"/>
            <a:ext cx="237744" cy="237744"/>
          </a:xfrm>
          <a:prstGeom prst="ellipse">
            <a:avLst/>
          </a:prstGeom>
          <a:solidFill>
            <a:srgbClr val="00C9B7"/>
          </a:solidFill>
          <a:ln/>
        </p:spPr>
      </p:sp>
      <p:sp>
        <p:nvSpPr>
          <p:cNvPr id="15" name="Text 13"/>
          <p:cNvSpPr txBox="1"/>
          <p:nvPr/>
        </p:nvSpPr>
        <p:spPr>
          <a:xfrm>
            <a:off x="4892040" y="1965960"/>
            <a:ext cx="2834640" cy="365760"/>
          </a:xfrm>
          <a:prstGeom prst="rect">
            <a:avLst/>
          </a:prstGeom>
          <a:noFill/>
          <a:ln/>
        </p:spPr>
        <p:txBody>
          <a:bodyPr wrap="square" lIns="0" tIns="0" rIns="0" bIns="0" rtlCol="0" anchor="ctr"/>
          <a:lstStyle/>
          <a:p>
            <a:pPr indent="0" marL="0">
              <a:buNone/>
            </a:pPr>
            <a:r>
              <a:rPr lang="en-US" sz="1700" b="1" dirty="0">
                <a:solidFill>
                  <a:schemeClr val="tx1"/>
                </a:solidFill>
              </a:rPr>
              <a:t>Wi-Fi WPA2 partagé</a:t>
            </a:r>
            <a:endParaRPr lang="en-US" sz="1700" dirty="0"/>
          </a:p>
        </p:txBody>
      </p:sp>
      <p:sp>
        <p:nvSpPr>
          <p:cNvPr id="16" name="Text 14"/>
          <p:cNvSpPr txBox="1"/>
          <p:nvPr/>
        </p:nvSpPr>
        <p:spPr>
          <a:xfrm>
            <a:off x="4526280" y="2514600"/>
            <a:ext cx="3154680" cy="502920"/>
          </a:xfrm>
          <a:prstGeom prst="rect">
            <a:avLst/>
          </a:prstGeom>
          <a:noFill/>
          <a:ln/>
        </p:spPr>
        <p:txBody>
          <a:bodyPr wrap="square" lIns="0" tIns="0" rIns="0" bIns="0" rtlCol="0" anchor="t"/>
          <a:lstStyle/>
          <a:p>
            <a:pPr indent="0" marL="0">
              <a:buNone/>
            </a:pPr>
            <a:r>
              <a:rPr lang="en-US" sz="1400" dirty="0">
                <a:solidFill>
                  <a:srgbClr val="5B5780"/>
                </a:solidFill>
              </a:rPr>
              <a:t>Qui a le mot de passe rejoint le réseau.</a:t>
            </a:r>
            <a:endParaRPr lang="en-US" sz="1400" dirty="0"/>
          </a:p>
        </p:txBody>
      </p:sp>
      <p:sp>
        <p:nvSpPr>
          <p:cNvPr id="17" name="Text 15"/>
          <p:cNvSpPr txBox="1"/>
          <p:nvPr/>
        </p:nvSpPr>
        <p:spPr>
          <a:xfrm>
            <a:off x="4526280" y="3063240"/>
            <a:ext cx="3154680" cy="685800"/>
          </a:xfrm>
          <a:prstGeom prst="rect">
            <a:avLst/>
          </a:prstGeom>
          <a:noFill/>
          <a:ln/>
        </p:spPr>
        <p:txBody>
          <a:bodyPr wrap="square" lIns="0" tIns="0" rIns="0" bIns="0" rtlCol="0" anchor="t"/>
          <a:lstStyle/>
          <a:p>
            <a:pPr indent="0" marL="0">
              <a:buNone/>
            </a:pPr>
            <a:r>
              <a:rPr lang="en-US" sz="1400" b="1" dirty="0">
                <a:solidFill>
                  <a:srgbClr val="6C3BFF"/>
                </a:solidFill>
              </a:rPr>
              <a:t>→ </a:t>
            </a:r>
            <a:pPr indent="0" marL="0">
              <a:buNone/>
            </a:pPr>
            <a:r>
              <a:rPr lang="en-US" sz="1400" b="1" dirty="0">
                <a:solidFill>
                  <a:schemeClr val="tx1"/>
                </a:solidFill>
              </a:rPr>
              <a:t>WPA3 ou isolation des clients</a:t>
            </a:r>
            <a:endParaRPr lang="en-US" sz="1400" dirty="0"/>
          </a:p>
        </p:txBody>
      </p:sp>
      <p:sp>
        <p:nvSpPr>
          <p:cNvPr id="18" name="Limite Mot de passe dans la flash"/>
          <p:cNvSpPr/>
          <p:nvPr/>
        </p:nvSpPr>
        <p:spPr>
          <a:xfrm>
            <a:off x="8046720" y="1783080"/>
            <a:ext cx="3566160" cy="2057400"/>
          </a:xfrm>
          <a:prstGeom prst="roundRect">
            <a:avLst>
              <a:gd name="adj" fmla="val 6667"/>
            </a:avLst>
          </a:prstGeom>
          <a:solidFill>
            <a:srgbClr val="F3F0FF"/>
          </a:solidFill>
          <a:ln/>
        </p:spPr>
      </p:sp>
      <p:sp>
        <p:nvSpPr>
          <p:cNvPr id="19" name="Pastille limite"/>
          <p:cNvSpPr/>
          <p:nvPr/>
        </p:nvSpPr>
        <p:spPr>
          <a:xfrm>
            <a:off x="8275320" y="2029968"/>
            <a:ext cx="237744" cy="237744"/>
          </a:xfrm>
          <a:prstGeom prst="ellipse">
            <a:avLst/>
          </a:prstGeom>
          <a:solidFill>
            <a:srgbClr val="FF4F81"/>
          </a:solidFill>
          <a:ln/>
        </p:spPr>
      </p:sp>
      <p:sp>
        <p:nvSpPr>
          <p:cNvPr id="20" name="Text 18"/>
          <p:cNvSpPr txBox="1"/>
          <p:nvPr/>
        </p:nvSpPr>
        <p:spPr>
          <a:xfrm>
            <a:off x="8641080" y="1965960"/>
            <a:ext cx="2834640" cy="365760"/>
          </a:xfrm>
          <a:prstGeom prst="rect">
            <a:avLst/>
          </a:prstGeom>
          <a:noFill/>
          <a:ln/>
        </p:spPr>
        <p:txBody>
          <a:bodyPr wrap="square" lIns="0" tIns="0" rIns="0" bIns="0" rtlCol="0" anchor="ctr"/>
          <a:lstStyle/>
          <a:p>
            <a:pPr indent="0" marL="0">
              <a:buNone/>
            </a:pPr>
            <a:r>
              <a:rPr lang="en-US" sz="1700" b="1" dirty="0">
                <a:solidFill>
                  <a:schemeClr val="tx1"/>
                </a:solidFill>
              </a:rPr>
              <a:t>Mot de passe dans la flash</a:t>
            </a:r>
            <a:endParaRPr lang="en-US" sz="1700" dirty="0"/>
          </a:p>
        </p:txBody>
      </p:sp>
      <p:sp>
        <p:nvSpPr>
          <p:cNvPr id="21" name="Text 19"/>
          <p:cNvSpPr txBox="1"/>
          <p:nvPr/>
        </p:nvSpPr>
        <p:spPr>
          <a:xfrm>
            <a:off x="8275320" y="2514600"/>
            <a:ext cx="3154680" cy="502920"/>
          </a:xfrm>
          <a:prstGeom prst="rect">
            <a:avLst/>
          </a:prstGeom>
          <a:noFill/>
          <a:ln/>
        </p:spPr>
        <p:txBody>
          <a:bodyPr wrap="square" lIns="0" tIns="0" rIns="0" bIns="0" rtlCol="0" anchor="t"/>
          <a:lstStyle/>
          <a:p>
            <a:pPr indent="0" marL="0">
              <a:buNone/>
            </a:pPr>
            <a:r>
              <a:rPr lang="en-US" sz="1400" dirty="0">
                <a:solidFill>
                  <a:srgbClr val="5B5780"/>
                </a:solidFill>
              </a:rPr>
              <a:t>Lisible si l'ESP32 est volé.</a:t>
            </a:r>
            <a:endParaRPr lang="en-US" sz="1400" dirty="0"/>
          </a:p>
        </p:txBody>
      </p:sp>
      <p:sp>
        <p:nvSpPr>
          <p:cNvPr id="22" name="Text 20"/>
          <p:cNvSpPr txBox="1"/>
          <p:nvPr/>
        </p:nvSpPr>
        <p:spPr>
          <a:xfrm>
            <a:off x="8275320" y="3063240"/>
            <a:ext cx="3154680" cy="685800"/>
          </a:xfrm>
          <a:prstGeom prst="rect">
            <a:avLst/>
          </a:prstGeom>
          <a:noFill/>
          <a:ln/>
        </p:spPr>
        <p:txBody>
          <a:bodyPr wrap="square" lIns="0" tIns="0" rIns="0" bIns="0" rtlCol="0" anchor="t"/>
          <a:lstStyle/>
          <a:p>
            <a:pPr indent="0" marL="0">
              <a:buNone/>
            </a:pPr>
            <a:r>
              <a:rPr lang="en-US" sz="1400" b="1" dirty="0">
                <a:solidFill>
                  <a:srgbClr val="6C3BFF"/>
                </a:solidFill>
              </a:rPr>
              <a:t>→ </a:t>
            </a:r>
            <a:pPr indent="0" marL="0">
              <a:buNone/>
            </a:pPr>
            <a:r>
              <a:rPr lang="en-US" sz="1400" b="1" dirty="0">
                <a:solidFill>
                  <a:schemeClr val="tx1"/>
                </a:solidFill>
              </a:rPr>
              <a:t>mTLS par nœud, flash chiffrée</a:t>
            </a:r>
            <a:endParaRPr lang="en-US" sz="1400" dirty="0"/>
          </a:p>
        </p:txBody>
      </p:sp>
      <p:sp>
        <p:nvSpPr>
          <p:cNvPr id="23" name="Limite MQ-2 sans pont diviseur"/>
          <p:cNvSpPr/>
          <p:nvPr/>
        </p:nvSpPr>
        <p:spPr>
          <a:xfrm>
            <a:off x="548640" y="4023360"/>
            <a:ext cx="3566160" cy="2057400"/>
          </a:xfrm>
          <a:prstGeom prst="roundRect">
            <a:avLst>
              <a:gd name="adj" fmla="val 6667"/>
            </a:avLst>
          </a:prstGeom>
          <a:solidFill>
            <a:srgbClr val="F3F0FF"/>
          </a:solidFill>
          <a:ln/>
        </p:spPr>
      </p:sp>
      <p:sp>
        <p:nvSpPr>
          <p:cNvPr id="24" name="Pastille limite"/>
          <p:cNvSpPr/>
          <p:nvPr/>
        </p:nvSpPr>
        <p:spPr>
          <a:xfrm>
            <a:off x="777240" y="4270248"/>
            <a:ext cx="237744" cy="237744"/>
          </a:xfrm>
          <a:prstGeom prst="ellipse">
            <a:avLst/>
          </a:prstGeom>
          <a:solidFill>
            <a:srgbClr val="3D8BFF"/>
          </a:solidFill>
          <a:ln/>
        </p:spPr>
      </p:sp>
      <p:sp>
        <p:nvSpPr>
          <p:cNvPr id="25" name="Text 23"/>
          <p:cNvSpPr txBox="1"/>
          <p:nvPr/>
        </p:nvSpPr>
        <p:spPr>
          <a:xfrm>
            <a:off x="1143000" y="4206240"/>
            <a:ext cx="2834640" cy="365760"/>
          </a:xfrm>
          <a:prstGeom prst="rect">
            <a:avLst/>
          </a:prstGeom>
          <a:noFill/>
          <a:ln/>
        </p:spPr>
        <p:txBody>
          <a:bodyPr wrap="square" lIns="0" tIns="0" rIns="0" bIns="0" rtlCol="0" anchor="ctr"/>
          <a:lstStyle/>
          <a:p>
            <a:pPr indent="0" marL="0">
              <a:buNone/>
            </a:pPr>
            <a:r>
              <a:rPr lang="en-US" sz="1700" b="1" dirty="0">
                <a:solidFill>
                  <a:schemeClr val="tx1"/>
                </a:solidFill>
              </a:rPr>
              <a:t>MQ-2 sans pont diviseur</a:t>
            </a:r>
            <a:endParaRPr lang="en-US" sz="1700" dirty="0"/>
          </a:p>
        </p:txBody>
      </p:sp>
      <p:sp>
        <p:nvSpPr>
          <p:cNvPr id="26" name="Text 24"/>
          <p:cNvSpPr txBox="1"/>
          <p:nvPr/>
        </p:nvSpPr>
        <p:spPr>
          <a:xfrm>
            <a:off x="777240" y="4754880"/>
            <a:ext cx="3154680" cy="502920"/>
          </a:xfrm>
          <a:prstGeom prst="rect">
            <a:avLst/>
          </a:prstGeom>
          <a:noFill/>
          <a:ln/>
        </p:spPr>
        <p:txBody>
          <a:bodyPr wrap="square" lIns="0" tIns="0" rIns="0" bIns="0" rtlCol="0" anchor="t"/>
          <a:lstStyle/>
          <a:p>
            <a:pPr indent="0" marL="0">
              <a:buNone/>
            </a:pPr>
            <a:r>
              <a:rPr lang="en-US" sz="1400" dirty="0">
                <a:solidFill>
                  <a:srgbClr val="5B5780"/>
                </a:solidFill>
              </a:rPr>
              <a:t>AO peut dépasser 3,3 V sous gaz fort.</a:t>
            </a:r>
            <a:endParaRPr lang="en-US" sz="1400" dirty="0"/>
          </a:p>
        </p:txBody>
      </p:sp>
      <p:sp>
        <p:nvSpPr>
          <p:cNvPr id="27" name="Text 25"/>
          <p:cNvSpPr txBox="1"/>
          <p:nvPr/>
        </p:nvSpPr>
        <p:spPr>
          <a:xfrm>
            <a:off x="777240" y="5303520"/>
            <a:ext cx="3154680" cy="685800"/>
          </a:xfrm>
          <a:prstGeom prst="rect">
            <a:avLst/>
          </a:prstGeom>
          <a:noFill/>
          <a:ln/>
        </p:spPr>
        <p:txBody>
          <a:bodyPr wrap="square" lIns="0" tIns="0" rIns="0" bIns="0" rtlCol="0" anchor="t"/>
          <a:lstStyle/>
          <a:p>
            <a:pPr indent="0" marL="0">
              <a:buNone/>
            </a:pPr>
            <a:r>
              <a:rPr lang="en-US" sz="1400" b="1" dirty="0">
                <a:solidFill>
                  <a:srgbClr val="6C3BFF"/>
                </a:solidFill>
              </a:rPr>
              <a:t>→ </a:t>
            </a:r>
            <a:pPr indent="0" marL="0">
              <a:buNone/>
            </a:pPr>
            <a:r>
              <a:rPr lang="en-US" sz="1400" b="1" dirty="0">
                <a:solidFill>
                  <a:schemeClr val="tx1"/>
                </a:solidFill>
              </a:rPr>
              <a:t>Pont 10 kΩ / 20 kΩ, puis réentraînement</a:t>
            </a:r>
            <a:endParaRPr lang="en-US" sz="1400" dirty="0"/>
          </a:p>
        </p:txBody>
      </p:sp>
      <p:sp>
        <p:nvSpPr>
          <p:cNvPr id="28" name="Limite MQ-2 non étalonné"/>
          <p:cNvSpPr/>
          <p:nvPr/>
        </p:nvSpPr>
        <p:spPr>
          <a:xfrm>
            <a:off x="4297680" y="4023360"/>
            <a:ext cx="3566160" cy="2057400"/>
          </a:xfrm>
          <a:prstGeom prst="roundRect">
            <a:avLst>
              <a:gd name="adj" fmla="val 6667"/>
            </a:avLst>
          </a:prstGeom>
          <a:solidFill>
            <a:srgbClr val="F3F0FF"/>
          </a:solidFill>
          <a:ln/>
        </p:spPr>
      </p:sp>
      <p:sp>
        <p:nvSpPr>
          <p:cNvPr id="29" name="Pastille limite"/>
          <p:cNvSpPr/>
          <p:nvPr/>
        </p:nvSpPr>
        <p:spPr>
          <a:xfrm>
            <a:off x="4526280" y="4270248"/>
            <a:ext cx="237744" cy="237744"/>
          </a:xfrm>
          <a:prstGeom prst="ellipse">
            <a:avLst/>
          </a:prstGeom>
          <a:solidFill>
            <a:srgbClr val="7ADB4F"/>
          </a:solidFill>
          <a:ln/>
        </p:spPr>
      </p:sp>
      <p:sp>
        <p:nvSpPr>
          <p:cNvPr id="30" name="Text 28"/>
          <p:cNvSpPr txBox="1"/>
          <p:nvPr/>
        </p:nvSpPr>
        <p:spPr>
          <a:xfrm>
            <a:off x="4892040" y="4206240"/>
            <a:ext cx="2834640" cy="365760"/>
          </a:xfrm>
          <a:prstGeom prst="rect">
            <a:avLst/>
          </a:prstGeom>
          <a:noFill/>
          <a:ln/>
        </p:spPr>
        <p:txBody>
          <a:bodyPr wrap="square" lIns="0" tIns="0" rIns="0" bIns="0" rtlCol="0" anchor="ctr"/>
          <a:lstStyle/>
          <a:p>
            <a:pPr indent="0" marL="0">
              <a:buNone/>
            </a:pPr>
            <a:r>
              <a:rPr lang="en-US" sz="1700" b="1" dirty="0">
                <a:solidFill>
                  <a:schemeClr val="tx1"/>
                </a:solidFill>
              </a:rPr>
              <a:t>MQ-2 non étalonné</a:t>
            </a:r>
            <a:endParaRPr lang="en-US" sz="1700" dirty="0"/>
          </a:p>
        </p:txBody>
      </p:sp>
      <p:sp>
        <p:nvSpPr>
          <p:cNvPr id="31" name="Text 29"/>
          <p:cNvSpPr txBox="1"/>
          <p:nvPr/>
        </p:nvSpPr>
        <p:spPr>
          <a:xfrm>
            <a:off x="4526280" y="4754880"/>
            <a:ext cx="3154680" cy="502920"/>
          </a:xfrm>
          <a:prstGeom prst="rect">
            <a:avLst/>
          </a:prstGeom>
          <a:noFill/>
          <a:ln/>
        </p:spPr>
        <p:txBody>
          <a:bodyPr wrap="square" lIns="0" tIns="0" rIns="0" bIns="0" rtlCol="0" anchor="t"/>
          <a:lstStyle/>
          <a:p>
            <a:pPr indent="0" marL="0">
              <a:buNone/>
            </a:pPr>
            <a:r>
              <a:rPr lang="en-US" sz="1400" dirty="0">
                <a:solidFill>
                  <a:srgbClr val="5B5780"/>
                </a:solidFill>
              </a:rPr>
              <a:t>Des mV relatifs, pas de ppm.</a:t>
            </a:r>
            <a:endParaRPr lang="en-US" sz="1400" dirty="0"/>
          </a:p>
        </p:txBody>
      </p:sp>
      <p:sp>
        <p:nvSpPr>
          <p:cNvPr id="32" name="Text 30"/>
          <p:cNvSpPr txBox="1"/>
          <p:nvPr/>
        </p:nvSpPr>
        <p:spPr>
          <a:xfrm>
            <a:off x="4526280" y="5303520"/>
            <a:ext cx="3154680" cy="685800"/>
          </a:xfrm>
          <a:prstGeom prst="rect">
            <a:avLst/>
          </a:prstGeom>
          <a:noFill/>
          <a:ln/>
        </p:spPr>
        <p:txBody>
          <a:bodyPr wrap="square" lIns="0" tIns="0" rIns="0" bIns="0" rtlCol="0" anchor="t"/>
          <a:lstStyle/>
          <a:p>
            <a:pPr indent="0" marL="0">
              <a:buNone/>
            </a:pPr>
            <a:r>
              <a:rPr lang="en-US" sz="1400" b="1" dirty="0">
                <a:solidFill>
                  <a:srgbClr val="6C3BFF"/>
                </a:solidFill>
              </a:rPr>
              <a:t>→ </a:t>
            </a:r>
            <a:pPr indent="0" marL="0">
              <a:buNone/>
            </a:pPr>
            <a:r>
              <a:rPr lang="en-US" sz="1400" b="1" dirty="0">
                <a:solidFill>
                  <a:schemeClr val="tx1"/>
                </a:solidFill>
              </a:rPr>
              <a:t>Étalonnage R0 en air propre</a:t>
            </a:r>
            <a:endParaRPr lang="en-US" sz="1400" dirty="0"/>
          </a:p>
        </p:txBody>
      </p:sp>
      <p:sp>
        <p:nvSpPr>
          <p:cNvPr id="33" name="Limite IA : peu de données"/>
          <p:cNvSpPr/>
          <p:nvPr/>
        </p:nvSpPr>
        <p:spPr>
          <a:xfrm>
            <a:off x="8046720" y="4023360"/>
            <a:ext cx="3566160" cy="2057400"/>
          </a:xfrm>
          <a:prstGeom prst="roundRect">
            <a:avLst>
              <a:gd name="adj" fmla="val 6667"/>
            </a:avLst>
          </a:prstGeom>
          <a:solidFill>
            <a:srgbClr val="F3F0FF"/>
          </a:solidFill>
          <a:ln/>
        </p:spPr>
      </p:sp>
      <p:sp>
        <p:nvSpPr>
          <p:cNvPr id="34" name="Pastille limite"/>
          <p:cNvSpPr/>
          <p:nvPr/>
        </p:nvSpPr>
        <p:spPr>
          <a:xfrm>
            <a:off x="8275320" y="4270248"/>
            <a:ext cx="237744" cy="237744"/>
          </a:xfrm>
          <a:prstGeom prst="ellipse">
            <a:avLst/>
          </a:prstGeom>
          <a:solidFill>
            <a:srgbClr val="6C3BFF"/>
          </a:solidFill>
          <a:ln/>
        </p:spPr>
      </p:sp>
      <p:sp>
        <p:nvSpPr>
          <p:cNvPr id="35" name="Text 33"/>
          <p:cNvSpPr txBox="1"/>
          <p:nvPr/>
        </p:nvSpPr>
        <p:spPr>
          <a:xfrm>
            <a:off x="8641080" y="4206240"/>
            <a:ext cx="2834640" cy="365760"/>
          </a:xfrm>
          <a:prstGeom prst="rect">
            <a:avLst/>
          </a:prstGeom>
          <a:noFill/>
          <a:ln/>
        </p:spPr>
        <p:txBody>
          <a:bodyPr wrap="square" lIns="0" tIns="0" rIns="0" bIns="0" rtlCol="0" anchor="ctr"/>
          <a:lstStyle/>
          <a:p>
            <a:pPr indent="0" marL="0">
              <a:buNone/>
            </a:pPr>
            <a:r>
              <a:rPr lang="en-US" sz="1700" b="1" dirty="0">
                <a:solidFill>
                  <a:schemeClr val="tx1"/>
                </a:solidFill>
              </a:rPr>
              <a:t>IA : peu de données</a:t>
            </a:r>
            <a:endParaRPr lang="en-US" sz="1700" dirty="0"/>
          </a:p>
        </p:txBody>
      </p:sp>
      <p:sp>
        <p:nvSpPr>
          <p:cNvPr id="36" name="Text 34"/>
          <p:cNvSpPr txBox="1"/>
          <p:nvPr/>
        </p:nvSpPr>
        <p:spPr>
          <a:xfrm>
            <a:off x="8275320" y="4754880"/>
            <a:ext cx="3154680" cy="502920"/>
          </a:xfrm>
          <a:prstGeom prst="rect">
            <a:avLst/>
          </a:prstGeom>
          <a:noFill/>
          <a:ln/>
        </p:spPr>
        <p:txBody>
          <a:bodyPr wrap="square" lIns="0" tIns="0" rIns="0" bIns="0" rtlCol="0" anchor="t"/>
          <a:lstStyle/>
          <a:p>
            <a:pPr indent="0" marL="0">
              <a:buNone/>
            </a:pPr>
            <a:r>
              <a:rPr lang="en-US" sz="1400" dirty="0">
                <a:solidFill>
                  <a:srgbClr val="5B5780"/>
                </a:solidFill>
              </a:rPr>
              <a:t>Cycles jour / nuit pas encore appris.</a:t>
            </a:r>
            <a:endParaRPr lang="en-US" sz="1400" dirty="0"/>
          </a:p>
        </p:txBody>
      </p:sp>
      <p:sp>
        <p:nvSpPr>
          <p:cNvPr id="37" name="Text 35"/>
          <p:cNvSpPr txBox="1"/>
          <p:nvPr/>
        </p:nvSpPr>
        <p:spPr>
          <a:xfrm>
            <a:off x="8275320" y="5303520"/>
            <a:ext cx="3154680" cy="685800"/>
          </a:xfrm>
          <a:prstGeom prst="rect">
            <a:avLst/>
          </a:prstGeom>
          <a:noFill/>
          <a:ln/>
        </p:spPr>
        <p:txBody>
          <a:bodyPr wrap="square" lIns="0" tIns="0" rIns="0" bIns="0" rtlCol="0" anchor="t"/>
          <a:lstStyle/>
          <a:p>
            <a:pPr indent="0" marL="0">
              <a:buNone/>
            </a:pPr>
            <a:r>
              <a:rPr lang="en-US" sz="1400" b="1" dirty="0">
                <a:solidFill>
                  <a:srgbClr val="6C3BFF"/>
                </a:solidFill>
              </a:rPr>
              <a:t>→ </a:t>
            </a:r>
            <a:pPr indent="0" marL="0">
              <a:buNone/>
            </a:pPr>
            <a:r>
              <a:rPr lang="en-US" sz="1400" b="1" dirty="0">
                <a:solidFill>
                  <a:schemeClr val="tx1"/>
                </a:solidFill>
              </a:rPr>
              <a:t>Collecte sur plusieurs jours</a:t>
            </a:r>
            <a:endParaRPr lang="en-US" sz="14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5780"/>
                </a:solidFill>
              </a:defRPr>
            </a:lvl1pPr>
          </a:lstStyle>
          <a:p>
            <a:pPr algn="r"/>
            <a:fld id="{F7021451-1387-4CA6-816F-3879F97B5CBC}" type="slidenum">
              <a:rPr b="0" lang="en-US"/>
              <a:t>13</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Anneau radar"/>
          <p:cNvSpPr/>
          <p:nvPr/>
        </p:nvSpPr>
        <p:spPr>
          <a:xfrm>
            <a:off x="7863840" y="2468880"/>
            <a:ext cx="2743200" cy="2743200"/>
          </a:xfrm>
          <a:prstGeom prst="ellipse">
            <a:avLst/>
          </a:prstGeom>
          <a:solidFill>
            <a:srgbClr val="FFFFFF">
              <a:alpha val="0"/>
            </a:srgbClr>
          </a:solidFill>
          <a:ln w="28575">
            <a:solidFill>
              <a:srgbClr val="00C9B7">
                <a:alpha val="65000"/>
              </a:srgbClr>
            </a:solidFill>
            <a:prstDash val="solid"/>
          </a:ln>
        </p:spPr>
      </p:sp>
      <p:sp>
        <p:nvSpPr>
          <p:cNvPr id="3" name="Anneau radar"/>
          <p:cNvSpPr/>
          <p:nvPr/>
        </p:nvSpPr>
        <p:spPr>
          <a:xfrm>
            <a:off x="7406640" y="2011680"/>
            <a:ext cx="3657600" cy="3657600"/>
          </a:xfrm>
          <a:prstGeom prst="ellipse">
            <a:avLst/>
          </a:prstGeom>
          <a:solidFill>
            <a:srgbClr val="FFFFFF">
              <a:alpha val="0"/>
            </a:srgbClr>
          </a:solidFill>
          <a:ln w="28575">
            <a:solidFill>
              <a:srgbClr val="FF4F81">
                <a:alpha val="65000"/>
              </a:srgbClr>
            </a:solidFill>
            <a:prstDash val="solid"/>
          </a:ln>
        </p:spPr>
      </p:sp>
      <p:sp>
        <p:nvSpPr>
          <p:cNvPr id="4" name="Anneau radar"/>
          <p:cNvSpPr/>
          <p:nvPr/>
        </p:nvSpPr>
        <p:spPr>
          <a:xfrm>
            <a:off x="6949440" y="1554480"/>
            <a:ext cx="4572000" cy="4572000"/>
          </a:xfrm>
          <a:prstGeom prst="ellipse">
            <a:avLst/>
          </a:prstGeom>
          <a:solidFill>
            <a:srgbClr val="FFFFFF">
              <a:alpha val="0"/>
            </a:srgbClr>
          </a:solidFill>
          <a:ln w="28575">
            <a:solidFill>
              <a:srgbClr val="6C3BFF">
                <a:alpha val="65000"/>
              </a:srgbClr>
            </a:solidFill>
            <a:prstDash val="solid"/>
          </a:ln>
        </p:spPr>
      </p:sp>
      <p:sp>
        <p:nvSpPr>
          <p:cNvPr id="5" name="Point radar"/>
          <p:cNvSpPr/>
          <p:nvPr/>
        </p:nvSpPr>
        <p:spPr>
          <a:xfrm>
            <a:off x="10391437" y="2410163"/>
            <a:ext cx="274320" cy="274320"/>
          </a:xfrm>
          <a:prstGeom prst="ellipse">
            <a:avLst/>
          </a:prstGeom>
          <a:solidFill>
            <a:srgbClr val="FFB400"/>
          </a:solidFill>
          <a:ln/>
        </p:spPr>
      </p:sp>
      <p:sp>
        <p:nvSpPr>
          <p:cNvPr id="6" name="Point radar"/>
          <p:cNvSpPr/>
          <p:nvPr/>
        </p:nvSpPr>
        <p:spPr>
          <a:xfrm>
            <a:off x="6950143" y="4485178"/>
            <a:ext cx="274320" cy="274320"/>
          </a:xfrm>
          <a:prstGeom prst="ellipse">
            <a:avLst/>
          </a:prstGeom>
          <a:solidFill>
            <a:srgbClr val="7ADB4F"/>
          </a:solidFill>
          <a:ln/>
        </p:spPr>
      </p:sp>
      <p:sp>
        <p:nvSpPr>
          <p:cNvPr id="7" name="Point radar"/>
          <p:cNvSpPr/>
          <p:nvPr/>
        </p:nvSpPr>
        <p:spPr>
          <a:xfrm>
            <a:off x="9802368" y="4909448"/>
            <a:ext cx="237744" cy="237744"/>
          </a:xfrm>
          <a:prstGeom prst="ellipse">
            <a:avLst/>
          </a:prstGeom>
          <a:solidFill>
            <a:srgbClr val="FF4F81"/>
          </a:solidFill>
          <a:ln/>
        </p:spPr>
      </p:sp>
      <p:sp>
        <p:nvSpPr>
          <p:cNvPr id="8" name="Disque central"/>
          <p:cNvSpPr/>
          <p:nvPr/>
        </p:nvSpPr>
        <p:spPr>
          <a:xfrm>
            <a:off x="8138160" y="2743200"/>
            <a:ext cx="2194560" cy="2194560"/>
          </a:xfrm>
          <a:prstGeom prst="ellipse">
            <a:avLst/>
          </a:prstGeom>
          <a:solidFill>
            <a:srgbClr val="00C9B7"/>
          </a:solidFill>
          <a:ln/>
        </p:spPr>
      </p:sp>
      <p:sp>
        <p:nvSpPr>
          <p:cNvPr id="9" name="Text 7"/>
          <p:cNvSpPr txBox="1"/>
          <p:nvPr/>
        </p:nvSpPr>
        <p:spPr>
          <a:xfrm>
            <a:off x="8138160" y="2743200"/>
            <a:ext cx="2194560" cy="2194560"/>
          </a:xfrm>
          <a:prstGeom prst="rect">
            <a:avLst/>
          </a:prstGeom>
          <a:noFill/>
          <a:ln/>
        </p:spPr>
        <p:txBody>
          <a:bodyPr wrap="square" lIns="0" tIns="0" rIns="0" bIns="0" rtlCol="0" anchor="ctr"/>
          <a:lstStyle/>
          <a:p>
            <a:pPr algn="ctr" indent="0" marL="0">
              <a:buNone/>
            </a:pPr>
            <a:r>
              <a:rPr lang="en-US" sz="3400" b="1" dirty="0">
                <a:solidFill>
                  <a:srgbClr val="120B2E"/>
                </a:solidFill>
                <a:latin typeface="+mj-lt" pitchFamily="34" charset="0"/>
                <a:ea typeface="+mj-lt" pitchFamily="34" charset="-122"/>
                <a:cs typeface="+mj-lt" pitchFamily="34" charset="-120"/>
              </a:rPr>
              <a:t>Merci !</a:t>
            </a:r>
            <a:endParaRPr lang="en-US" sz="1400" dirty="0"/>
          </a:p>
          <a:p>
            <a:pPr algn="ctr" indent="0" marL="0">
              <a:buNone/>
            </a:pPr>
            <a:r>
              <a:rPr lang="en-US" sz="1600" dirty="0">
                <a:solidFill>
                  <a:srgbClr val="120B2E"/>
                </a:solidFill>
                <a:latin typeface="+mj-lt" pitchFamily="34" charset="0"/>
                <a:ea typeface="+mj-lt" pitchFamily="34" charset="-122"/>
                <a:cs typeface="+mj-lt" pitchFamily="34" charset="-120"/>
              </a:rPr>
              <a:t>Des questions ?</a:t>
            </a:r>
            <a:endParaRPr lang="en-US" sz="1400" dirty="0"/>
          </a:p>
        </p:txBody>
      </p:sp>
      <p:sp>
        <p:nvSpPr>
          <p:cNvPr id="10" name="Surtitre"/>
          <p:cNvSpPr/>
          <p:nvPr/>
        </p:nvSpPr>
        <p:spPr>
          <a:xfrm>
            <a:off x="548640" y="384048"/>
            <a:ext cx="1051560" cy="292608"/>
          </a:xfrm>
          <a:prstGeom prst="roundRect">
            <a:avLst>
              <a:gd name="adj" fmla="val 50000"/>
            </a:avLst>
          </a:prstGeom>
          <a:solidFill>
            <a:srgbClr val="00C9B7"/>
          </a:solidFill>
          <a:ln/>
        </p:spPr>
      </p:sp>
      <p:sp>
        <p:nvSpPr>
          <p:cNvPr id="11" name="Text 9"/>
          <p:cNvSpPr txBox="1"/>
          <p:nvPr/>
        </p:nvSpPr>
        <p:spPr>
          <a:xfrm>
            <a:off x="548640" y="384048"/>
            <a:ext cx="1051560" cy="292608"/>
          </a:xfrm>
          <a:prstGeom prst="rect">
            <a:avLst/>
          </a:prstGeom>
          <a:noFill/>
          <a:ln/>
        </p:spPr>
        <p:txBody>
          <a:bodyPr wrap="square" lIns="0" tIns="0" rIns="0" bIns="0" rtlCol="0" anchor="ctr"/>
          <a:lstStyle/>
          <a:p>
            <a:pPr algn="ctr" indent="0" marL="0">
              <a:buNone/>
            </a:pPr>
            <a:r>
              <a:rPr lang="en-US" sz="1100" b="1" spc="100" kern="0" dirty="0">
                <a:solidFill>
                  <a:srgbClr val="120B2E"/>
                </a:solidFill>
              </a:rPr>
              <a:t>CONCLUSION</a:t>
            </a:r>
            <a:endParaRPr lang="en-US" sz="1100" dirty="0"/>
          </a:p>
        </p:txBody>
      </p:sp>
      <p:sp>
        <p:nvSpPr>
          <p:cNvPr id="12" name="Text 0"/>
          <p:cNvSpPr/>
          <p:nvPr>
            <p:ph idx="100" type="title" hasCustomPrompt="1"/>
          </p:nvPr>
        </p:nvSpPr>
        <p:spPr>
          <a:xfrm>
            <a:off x="548640" y="749808"/>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rPr>
              <a:t>Livré, testé, verrouillé</a:t>
            </a:r>
            <a:endParaRPr lang="en-US" sz="3400" dirty="0"/>
          </a:p>
        </p:txBody>
      </p:sp>
      <p:sp>
        <p:nvSpPr>
          <p:cNvPr id="13" name="Pastille réussi"/>
          <p:cNvSpPr/>
          <p:nvPr/>
        </p:nvSpPr>
        <p:spPr>
          <a:xfrm>
            <a:off x="548640" y="1874520"/>
            <a:ext cx="502920" cy="502920"/>
          </a:xfrm>
          <a:prstGeom prst="ellipse">
            <a:avLst/>
          </a:prstGeom>
          <a:solidFill>
            <a:srgbClr val="00C9B7"/>
          </a:solidFill>
          <a:ln/>
        </p:spPr>
      </p:sp>
      <p:pic>
        <p:nvPicPr>
          <p:cNvPr id="14" name="Image 0" descr="Fait">    </p:cNvPr>
          <p:cNvPicPr>
            <a:picLocks noChangeAspect="1"/>
          </p:cNvPicPr>
          <p:nvPr/>
        </p:nvPicPr>
        <p:blipFill>
          <a:blip r:embed="rId1"/>
          <a:stretch>
            <a:fillRect/>
          </a:stretch>
        </p:blipFill>
        <p:spPr>
          <a:xfrm>
            <a:off x="676656" y="2002536"/>
            <a:ext cx="246888" cy="246888"/>
          </a:xfrm>
          <a:prstGeom prst="rect">
            <a:avLst/>
          </a:prstGeom>
        </p:spPr>
      </p:pic>
      <p:sp>
        <p:nvSpPr>
          <p:cNvPr id="15" name="Text 12"/>
          <p:cNvSpPr txBox="1"/>
          <p:nvPr/>
        </p:nvSpPr>
        <p:spPr>
          <a:xfrm>
            <a:off x="1280160" y="1828800"/>
            <a:ext cx="5394960" cy="594360"/>
          </a:xfrm>
          <a:prstGeom prst="rect">
            <a:avLst/>
          </a:prstGeom>
          <a:noFill/>
          <a:ln/>
        </p:spPr>
        <p:txBody>
          <a:bodyPr wrap="square" lIns="0" tIns="0" rIns="0" bIns="0" rtlCol="0" anchor="ctr"/>
          <a:lstStyle/>
          <a:p>
            <a:pPr indent="0" marL="0">
              <a:buNone/>
            </a:pPr>
            <a:r>
              <a:rPr lang="en-US" sz="1800" b="1" dirty="0">
                <a:solidFill>
                  <a:schemeClr val="bg1"/>
                </a:solidFill>
              </a:rPr>
              <a:t>Nœud ESP32  </a:t>
            </a:r>
            <a:pPr indent="0" marL="0">
              <a:buNone/>
            </a:pPr>
            <a:r>
              <a:rPr lang="en-US" sz="1400" dirty="0">
                <a:solidFill>
                  <a:srgbClr val="B9B3E6"/>
                </a:solidFill>
              </a:rPr>
              <a:t>capteurs, JSON, MQTTS, LED d'alerte</a:t>
            </a:r>
            <a:endParaRPr lang="en-US" sz="1400" dirty="0"/>
          </a:p>
        </p:txBody>
      </p:sp>
      <p:sp>
        <p:nvSpPr>
          <p:cNvPr id="16" name="Pastille réussi"/>
          <p:cNvSpPr/>
          <p:nvPr/>
        </p:nvSpPr>
        <p:spPr>
          <a:xfrm>
            <a:off x="548640" y="2651760"/>
            <a:ext cx="502920" cy="502920"/>
          </a:xfrm>
          <a:prstGeom prst="ellipse">
            <a:avLst/>
          </a:prstGeom>
          <a:solidFill>
            <a:srgbClr val="FFB400"/>
          </a:solidFill>
          <a:ln/>
        </p:spPr>
      </p:sp>
      <p:pic>
        <p:nvPicPr>
          <p:cNvPr id="17" name="Image 1" descr="Fait">    </p:cNvPr>
          <p:cNvPicPr>
            <a:picLocks noChangeAspect="1"/>
          </p:cNvPicPr>
          <p:nvPr/>
        </p:nvPicPr>
        <p:blipFill>
          <a:blip r:embed="rId2"/>
          <a:stretch>
            <a:fillRect/>
          </a:stretch>
        </p:blipFill>
        <p:spPr>
          <a:xfrm>
            <a:off x="676656" y="2779776"/>
            <a:ext cx="246888" cy="246888"/>
          </a:xfrm>
          <a:prstGeom prst="rect">
            <a:avLst/>
          </a:prstGeom>
        </p:spPr>
      </p:pic>
      <p:sp>
        <p:nvSpPr>
          <p:cNvPr id="18" name="Text 14"/>
          <p:cNvSpPr txBox="1"/>
          <p:nvPr/>
        </p:nvSpPr>
        <p:spPr>
          <a:xfrm>
            <a:off x="1280160" y="2606040"/>
            <a:ext cx="5394960" cy="594360"/>
          </a:xfrm>
          <a:prstGeom prst="rect">
            <a:avLst/>
          </a:prstGeom>
          <a:noFill/>
          <a:ln/>
        </p:spPr>
        <p:txBody>
          <a:bodyPr wrap="square" lIns="0" tIns="0" rIns="0" bIns="0" rtlCol="0" anchor="ctr"/>
          <a:lstStyle/>
          <a:p>
            <a:pPr indent="0" marL="0">
              <a:buNone/>
            </a:pPr>
            <a:r>
              <a:rPr lang="en-US" sz="1800" b="1" dirty="0">
                <a:solidFill>
                  <a:schemeClr val="bg1"/>
                </a:solidFill>
              </a:rPr>
              <a:t>Infra Docker  </a:t>
            </a:r>
            <a:pPr indent="0" marL="0">
              <a:buNone/>
            </a:pPr>
            <a:r>
              <a:rPr lang="en-US" sz="1400" dirty="0">
                <a:solidFill>
                  <a:srgbClr val="B9B3E6"/>
                </a:solidFill>
              </a:rPr>
              <a:t>7 services, déploiement hors ligne</a:t>
            </a:r>
            <a:endParaRPr lang="en-US" sz="1400" dirty="0"/>
          </a:p>
        </p:txBody>
      </p:sp>
      <p:sp>
        <p:nvSpPr>
          <p:cNvPr id="19" name="Pastille réussi"/>
          <p:cNvSpPr/>
          <p:nvPr/>
        </p:nvSpPr>
        <p:spPr>
          <a:xfrm>
            <a:off x="548640" y="3429000"/>
            <a:ext cx="502920" cy="502920"/>
          </a:xfrm>
          <a:prstGeom prst="ellipse">
            <a:avLst/>
          </a:prstGeom>
          <a:solidFill>
            <a:srgbClr val="3D8BFF"/>
          </a:solidFill>
          <a:ln/>
        </p:spPr>
      </p:sp>
      <p:pic>
        <p:nvPicPr>
          <p:cNvPr id="20" name="Image 2" descr="Fait">    </p:cNvPr>
          <p:cNvPicPr>
            <a:picLocks noChangeAspect="1"/>
          </p:cNvPicPr>
          <p:nvPr/>
        </p:nvPicPr>
        <p:blipFill>
          <a:blip r:embed="rId3"/>
          <a:stretch>
            <a:fillRect/>
          </a:stretch>
        </p:blipFill>
        <p:spPr>
          <a:xfrm>
            <a:off x="676656" y="3557016"/>
            <a:ext cx="246888" cy="246888"/>
          </a:xfrm>
          <a:prstGeom prst="rect">
            <a:avLst/>
          </a:prstGeom>
        </p:spPr>
      </p:pic>
      <p:sp>
        <p:nvSpPr>
          <p:cNvPr id="21" name="Text 16"/>
          <p:cNvSpPr txBox="1"/>
          <p:nvPr/>
        </p:nvSpPr>
        <p:spPr>
          <a:xfrm>
            <a:off x="1280160" y="3383280"/>
            <a:ext cx="5394960" cy="594360"/>
          </a:xfrm>
          <a:prstGeom prst="rect">
            <a:avLst/>
          </a:prstGeom>
          <a:noFill/>
          <a:ln/>
        </p:spPr>
        <p:txBody>
          <a:bodyPr wrap="square" lIns="0" tIns="0" rIns="0" bIns="0" rtlCol="0" anchor="ctr"/>
          <a:lstStyle/>
          <a:p>
            <a:pPr indent="0" marL="0">
              <a:buNone/>
            </a:pPr>
            <a:r>
              <a:rPr lang="en-US" sz="1800" b="1" dirty="0">
                <a:solidFill>
                  <a:schemeClr val="bg1"/>
                </a:solidFill>
              </a:rPr>
              <a:t>Backend &amp; dashboard  </a:t>
            </a:r>
            <a:pPr indent="0" marL="0">
              <a:buNone/>
            </a:pPr>
            <a:r>
              <a:rPr lang="en-US" sz="1400" dirty="0">
                <a:solidFill>
                  <a:srgbClr val="B9B3E6"/>
                </a:solidFill>
              </a:rPr>
              <a:t>API, WebSocket, historique, alertes</a:t>
            </a:r>
            <a:endParaRPr lang="en-US" sz="1400" dirty="0"/>
          </a:p>
        </p:txBody>
      </p:sp>
      <p:sp>
        <p:nvSpPr>
          <p:cNvPr id="22" name="Pastille réussi"/>
          <p:cNvSpPr/>
          <p:nvPr/>
        </p:nvSpPr>
        <p:spPr>
          <a:xfrm>
            <a:off x="548640" y="4206240"/>
            <a:ext cx="502920" cy="502920"/>
          </a:xfrm>
          <a:prstGeom prst="ellipse">
            <a:avLst/>
          </a:prstGeom>
          <a:solidFill>
            <a:srgbClr val="FF4F81"/>
          </a:solidFill>
          <a:ln/>
        </p:spPr>
      </p:sp>
      <p:pic>
        <p:nvPicPr>
          <p:cNvPr id="23" name="Image 3" descr="Fait">    </p:cNvPr>
          <p:cNvPicPr>
            <a:picLocks noChangeAspect="1"/>
          </p:cNvPicPr>
          <p:nvPr/>
        </p:nvPicPr>
        <p:blipFill>
          <a:blip r:embed="rId4"/>
          <a:stretch>
            <a:fillRect/>
          </a:stretch>
        </p:blipFill>
        <p:spPr>
          <a:xfrm>
            <a:off x="676656" y="4334256"/>
            <a:ext cx="246888" cy="246888"/>
          </a:xfrm>
          <a:prstGeom prst="rect">
            <a:avLst/>
          </a:prstGeom>
        </p:spPr>
      </p:pic>
      <p:sp>
        <p:nvSpPr>
          <p:cNvPr id="24" name="Text 18"/>
          <p:cNvSpPr txBox="1"/>
          <p:nvPr/>
        </p:nvSpPr>
        <p:spPr>
          <a:xfrm>
            <a:off x="1280160" y="4160520"/>
            <a:ext cx="5394960" cy="594360"/>
          </a:xfrm>
          <a:prstGeom prst="rect">
            <a:avLst/>
          </a:prstGeom>
          <a:noFill/>
          <a:ln/>
        </p:spPr>
        <p:txBody>
          <a:bodyPr wrap="square" lIns="0" tIns="0" rIns="0" bIns="0" rtlCol="0" anchor="ctr"/>
          <a:lstStyle/>
          <a:p>
            <a:pPr indent="0" marL="0">
              <a:buNone/>
            </a:pPr>
            <a:r>
              <a:rPr lang="en-US" sz="1800" b="1" dirty="0">
                <a:solidFill>
                  <a:schemeClr val="bg1"/>
                </a:solidFill>
              </a:rPr>
              <a:t>Deux IA  </a:t>
            </a:r>
            <a:pPr indent="0" marL="0">
              <a:buNone/>
            </a:pPr>
            <a:r>
              <a:rPr lang="en-US" sz="1400" dirty="0">
                <a:solidFill>
                  <a:srgbClr val="B9B3E6"/>
                </a:solidFill>
              </a:rPr>
              <a:t>vision YOLOv8n et prédiction Isolation Forest</a:t>
            </a:r>
            <a:endParaRPr lang="en-US" sz="1400" dirty="0"/>
          </a:p>
        </p:txBody>
      </p:sp>
      <p:sp>
        <p:nvSpPr>
          <p:cNvPr id="25" name="Pastille réussi"/>
          <p:cNvSpPr/>
          <p:nvPr/>
        </p:nvSpPr>
        <p:spPr>
          <a:xfrm>
            <a:off x="548640" y="4983480"/>
            <a:ext cx="502920" cy="502920"/>
          </a:xfrm>
          <a:prstGeom prst="ellipse">
            <a:avLst/>
          </a:prstGeom>
          <a:solidFill>
            <a:srgbClr val="7ADB4F"/>
          </a:solidFill>
          <a:ln/>
        </p:spPr>
      </p:sp>
      <p:pic>
        <p:nvPicPr>
          <p:cNvPr id="26" name="Image 4" descr="Fait">    </p:cNvPr>
          <p:cNvPicPr>
            <a:picLocks noChangeAspect="1"/>
          </p:cNvPicPr>
          <p:nvPr/>
        </p:nvPicPr>
        <p:blipFill>
          <a:blip r:embed="rId5"/>
          <a:stretch>
            <a:fillRect/>
          </a:stretch>
        </p:blipFill>
        <p:spPr>
          <a:xfrm>
            <a:off x="676656" y="5111496"/>
            <a:ext cx="246888" cy="246888"/>
          </a:xfrm>
          <a:prstGeom prst="rect">
            <a:avLst/>
          </a:prstGeom>
        </p:spPr>
      </p:pic>
      <p:sp>
        <p:nvSpPr>
          <p:cNvPr id="27" name="Text 20"/>
          <p:cNvSpPr txBox="1"/>
          <p:nvPr/>
        </p:nvSpPr>
        <p:spPr>
          <a:xfrm>
            <a:off x="1280160" y="4937760"/>
            <a:ext cx="5394960" cy="594360"/>
          </a:xfrm>
          <a:prstGeom prst="rect">
            <a:avLst/>
          </a:prstGeom>
          <a:noFill/>
          <a:ln/>
        </p:spPr>
        <p:txBody>
          <a:bodyPr wrap="square" lIns="0" tIns="0" rIns="0" bIns="0" rtlCol="0" anchor="ctr"/>
          <a:lstStyle/>
          <a:p>
            <a:pPr indent="0" marL="0">
              <a:buNone/>
            </a:pPr>
            <a:r>
              <a:rPr lang="en-US" sz="1800" b="1" dirty="0">
                <a:solidFill>
                  <a:schemeClr val="bg1"/>
                </a:solidFill>
              </a:rPr>
              <a:t>Sécurité  </a:t>
            </a:r>
            <a:pPr indent="0" marL="0">
              <a:buNone/>
            </a:pPr>
            <a:r>
              <a:rPr lang="en-US" sz="1400" dirty="0">
                <a:solidFill>
                  <a:srgbClr val="B9B3E6"/>
                </a:solidFill>
              </a:rPr>
              <a:t>TLS, ACL par nœud, un seul port exposé</a:t>
            </a:r>
            <a:endParaRPr lang="en-US" sz="1400" dirty="0"/>
          </a:p>
        </p:txBody>
      </p:sp>
      <p:sp>
        <p:nvSpPr>
          <p:cNvPr id="28" name="Text 21"/>
          <p:cNvSpPr txBox="1"/>
          <p:nvPr/>
        </p:nvSpPr>
        <p:spPr>
          <a:xfrm>
            <a:off x="548640" y="5943600"/>
            <a:ext cx="6126480" cy="274320"/>
          </a:xfrm>
          <a:prstGeom prst="rect">
            <a:avLst/>
          </a:prstGeom>
          <a:noFill/>
          <a:ln/>
        </p:spPr>
        <p:txBody>
          <a:bodyPr wrap="square" lIns="0" tIns="0" rIns="0" bIns="0" rtlCol="0" anchor="t"/>
          <a:lstStyle/>
          <a:p>
            <a:pPr indent="0" marL="0">
              <a:buNone/>
            </a:pPr>
            <a:r>
              <a:rPr lang="en-US" sz="1200" dirty="0">
                <a:solidFill>
                  <a:srgbClr val="B9B3E6"/>
                </a:solidFill>
              </a:rPr>
              <a:t>Julien · Lucas · Rem · Latif  —  groupe 04 · consortium VIG1L-8</a:t>
            </a:r>
            <a:endParaRPr lang="en-US" sz="1200" dirty="0"/>
          </a:p>
        </p:txBody>
      </p:sp>
      <p:sp>
        <p:nvSpPr>
          <p:cNvPr id="25" name="Slide Number Placeholder 0"/>
          <p:cNvSpPr>
            <a:spLocks noGrp="1"/>
          </p:cNvSpPr>
          <p:nvPr>
            <p:ph type="sldNum" sz="quarter" idx="4294967295"/>
          </p:nvPr>
        </p:nvSpPr>
        <p:spPr>
          <a:xfrm>
            <a:off x="11064240" y="6400800"/>
            <a:ext cx="64008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B9B3E6"/>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Sentinel-X">
  <a:themeElements>
    <a:clrScheme name="Sentinel-X">
      <a:dk1>
        <a:srgbClr val="120B2E"/>
      </a:dk1>
      <a:lt1>
        <a:srgbClr val="FFFFFF"/>
      </a:lt1>
      <a:dk2>
        <a:srgbClr val="2B1B6B"/>
      </a:dk2>
      <a:lt2>
        <a:srgbClr val="F3F0FF"/>
      </a:lt2>
      <a:accent1>
        <a:srgbClr val="6C3BFF"/>
      </a:accent1>
      <a:accent2>
        <a:srgbClr val="00C9B7"/>
      </a:accent2>
      <a:accent3>
        <a:srgbClr val="FF4F81"/>
      </a:accent3>
      <a:accent4>
        <a:srgbClr val="FFB400"/>
      </a:accent4>
      <a:accent5>
        <a:srgbClr val="3D8BFF"/>
      </a:accent5>
      <a:accent6>
        <a:srgbClr val="7ADB4F"/>
      </a:accent6>
      <a:hlink>
        <a:srgbClr val="3D8BFF"/>
      </a:hlink>
      <a:folHlink>
        <a:srgbClr val="6C3BFF"/>
      </a:folHlink>
    </a:clrScheme>
    <a:fontScheme name="Sentinel-X">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Sentinel-X — Workshop EPSI 2026</dc:title>
  <dc:subject>PptxGenJS Presentation</dc:subject>
  <dc:creator>Groupe GXX</dc:creator>
  <cp:lastModifiedBy>Groupe GXX</cp:lastModifiedBy>
  <cp:revision>1</cp:revision>
  <dcterms:created xsi:type="dcterms:W3CDTF">2026-10-08T08:28:36Z</dcterms:created>
  <dcterms:modified xsi:type="dcterms:W3CDTF">2026-10-08T08:28:36Z</dcterms:modified>
</cp:coreProperties>
</file>