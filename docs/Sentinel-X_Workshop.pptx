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fr-FR" sz="1800" spc="-1" strike="noStrike">
                <a:solidFill>
                  <a:schemeClr val="dk1"/>
                </a:solidFill>
                <a:latin typeface="Calibri"/>
              </a:rPr>
              <a:t>Click to move the slide</a:t>
            </a:r>
            <a:endParaRPr b="0" lang="fr-FR" sz="1800" spc="-1" strike="noStrike">
              <a:solidFill>
                <a:schemeClr val="dk1"/>
              </a:solidFill>
              <a:latin typeface="Calibri"/>
            </a:endParaRPr>
          </a:p>
        </p:txBody>
      </p:sp>
      <p:sp>
        <p:nvSpPr>
          <p:cNvPr id="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fr-FR" sz="2000" spc="-1" strike="noStrike">
                <a:solidFill>
                  <a:srgbClr val="000000"/>
                </a:solidFill>
                <a:latin typeface="Arial"/>
              </a:rPr>
              <a:t>Click to edit the notes format</a:t>
            </a:r>
            <a:endParaRPr b="0" lang="fr-FR" sz="2000" spc="-1" strike="noStrike">
              <a:solidFill>
                <a:srgbClr val="000000"/>
              </a:solidFill>
              <a:latin typeface="Arial"/>
            </a:endParaRPr>
          </a:p>
        </p:txBody>
      </p:sp>
      <p:sp>
        <p:nvSpPr>
          <p:cNvPr id="1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fr-FR" sz="1400" spc="-1" strike="noStrike">
                <a:solidFill>
                  <a:srgbClr val="000000"/>
                </a:solidFill>
                <a:latin typeface="Times New Roman"/>
              </a:rPr>
              <a:t>&lt;header&gt;</a:t>
            </a:r>
            <a:endParaRPr b="0" lang="fr-FR" sz="1400" spc="-1" strike="noStrike">
              <a:solidFill>
                <a:srgbClr val="000000"/>
              </a:solidFill>
              <a:latin typeface="Times New Roman"/>
            </a:endParaRPr>
          </a:p>
        </p:txBody>
      </p:sp>
      <p:sp>
        <p:nvSpPr>
          <p:cNvPr id="11" name="PlaceHolder 4"/>
          <p:cNvSpPr>
            <a:spLocks noGrp="1"/>
          </p:cNvSpPr>
          <p:nvPr>
            <p:ph type="dt" idx="3"/>
          </p:nvPr>
        </p:nvSpPr>
        <p:spPr>
          <a:xfrm>
            <a:off x="4278960" y="0"/>
            <a:ext cx="3280680" cy="534240"/>
          </a:xfrm>
          <a:prstGeom prst="rect">
            <a:avLst/>
          </a:prstGeom>
          <a:noFill/>
          <a:ln w="0">
            <a:noFill/>
          </a:ln>
        </p:spPr>
        <p:txBody>
          <a:bodyPr lIns="0" rIns="0" tIns="0" bIns="0" anchor="t">
            <a:noAutofit/>
          </a:bodyPr>
          <a:lstStyle>
            <a:lvl1pPr indent="0" algn="r">
              <a:buNone/>
              <a:defRPr b="0" lang="fr-FR" sz="1400" spc="-1" strike="noStrike">
                <a:solidFill>
                  <a:srgbClr val="000000"/>
                </a:solidFill>
                <a:latin typeface="Times New Roman"/>
              </a:defRPr>
            </a:lvl1pPr>
          </a:lstStyle>
          <a:p>
            <a:pPr indent="0" algn="r">
              <a:buNone/>
            </a:pPr>
            <a:r>
              <a:rPr b="0" lang="fr-FR" sz="1400" spc="-1" strike="noStrike">
                <a:solidFill>
                  <a:srgbClr val="000000"/>
                </a:solidFill>
                <a:latin typeface="Times New Roman"/>
              </a:rPr>
              <a:t>&lt;date/time&gt;</a:t>
            </a:r>
            <a:endParaRPr b="0" lang="fr-FR" sz="1400" spc="-1" strike="noStrike">
              <a:solidFill>
                <a:srgbClr val="000000"/>
              </a:solidFill>
              <a:latin typeface="Times New Roman"/>
            </a:endParaRPr>
          </a:p>
        </p:txBody>
      </p:sp>
      <p:sp>
        <p:nvSpPr>
          <p:cNvPr id="12" name="PlaceHolder 5"/>
          <p:cNvSpPr>
            <a:spLocks noGrp="1"/>
          </p:cNvSpPr>
          <p:nvPr>
            <p:ph type="ftr" idx="4"/>
          </p:nvPr>
        </p:nvSpPr>
        <p:spPr>
          <a:xfrm>
            <a:off x="0" y="10157400"/>
            <a:ext cx="3280680" cy="534240"/>
          </a:xfrm>
          <a:prstGeom prst="rect">
            <a:avLst/>
          </a:prstGeom>
          <a:noFill/>
          <a:ln w="0">
            <a:noFill/>
          </a:ln>
        </p:spPr>
        <p:txBody>
          <a:bodyPr lIns="0" rIns="0" tIns="0" bIns="0" anchor="b">
            <a:noAutofit/>
          </a:bodyPr>
          <a:lstStyle>
            <a:lvl1pPr indent="0">
              <a:buNone/>
              <a:defRPr b="0" lang="fr-FR" sz="1400" spc="-1" strike="noStrike">
                <a:solidFill>
                  <a:srgbClr val="000000"/>
                </a:solidFill>
                <a:latin typeface="Times New Roman"/>
              </a:defRPr>
            </a:lvl1pPr>
          </a:lstStyle>
          <a:p>
            <a:pPr indent="0">
              <a:buNone/>
            </a:pPr>
            <a:r>
              <a:rPr b="0" lang="fr-FR" sz="1400" spc="-1" strike="noStrike">
                <a:solidFill>
                  <a:srgbClr val="000000"/>
                </a:solidFill>
                <a:latin typeface="Times New Roman"/>
              </a:rPr>
              <a:t>&lt;footer&gt;</a:t>
            </a:r>
            <a:endParaRPr b="0" lang="fr-FR" sz="1400" spc="-1" strike="noStrike">
              <a:solidFill>
                <a:srgbClr val="000000"/>
              </a:solidFill>
              <a:latin typeface="Times New Roman"/>
            </a:endParaRPr>
          </a:p>
        </p:txBody>
      </p:sp>
      <p:sp>
        <p:nvSpPr>
          <p:cNvPr id="13" name="PlaceHolder 6"/>
          <p:cNvSpPr>
            <a:spLocks noGrp="1"/>
          </p:cNvSpPr>
          <p:nvPr>
            <p:ph type="sldNum" idx="5"/>
          </p:nvPr>
        </p:nvSpPr>
        <p:spPr>
          <a:xfrm>
            <a:off x="4278960" y="10157400"/>
            <a:ext cx="3280680" cy="534240"/>
          </a:xfrm>
          <a:prstGeom prst="rect">
            <a:avLst/>
          </a:prstGeom>
          <a:noFill/>
          <a:ln w="0">
            <a:noFill/>
          </a:ln>
        </p:spPr>
        <p:txBody>
          <a:bodyPr lIns="0" rIns="0" tIns="0" bIns="0" anchor="b">
            <a:noAutofit/>
          </a:bodyPr>
          <a:lstStyle>
            <a:lvl1pPr indent="0" algn="r">
              <a:buNone/>
              <a:defRPr b="0" lang="fr-FR" sz="1400" spc="-1" strike="noStrike">
                <a:solidFill>
                  <a:srgbClr val="000000"/>
                </a:solidFill>
                <a:latin typeface="Times New Roman"/>
              </a:defRPr>
            </a:lvl1pPr>
          </a:lstStyle>
          <a:p>
            <a:pPr indent="0" algn="r">
              <a:buNone/>
            </a:pPr>
            <a:fld id="{01798832-A4EC-4854-827A-6265F1B9AA73}" type="slidenum">
              <a:rPr b="0" lang="fr-FR" sz="1400" spc="-1" strike="noStrike">
                <a:solidFill>
                  <a:srgbClr val="000000"/>
                </a:solidFill>
                <a:latin typeface="Times New Roman"/>
              </a:rPr>
              <a:t>&lt;number&gt;</a:t>
            </a:fld>
            <a:endParaRPr b="0" lang="fr-F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ldImg"/>
          </p:nvPr>
        </p:nvSpPr>
        <p:spPr>
          <a:xfrm>
            <a:off x="685800" y="1143000"/>
            <a:ext cx="5486040" cy="3085920"/>
          </a:xfrm>
          <a:prstGeom prst="rect">
            <a:avLst/>
          </a:prstGeom>
          <a:ln w="0">
            <a:noFill/>
          </a:ln>
        </p:spPr>
      </p:sp>
      <p:sp>
        <p:nvSpPr>
          <p:cNvPr id="5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Bonjour, nous sommes le groupe 04. Sentinel-X est un boîtier de surveillance autonome pour micro-centrales : un ESP32 mesure, une IA locale détecte, et tout est chiffré. Présentation de l'équipe : Julien (infra, cyber, firmware), Lucas (backend, dashboard), Rem (IA), Latif (sécurité).</a:t>
            </a:r>
            <a:endParaRPr b="0" lang="fr-FR" sz="2000" spc="-1" strike="noStrike">
              <a:solidFill>
                <a:srgbClr val="000000"/>
              </a:solidFill>
              <a:latin typeface="Arial"/>
            </a:endParaRPr>
          </a:p>
        </p:txBody>
      </p:sp>
      <p:sp>
        <p:nvSpPr>
          <p:cNvPr id="557"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E1BA620-18EB-4DDF-BAE1-2838B056877A}"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PlaceHolder 1"/>
          <p:cNvSpPr>
            <a:spLocks noGrp="1"/>
          </p:cNvSpPr>
          <p:nvPr>
            <p:ph type="sldImg"/>
          </p:nvPr>
        </p:nvSpPr>
        <p:spPr>
          <a:xfrm>
            <a:off x="685800" y="1143000"/>
            <a:ext cx="5486040" cy="3085920"/>
          </a:xfrm>
          <a:prstGeom prst="rect">
            <a:avLst/>
          </a:prstGeom>
          <a:ln w="0">
            <a:noFill/>
          </a:ln>
        </p:spPr>
      </p:sp>
      <p:sp>
        <p:nvSpPr>
          <p:cNvPr id="5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sujet impose quatre piliers : Edge/IoT, IA locale, infrastructure et cybersécurité. L'interconnexion de toutes les briques est éliminatoire pour la démo, donc nous avons conçu l'ensemble comme un tout.</a:t>
            </a:r>
            <a:endParaRPr b="0" lang="fr-FR" sz="2000" spc="-1" strike="noStrike">
              <a:solidFill>
                <a:srgbClr val="000000"/>
              </a:solidFill>
              <a:latin typeface="Arial"/>
            </a:endParaRPr>
          </a:p>
        </p:txBody>
      </p:sp>
      <p:sp>
        <p:nvSpPr>
          <p:cNvPr id="560"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52CADBAB-75A6-416F-AA67-7F641E48E962}"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ldImg"/>
          </p:nvPr>
        </p:nvSpPr>
        <p:spPr>
          <a:xfrm>
            <a:off x="685800" y="1143000"/>
            <a:ext cx="5486040" cy="3085920"/>
          </a:xfrm>
          <a:prstGeom prst="rect">
            <a:avLst/>
          </a:prstGeom>
          <a:ln w="0">
            <a:noFill/>
          </a:ln>
        </p:spPr>
      </p:sp>
      <p:sp>
        <p:nvSpPr>
          <p:cNvPr id="5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Quatre chiffres à retenir : TLS 1.2 minimum vérifié côté nœud, deux niveaux d'alerte, 10 dérives lentes sur 10 détectées en simulation avec 0,07 % de fausses alertes, et 37 ms par image pour la vision contre un objectif de 100 ms. Honnêteté : IA évaluée sur données simulées, vision mesurée sur PC de développement.</a:t>
            </a:r>
            <a:endParaRPr b="0" lang="fr-FR" sz="2000" spc="-1" strike="noStrike">
              <a:solidFill>
                <a:srgbClr val="000000"/>
              </a:solidFill>
              <a:latin typeface="Arial"/>
            </a:endParaRPr>
          </a:p>
        </p:txBody>
      </p:sp>
      <p:sp>
        <p:nvSpPr>
          <p:cNvPr id="563" name="PlaceHolder 3"/>
          <p:cNvSpPr>
            <a:spLocks noGrp="1"/>
          </p:cNvSpPr>
          <p:nvPr>
            <p:ph type="sldNum" idx="2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92113ED-C5D2-4A65-82F2-F2C7F8B5CAC1}"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sldImg"/>
          </p:nvPr>
        </p:nvSpPr>
        <p:spPr>
          <a:xfrm>
            <a:off x="685800" y="1143000"/>
            <a:ext cx="5486040" cy="3085920"/>
          </a:xfrm>
          <a:prstGeom prst="rect">
            <a:avLst/>
          </a:prstGeom>
          <a:ln w="0">
            <a:noFill/>
          </a:ln>
        </p:spPr>
      </p:sp>
      <p:sp>
        <p:nvSpPr>
          <p:cNvPr id="5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Option B : le Raspberry Pi est remplacé par le portable Linux d'un membre. Il porte la pile Docker, la webcam et le hotspot. Flux : l'ESP32 publie en MQTTS vers Mosquitto, le backend valide et écrit en base, les deux IA alertent via l'API, le dashboard affiche tout. Principe clé : un seul écrivain en base, le backend.</a:t>
            </a:r>
            <a:endParaRPr b="0" lang="fr-FR" sz="2000" spc="-1" strike="noStrike">
              <a:solidFill>
                <a:srgbClr val="000000"/>
              </a:solidFill>
              <a:latin typeface="Arial"/>
            </a:endParaRPr>
          </a:p>
        </p:txBody>
      </p:sp>
      <p:sp>
        <p:nvSpPr>
          <p:cNvPr id="566" name="PlaceHolder 3"/>
          <p:cNvSpPr>
            <a:spLocks noGrp="1"/>
          </p:cNvSpPr>
          <p:nvPr>
            <p:ph type="sldNum" idx="2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CF14CBA4-68D4-44F6-8C38-44FD9485AA0B}"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7" name="PlaceHolder 1"/>
          <p:cNvSpPr>
            <a:spLocks noGrp="1"/>
          </p:cNvSpPr>
          <p:nvPr>
            <p:ph type="sldImg"/>
          </p:nvPr>
        </p:nvSpPr>
        <p:spPr>
          <a:xfrm>
            <a:off x="685800" y="1143000"/>
            <a:ext cx="5486040" cy="3085920"/>
          </a:xfrm>
          <a:prstGeom prst="rect">
            <a:avLst/>
          </a:prstGeom>
          <a:ln w="0">
            <a:noFill/>
          </a:ln>
        </p:spPr>
      </p:sp>
      <p:sp>
        <p:nvSpPr>
          <p:cNvPr id="5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Réseau dédié à la table, WPA2, 2,4 GHz. L'ESP32 a une IP fixe hors plage DHCP. Surface exposée : un seul port, 18883, lié à l'adresse du hotspot uniquement, car Docker contourne le pare-feu de l'hôte pour les ports publiés. Le dashboard n'écoute que sur la boucle locale. Les ports non standard réduisent le bruit mais ne protègent pas : la protection, c'est TLS, l'authentification et les ACL.</a:t>
            </a:r>
            <a:endParaRPr b="0" lang="fr-FR" sz="2000" spc="-1" strike="noStrike">
              <a:solidFill>
                <a:srgbClr val="000000"/>
              </a:solidFill>
              <a:latin typeface="Arial"/>
            </a:endParaRPr>
          </a:p>
        </p:txBody>
      </p:sp>
      <p:sp>
        <p:nvSpPr>
          <p:cNvPr id="569" name="PlaceHolder 3"/>
          <p:cNvSpPr>
            <a:spLocks noGrp="1"/>
          </p:cNvSpPr>
          <p:nvPr>
            <p:ph type="sldNum" idx="2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2B4968A3-CC7E-449C-97D8-F0A7BCFF6260}"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0" name="PlaceHolder 1"/>
          <p:cNvSpPr>
            <a:spLocks noGrp="1"/>
          </p:cNvSpPr>
          <p:nvPr>
            <p:ph type="sldImg"/>
          </p:nvPr>
        </p:nvSpPr>
        <p:spPr>
          <a:xfrm>
            <a:off x="685800" y="1143000"/>
            <a:ext cx="5486040" cy="3085920"/>
          </a:xfrm>
          <a:prstGeom prst="rect">
            <a:avLst/>
          </a:prstGeom>
          <a:ln w="0">
            <a:noFill/>
          </a:ln>
        </p:spPr>
      </p:sp>
      <p:sp>
        <p:nvSpPr>
          <p:cNvPr id="5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nœud ne contient que l'ESP32 et ses capteurs. Le DHT22 est alimenté par une broche GPIO pour que le firmware puisse le redémarrer. Le MQ-2 est sur l'ADC1 car l'ADC2 est inutilisable avec le Wi-Fi. Faute de buzzer, la LED environnement porte les alertes : fixe pour l'avertissement local, clignotante quand l'IA confirme.</a:t>
            </a:r>
            <a:endParaRPr b="0" lang="fr-FR" sz="2000" spc="-1" strike="noStrike">
              <a:solidFill>
                <a:srgbClr val="000000"/>
              </a:solidFill>
              <a:latin typeface="Arial"/>
            </a:endParaRPr>
          </a:p>
        </p:txBody>
      </p:sp>
      <p:sp>
        <p:nvSpPr>
          <p:cNvPr id="572" name="PlaceHolder 3"/>
          <p:cNvSpPr>
            <a:spLocks noGrp="1"/>
          </p:cNvSpPr>
          <p:nvPr>
            <p:ph type="sldNum" idx="2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1B602175-CBCE-4240-900B-29B100653AB7}"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sldImg"/>
          </p:nvPr>
        </p:nvSpPr>
        <p:spPr>
          <a:xfrm>
            <a:off x="685800" y="1143000"/>
            <a:ext cx="5486040" cy="3085920"/>
          </a:xfrm>
          <a:prstGeom prst="rect">
            <a:avLst/>
          </a:prstGeom>
          <a:ln w="0">
            <a:noFill/>
          </a:ln>
        </p:spPr>
      </p:sp>
      <p:sp>
        <p:nvSpPr>
          <p:cNvPr id="5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format est versionné (v1). Quatre topics : télémétrie toutes les 2 secondes, événement PIR immédiat, statut retenu avec testament MQTT, et commandes dans l'autre sens. Principe de conception : une panne de capteur envoie null, on ne masque jamais une défaillance.</a:t>
            </a:r>
            <a:endParaRPr b="0" lang="fr-FR" sz="2000" spc="-1" strike="noStrike">
              <a:solidFill>
                <a:srgbClr val="000000"/>
              </a:solidFill>
              <a:latin typeface="Arial"/>
            </a:endParaRPr>
          </a:p>
        </p:txBody>
      </p:sp>
      <p:sp>
        <p:nvSpPr>
          <p:cNvPr id="575" name="PlaceHolder 3"/>
          <p:cNvSpPr>
            <a:spLocks noGrp="1"/>
          </p:cNvSpPr>
          <p:nvPr>
            <p:ph type="sldNum" idx="2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E6C3CA86-B012-490D-8D86-DD453F1C63DB}"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ldImg"/>
          </p:nvPr>
        </p:nvSpPr>
        <p:spPr>
          <a:xfrm>
            <a:off x="685800" y="1143000"/>
            <a:ext cx="5486040" cy="3085920"/>
          </a:xfrm>
          <a:prstGeom prst="rect">
            <a:avLst/>
          </a:prstGeom>
          <a:ln w="0">
            <a:noFill/>
          </a:ln>
        </p:spPr>
      </p:sp>
      <p:sp>
        <p:nvSpPr>
          <p:cNvPr id="5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Sept services orchestrés par Docker Compose. Les images tierces sont épinglées par empreinte, tous les conteneurs tournent sans privilèges. Comme la carte Wi-Fi du portable est prise par le hotspot, on construit les images avec Internet avant la démo, puis tout fonctionne hors ligne.</a:t>
            </a:r>
            <a:endParaRPr b="0" lang="fr-FR" sz="2000" spc="-1" strike="noStrike">
              <a:solidFill>
                <a:srgbClr val="000000"/>
              </a:solidFill>
              <a:latin typeface="Arial"/>
            </a:endParaRPr>
          </a:p>
        </p:txBody>
      </p:sp>
      <p:sp>
        <p:nvSpPr>
          <p:cNvPr id="578" name="PlaceHolder 3"/>
          <p:cNvSpPr>
            <a:spLocks noGrp="1"/>
          </p:cNvSpPr>
          <p:nvPr>
            <p:ph type="sldNum" idx="2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FDB4A99E-CACB-4A55-AA2A-22B1502CD1A3}"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9" name="PlaceHolder 1"/>
          <p:cNvSpPr>
            <a:spLocks noGrp="1"/>
          </p:cNvSpPr>
          <p:nvPr>
            <p:ph type="sldImg"/>
          </p:nvPr>
        </p:nvSpPr>
        <p:spPr>
          <a:xfrm>
            <a:off x="685800" y="1143000"/>
            <a:ext cx="5486040" cy="3085920"/>
          </a:xfrm>
          <a:prstGeom prst="rect">
            <a:avLst/>
          </a:prstGeom>
          <a:ln w="0">
            <a:noFill/>
          </a:ln>
        </p:spPr>
      </p:sp>
      <p:sp>
        <p:nvSpPr>
          <p:cNvPr id="5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Pour tenir moins de 100 ms par image, on n'exécute pas YOLO en continu : une soustraction de fond MOG2 repère d'abord les mouvements et seuls les grands déclenchent YOLOv8n. Les alertes partent dans un thread séparé, la boucle vidéo n'attend jamais le réseau. Mesure actuelle : 37 ms par image sur le PC de développement ; à confirmer avec la webcam en démo.</a:t>
            </a:r>
            <a:endParaRPr b="0" lang="fr-FR" sz="2000" spc="-1" strike="noStrike">
              <a:solidFill>
                <a:srgbClr val="000000"/>
              </a:solidFill>
              <a:latin typeface="Arial"/>
            </a:endParaRPr>
          </a:p>
        </p:txBody>
      </p:sp>
      <p:sp>
        <p:nvSpPr>
          <p:cNvPr id="581" name="PlaceHolder 3"/>
          <p:cNvSpPr>
            <a:spLocks noGrp="1"/>
          </p:cNvSpPr>
          <p:nvPr>
            <p:ph type="sldNum" idx="2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B5B7D2F1-E7D8-40A9-9A4C-B7433D06DCAF}"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2" name="PlaceHolder 1"/>
          <p:cNvSpPr>
            <a:spLocks noGrp="1"/>
          </p:cNvSpPr>
          <p:nvPr>
            <p:ph type="sldImg"/>
          </p:nvPr>
        </p:nvSpPr>
        <p:spPr>
          <a:xfrm>
            <a:off x="685800" y="1143000"/>
            <a:ext cx="5486040" cy="3085920"/>
          </a:xfrm>
          <a:prstGeom prst="rect">
            <a:avLst/>
          </a:prstGeom>
          <a:ln w="0">
            <a:noFill/>
          </a:ln>
        </p:spPr>
      </p:sp>
      <p:sp>
        <p:nvSpPr>
          <p:cNvPr id="5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sujet interdit les seuils statiques et nous n'avons aucun exemple réel d'anomalie : un modèle supervisé aurait été entraîné sur des données inventées. L'Isolation Forest est non supervisé, il apprend le normal et isole ce qui s'en écarte. Deux niveaux : avertissement après 2 fenêtres anormales, confirmation après 5 avec la LED du nœud qui clignote. Résultats sur données simulées ; les résultats sur vraies mesures sont à ajouter.</a:t>
            </a:r>
            <a:endParaRPr b="0" lang="fr-FR" sz="2000" spc="-1" strike="noStrike">
              <a:solidFill>
                <a:srgbClr val="000000"/>
              </a:solidFill>
              <a:latin typeface="Arial"/>
            </a:endParaRPr>
          </a:p>
        </p:txBody>
      </p:sp>
      <p:sp>
        <p:nvSpPr>
          <p:cNvPr id="584" name="PlaceHolder 3"/>
          <p:cNvSpPr>
            <a:spLocks noGrp="1"/>
          </p:cNvSpPr>
          <p:nvPr>
            <p:ph type="sldNum" idx="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751DB64-A6C2-489D-870C-4852F4921295}"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5" name="PlaceHolder 1"/>
          <p:cNvSpPr>
            <a:spLocks noGrp="1"/>
          </p:cNvSpPr>
          <p:nvPr>
            <p:ph type="sldImg"/>
          </p:nvPr>
        </p:nvSpPr>
        <p:spPr>
          <a:xfrm>
            <a:off x="685800" y="1143000"/>
            <a:ext cx="5486040" cy="3085920"/>
          </a:xfrm>
          <a:prstGeom prst="rect">
            <a:avLst/>
          </a:prstGeom>
          <a:ln w="0">
            <a:noFill/>
          </a:ln>
        </p:spPr>
      </p:sp>
      <p:sp>
        <p:nvSpPr>
          <p:cNvPr id="5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Pas un seul rempart mais plusieurs couches. TLS vérifié côté nœud, un compte et des ACL par nœud, une validation stricte côté backend, le moindre privilège partout, une surface exposée réduite à un port, et des images épinglées. Même si l'ACL laisse passer un message, le backend vérifie que le device_id correspond au topic.</a:t>
            </a:r>
            <a:endParaRPr b="0" lang="fr-FR" sz="2000" spc="-1" strike="noStrike">
              <a:solidFill>
                <a:srgbClr val="000000"/>
              </a:solidFill>
              <a:latin typeface="Arial"/>
            </a:endParaRPr>
          </a:p>
        </p:txBody>
      </p:sp>
      <p:sp>
        <p:nvSpPr>
          <p:cNvPr id="587" name="PlaceHolder 3"/>
          <p:cNvSpPr>
            <a:spLocks noGrp="1"/>
          </p:cNvSpPr>
          <p:nvPr>
            <p:ph type="sldNum" idx="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039A4F0-50A0-4591-A28F-CB3AA34665FE}"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sldImg"/>
          </p:nvPr>
        </p:nvSpPr>
        <p:spPr>
          <a:xfrm>
            <a:off x="685800" y="1143000"/>
            <a:ext cx="5486040" cy="3085920"/>
          </a:xfrm>
          <a:prstGeom prst="rect">
            <a:avLst/>
          </a:prstGeom>
          <a:ln w="0">
            <a:noFill/>
          </a:ln>
        </p:spPr>
      </p:sp>
      <p:sp>
        <p:nvSpPr>
          <p:cNvPr id="5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Chaque contrôle de sécurité a été testé volontairement dans le mauvais sens : sans CA, sans mot de passe, avec le mauvais compte, avec un jeton insuffisant. Tous les essais échouent comme prévu. Les mesures sur le montage réel (latence ESP32 vers dashboard, CPU et RAM) restent à ajouter.</a:t>
            </a:r>
            <a:endParaRPr b="0" lang="fr-FR" sz="2000" spc="-1" strike="noStrike">
              <a:solidFill>
                <a:srgbClr val="000000"/>
              </a:solidFill>
              <a:latin typeface="Arial"/>
            </a:endParaRPr>
          </a:p>
        </p:txBody>
      </p:sp>
      <p:sp>
        <p:nvSpPr>
          <p:cNvPr id="590" name="PlaceHolder 3"/>
          <p:cNvSpPr>
            <a:spLocks noGrp="1"/>
          </p:cNvSpPr>
          <p:nvPr>
            <p:ph type="sldNum" idx="3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6A32DBC-9677-487D-A29B-6654856CBF0A}"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 name="PlaceHolder 1"/>
          <p:cNvSpPr>
            <a:spLocks noGrp="1"/>
          </p:cNvSpPr>
          <p:nvPr>
            <p:ph type="sldImg"/>
          </p:nvPr>
        </p:nvSpPr>
        <p:spPr>
          <a:xfrm>
            <a:off x="685800" y="1143000"/>
            <a:ext cx="5486040" cy="3085920"/>
          </a:xfrm>
          <a:prstGeom prst="rect">
            <a:avLst/>
          </a:prstGeom>
          <a:ln w="0">
            <a:noFill/>
          </a:ln>
        </p:spPr>
      </p:sp>
      <p:sp>
        <p:nvSpPr>
          <p:cNvPr id="5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Nous assumons nos limites. Le durcissement de l'hôte n'est pas pertinent pour un portable utilisé sur place, mais le serait pour un serveur dédié. Côté électronique, le MQ-2 devrait passer par un pont diviseur. Côté IA, il faut plus de données pour apprendre les variations jour/nuit.</a:t>
            </a:r>
            <a:endParaRPr b="0" lang="fr-FR" sz="2000" spc="-1" strike="noStrike">
              <a:solidFill>
                <a:srgbClr val="000000"/>
              </a:solidFill>
              <a:latin typeface="Arial"/>
            </a:endParaRPr>
          </a:p>
        </p:txBody>
      </p:sp>
      <p:sp>
        <p:nvSpPr>
          <p:cNvPr id="593" name="PlaceHolder 3"/>
          <p:cNvSpPr>
            <a:spLocks noGrp="1"/>
          </p:cNvSpPr>
          <p:nvPr>
            <p:ph type="sldNum" idx="3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E0367C9-D042-4BD0-961E-79C3480CBC45}"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sldImg"/>
          </p:nvPr>
        </p:nvSpPr>
        <p:spPr>
          <a:xfrm>
            <a:off x="685800" y="1143000"/>
            <a:ext cx="5486040" cy="3085920"/>
          </a:xfrm>
          <a:prstGeom prst="rect">
            <a:avLst/>
          </a:prstGeom>
          <a:ln w="0">
            <a:noFill/>
          </a:ln>
        </p:spPr>
      </p:sp>
      <p:sp>
        <p:nvSpPr>
          <p:cNvPr id="5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Bilan : toutes les briques sont livrées et interconnectées : nœud, infrastructure, backend, dashboard, deux IA, sécurité. Le modèle de prédiction a été réentraîné sur une heure de mesures réelles en salle. Merci, nous sommes prêts pour vos questions.</a:t>
            </a:r>
            <a:endParaRPr b="0" lang="fr-FR" sz="2000" spc="-1" strike="noStrike">
              <a:solidFill>
                <a:srgbClr val="000000"/>
              </a:solidFill>
              <a:latin typeface="Arial"/>
            </a:endParaRPr>
          </a:p>
        </p:txBody>
      </p:sp>
      <p:sp>
        <p:nvSpPr>
          <p:cNvPr id="596" name="PlaceHolder 3"/>
          <p:cNvSpPr>
            <a:spLocks noGrp="1"/>
          </p:cNvSpPr>
          <p:nvPr>
            <p:ph type="sldNum" idx="3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A30F05E-280E-4075-BB66-FF399A8D5017}"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ARK">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E8912DA0-1F27-4A5C-8A67-257B928CD1B5}"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IGHT">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C7C0A8BC-63F7-4D9F-8419-3291B4616F55}" type="slidenum">
              <a:t>&lt;#&gt;</a:t>
            </a:fld>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0b2e"/>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548640" y="1325880"/>
            <a:ext cx="6034680" cy="1188360"/>
          </a:xfrm>
          <a:prstGeom prst="rect">
            <a:avLst/>
          </a:prstGeom>
          <a:noFill/>
          <a:ln w="0">
            <a:noFill/>
          </a:ln>
        </p:spPr>
        <p:txBody>
          <a:bodyPr lIns="90000" rIns="90000" tIns="45000" bIns="45000" anchor="t">
            <a:noAutofit/>
          </a:bodyPr>
          <a:p>
            <a:pPr indent="0">
              <a:buNone/>
            </a:pPr>
            <a:r>
              <a:rPr b="0" lang="fr-FR" sz="7200" spc="-1" strike="noStrike">
                <a:solidFill>
                  <a:schemeClr val="dk1"/>
                </a:solidFill>
                <a:latin typeface="Calibri"/>
              </a:rPr>
              <a:t>Cli</a:t>
            </a:r>
            <a:r>
              <a:rPr b="0" lang="fr-FR" sz="7200" spc="-1" strike="noStrike">
                <a:solidFill>
                  <a:schemeClr val="dk1"/>
                </a:solidFill>
                <a:latin typeface="Calibri"/>
              </a:rPr>
              <a:t>ck </a:t>
            </a:r>
            <a:r>
              <a:rPr b="0" lang="fr-FR" sz="7200" spc="-1" strike="noStrike">
                <a:solidFill>
                  <a:schemeClr val="dk1"/>
                </a:solidFill>
                <a:latin typeface="Calibri"/>
              </a:rPr>
              <a:t>to </a:t>
            </a:r>
            <a:r>
              <a:rPr b="0" lang="fr-FR" sz="7200" spc="-1" strike="noStrike">
                <a:solidFill>
                  <a:schemeClr val="dk1"/>
                </a:solidFill>
                <a:latin typeface="Calibri"/>
              </a:rPr>
              <a:t>edi</a:t>
            </a:r>
            <a:r>
              <a:rPr b="0" lang="fr-FR" sz="7200" spc="-1" strike="noStrike">
                <a:solidFill>
                  <a:schemeClr val="dk1"/>
                </a:solidFill>
                <a:latin typeface="Calibri"/>
              </a:rPr>
              <a:t>t </a:t>
            </a:r>
            <a:r>
              <a:rPr b="0" lang="fr-FR" sz="7200" spc="-1" strike="noStrike">
                <a:solidFill>
                  <a:schemeClr val="dk1"/>
                </a:solidFill>
                <a:latin typeface="Calibri"/>
              </a:rPr>
              <a:t>th</a:t>
            </a:r>
            <a:r>
              <a:rPr b="0" lang="fr-FR" sz="7200" spc="-1" strike="noStrike">
                <a:solidFill>
                  <a:schemeClr val="dk1"/>
                </a:solidFill>
                <a:latin typeface="Calibri"/>
              </a:rPr>
              <a:t>e </a:t>
            </a:r>
            <a:r>
              <a:rPr b="0" lang="fr-FR" sz="7200" spc="-1" strike="noStrike">
                <a:solidFill>
                  <a:schemeClr val="dk1"/>
                </a:solidFill>
                <a:latin typeface="Calibri"/>
              </a:rPr>
              <a:t>titl</a:t>
            </a:r>
            <a:r>
              <a:rPr b="0" lang="fr-FR" sz="7200" spc="-1" strike="noStrike">
                <a:solidFill>
                  <a:schemeClr val="dk1"/>
                </a:solidFill>
                <a:latin typeface="Calibri"/>
              </a:rPr>
              <a:t>e </a:t>
            </a:r>
            <a:r>
              <a:rPr b="0" lang="fr-FR" sz="7200" spc="-1" strike="noStrike">
                <a:solidFill>
                  <a:schemeClr val="dk1"/>
                </a:solidFill>
                <a:latin typeface="Calibri"/>
              </a:rPr>
              <a:t>tex</a:t>
            </a:r>
            <a:r>
              <a:rPr b="0" lang="fr-FR" sz="7200" spc="-1" strike="noStrike">
                <a:solidFill>
                  <a:schemeClr val="dk1"/>
                </a:solidFill>
                <a:latin typeface="Calibri"/>
              </a:rPr>
              <a:t>t </a:t>
            </a:r>
            <a:r>
              <a:rPr b="0" lang="fr-FR" sz="7200" spc="-1" strike="noStrike">
                <a:solidFill>
                  <a:schemeClr val="dk1"/>
                </a:solidFill>
                <a:latin typeface="Calibri"/>
              </a:rPr>
              <a:t>for</a:t>
            </a:r>
            <a:r>
              <a:rPr b="0" lang="fr-FR" sz="7200" spc="-1" strike="noStrike">
                <a:solidFill>
                  <a:schemeClr val="dk1"/>
                </a:solidFill>
                <a:latin typeface="Calibri"/>
              </a:rPr>
              <a:t>ma</a:t>
            </a:r>
            <a:r>
              <a:rPr b="0" lang="fr-FR" sz="7200" spc="-1" strike="noStrike">
                <a:solidFill>
                  <a:schemeClr val="dk1"/>
                </a:solidFill>
                <a:latin typeface="Calibri"/>
              </a:rPr>
              <a:t>t</a:t>
            </a:r>
            <a:endParaRPr b="0" lang="fr-FR" sz="7200" spc="-1" strike="noStrike">
              <a:solidFill>
                <a:schemeClr val="dk1"/>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solidFill>
                  <a:schemeClr val="dk1"/>
                </a:solidFill>
                <a:latin typeface="Calibri"/>
              </a:rPr>
              <a:t>Click to edit the outline text format</a:t>
            </a:r>
            <a:endParaRPr b="0" lang="fr-FR"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fr-FR" sz="2400" spc="-1" strike="noStrike">
                <a:solidFill>
                  <a:schemeClr val="dk1"/>
                </a:solidFill>
                <a:latin typeface="Calibri"/>
              </a:rPr>
              <a:t>Second Outline Level</a:t>
            </a:r>
            <a:endParaRPr b="0" lang="fr-FR"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fr-FR" sz="2000" spc="-1" strike="noStrike">
                <a:solidFill>
                  <a:schemeClr val="dk1"/>
                </a:solidFill>
                <a:latin typeface="Calibri"/>
              </a:rPr>
              <a:t>Third Outline Level</a:t>
            </a:r>
            <a:endParaRPr b="0" lang="fr-FR"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fr-FR" sz="2000" spc="-1" strike="noStrike">
                <a:solidFill>
                  <a:schemeClr val="dk1"/>
                </a:solidFill>
                <a:latin typeface="Calibri"/>
              </a:rPr>
              <a:t>Fourth Outline Level</a:t>
            </a:r>
            <a:endParaRPr b="0" lang="fr-FR"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fr-FR" sz="2000" spc="-1" strike="noStrike">
                <a:solidFill>
                  <a:schemeClr val="dk1"/>
                </a:solidFill>
                <a:latin typeface="Calibri"/>
              </a:rPr>
              <a:t>Fifth Outline Level</a:t>
            </a:r>
            <a:endParaRPr b="0" lang="fr-FR"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fr-FR" sz="2000" spc="-1" strike="noStrike">
                <a:solidFill>
                  <a:schemeClr val="dk1"/>
                </a:solidFill>
                <a:latin typeface="Calibri"/>
              </a:rPr>
              <a:t>Sixth Outline Level</a:t>
            </a:r>
            <a:endParaRPr b="0" lang="fr-FR"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fr-FR" sz="2000" spc="-1" strike="noStrike">
                <a:solidFill>
                  <a:schemeClr val="dk1"/>
                </a:solidFill>
                <a:latin typeface="Calibri"/>
              </a:rPr>
              <a:t>Seventh Outline Level</a:t>
            </a:r>
            <a:endParaRPr b="0" lang="fr-FR"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0b2e"/>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548640" y="749880"/>
            <a:ext cx="11063880" cy="776880"/>
          </a:xfrm>
          <a:prstGeom prst="rect">
            <a:avLst/>
          </a:prstGeom>
          <a:noFill/>
          <a:ln w="0">
            <a:noFill/>
          </a:ln>
        </p:spPr>
        <p:txBody>
          <a:bodyPr lIns="90000" rIns="90000" tIns="45000" bIns="45000" anchor="t">
            <a:noAutofit/>
          </a:bodyPr>
          <a:p>
            <a:pPr indent="0">
              <a:buNone/>
            </a:pPr>
            <a:r>
              <a:rPr b="0" lang="fr-FR" sz="3400" spc="-1" strike="noStrike">
                <a:solidFill>
                  <a:schemeClr val="dk1"/>
                </a:solidFill>
                <a:latin typeface="Calibri"/>
              </a:rPr>
              <a:t>Click to edit </a:t>
            </a:r>
            <a:r>
              <a:rPr b="0" lang="fr-FR" sz="3400" spc="-1" strike="noStrike">
                <a:solidFill>
                  <a:schemeClr val="dk1"/>
                </a:solidFill>
                <a:latin typeface="Calibri"/>
              </a:rPr>
              <a:t>the title </a:t>
            </a:r>
            <a:r>
              <a:rPr b="0" lang="fr-FR" sz="3400" spc="-1" strike="noStrike">
                <a:solidFill>
                  <a:schemeClr val="dk1"/>
                </a:solidFill>
                <a:latin typeface="Calibri"/>
              </a:rPr>
              <a:t>text format</a:t>
            </a:r>
            <a:endParaRPr b="0" lang="fr-FR" sz="3400" spc="-1" strike="noStrike">
              <a:solidFill>
                <a:schemeClr val="dk1"/>
              </a:solidFill>
              <a:latin typeface="Calibri"/>
            </a:endParaRPr>
          </a:p>
        </p:txBody>
      </p:sp>
      <p:sp>
        <p:nvSpPr>
          <p:cNvPr id="3" name="PlaceHolder 2"/>
          <p:cNvSpPr>
            <a:spLocks noGrp="1"/>
          </p:cNvSpPr>
          <p:nvPr>
            <p:ph type="sldNum" idx="1"/>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5D6D992E-96EC-4C67-BD3B-A58EE6F97A68}"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
        <p:nvSpPr>
          <p:cNvPr id="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solidFill>
                  <a:schemeClr val="dk1"/>
                </a:solidFill>
                <a:latin typeface="Calibri"/>
              </a:rPr>
              <a:t>Click to edit the outline text format</a:t>
            </a:r>
            <a:endParaRPr b="0" lang="fr-FR"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fr-FR" sz="2400" spc="-1" strike="noStrike">
                <a:solidFill>
                  <a:schemeClr val="dk1"/>
                </a:solidFill>
                <a:latin typeface="Calibri"/>
              </a:rPr>
              <a:t>Second Outline Level</a:t>
            </a:r>
            <a:endParaRPr b="0" lang="fr-FR"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fr-FR" sz="2000" spc="-1" strike="noStrike">
                <a:solidFill>
                  <a:schemeClr val="dk1"/>
                </a:solidFill>
                <a:latin typeface="Calibri"/>
              </a:rPr>
              <a:t>Third Outline Level</a:t>
            </a:r>
            <a:endParaRPr b="0" lang="fr-FR"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fr-FR" sz="2000" spc="-1" strike="noStrike">
                <a:solidFill>
                  <a:schemeClr val="dk1"/>
                </a:solidFill>
                <a:latin typeface="Calibri"/>
              </a:rPr>
              <a:t>Fourth Outline Level</a:t>
            </a:r>
            <a:endParaRPr b="0" lang="fr-FR"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fr-FR" sz="2000" spc="-1" strike="noStrike">
                <a:solidFill>
                  <a:schemeClr val="dk1"/>
                </a:solidFill>
                <a:latin typeface="Calibri"/>
              </a:rPr>
              <a:t>Fifth Outline Level</a:t>
            </a:r>
            <a:endParaRPr b="0" lang="fr-FR"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fr-FR" sz="2000" spc="-1" strike="noStrike">
                <a:solidFill>
                  <a:schemeClr val="dk1"/>
                </a:solidFill>
                <a:latin typeface="Calibri"/>
              </a:rPr>
              <a:t>Sixth Outline Level</a:t>
            </a:r>
            <a:endParaRPr b="0" lang="fr-FR"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fr-FR" sz="2000" spc="-1" strike="noStrike">
                <a:solidFill>
                  <a:schemeClr val="dk1"/>
                </a:solidFill>
                <a:latin typeface="Calibri"/>
              </a:rPr>
              <a:t>Seventh Outline Level</a:t>
            </a:r>
            <a:endParaRPr b="0" lang="fr-FR"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548640" y="749880"/>
            <a:ext cx="11063880" cy="776880"/>
          </a:xfrm>
          <a:prstGeom prst="rect">
            <a:avLst/>
          </a:prstGeom>
          <a:noFill/>
          <a:ln w="0">
            <a:noFill/>
          </a:ln>
        </p:spPr>
        <p:txBody>
          <a:bodyPr lIns="90000" rIns="90000" tIns="45000" bIns="45000" anchor="t">
            <a:noAutofit/>
          </a:bodyPr>
          <a:p>
            <a:pPr indent="0">
              <a:buNone/>
            </a:pPr>
            <a:r>
              <a:rPr b="0" lang="fr-FR" sz="3400" spc="-1" strike="noStrike">
                <a:solidFill>
                  <a:schemeClr val="dk1"/>
                </a:solidFill>
                <a:latin typeface="Calibri"/>
              </a:rPr>
              <a:t>Click to edit the title text format</a:t>
            </a:r>
            <a:endParaRPr b="0" lang="fr-FR" sz="3400" spc="-1" strike="noStrike">
              <a:solidFill>
                <a:schemeClr val="dk1"/>
              </a:solidFill>
              <a:latin typeface="Calibri"/>
            </a:endParaRPr>
          </a:p>
        </p:txBody>
      </p:sp>
      <p:sp>
        <p:nvSpPr>
          <p:cNvPr id="6" name="PlaceHolder 2"/>
          <p:cNvSpPr>
            <a:spLocks noGrp="1"/>
          </p:cNvSpPr>
          <p:nvPr>
            <p:ph type="sldNum" idx="2"/>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1F58315E-1C4D-4C38-80C9-70961DEFEABD}"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
        <p:nvSpPr>
          <p:cNvPr id="7"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fr-FR" sz="3200" spc="-1" strike="noStrike">
                <a:solidFill>
                  <a:schemeClr val="dk1"/>
                </a:solidFill>
                <a:latin typeface="Calibri"/>
              </a:rPr>
              <a:t>Click to edit the outline text format</a:t>
            </a:r>
            <a:endParaRPr b="0" lang="fr-FR"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fr-FR" sz="2400" spc="-1" strike="noStrike">
                <a:solidFill>
                  <a:schemeClr val="dk1"/>
                </a:solidFill>
                <a:latin typeface="Calibri"/>
              </a:rPr>
              <a:t>Second Outline Level</a:t>
            </a:r>
            <a:endParaRPr b="0" lang="fr-FR"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fr-FR" sz="2000" spc="-1" strike="noStrike">
                <a:solidFill>
                  <a:schemeClr val="dk1"/>
                </a:solidFill>
                <a:latin typeface="Calibri"/>
              </a:rPr>
              <a:t>Third Outline Level</a:t>
            </a:r>
            <a:endParaRPr b="0" lang="fr-FR"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fr-FR" sz="2000" spc="-1" strike="noStrike">
                <a:solidFill>
                  <a:schemeClr val="dk1"/>
                </a:solidFill>
                <a:latin typeface="Calibri"/>
              </a:rPr>
              <a:t>Fourth Outline Level</a:t>
            </a:r>
            <a:endParaRPr b="0" lang="fr-FR"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fr-FR" sz="2000" spc="-1" strike="noStrike">
                <a:solidFill>
                  <a:schemeClr val="dk1"/>
                </a:solidFill>
                <a:latin typeface="Calibri"/>
              </a:rPr>
              <a:t>Fifth Outline Level</a:t>
            </a:r>
            <a:endParaRPr b="0" lang="fr-FR"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fr-FR" sz="2000" spc="-1" strike="noStrike">
                <a:solidFill>
                  <a:schemeClr val="dk1"/>
                </a:solidFill>
                <a:latin typeface="Calibri"/>
              </a:rPr>
              <a:t>Sixth Outline Level</a:t>
            </a:r>
            <a:endParaRPr b="0" lang="fr-FR"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fr-FR" sz="2000" spc="-1" strike="noStrike">
                <a:solidFill>
                  <a:schemeClr val="dk1"/>
                </a:solidFill>
                <a:latin typeface="Calibri"/>
              </a:rPr>
              <a:t>Seventh Outline Level</a:t>
            </a:r>
            <a:endParaRPr b="0" lang="fr-FR"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7.png"/><Relationship Id="rId3" Type="http://schemas.openxmlformats.org/officeDocument/2006/relationships/image" Target="../media/image27.png"/><Relationship Id="rId4" Type="http://schemas.openxmlformats.org/officeDocument/2006/relationships/image" Target="../media/image27.png"/><Relationship Id="rId5" Type="http://schemas.openxmlformats.org/officeDocument/2006/relationships/image" Target="../media/image27.png"/><Relationship Id="rId6" Type="http://schemas.openxmlformats.org/officeDocument/2006/relationships/image" Target="../media/image27.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slideLayout" Target="../slideLayouts/slideLayout4.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7.png"/><Relationship Id="rId3" Type="http://schemas.openxmlformats.org/officeDocument/2006/relationships/image" Target="../media/image27.png"/><Relationship Id="rId4" Type="http://schemas.openxmlformats.org/officeDocument/2006/relationships/image" Target="../media/image27.png"/><Relationship Id="rId5" Type="http://schemas.openxmlformats.org/officeDocument/2006/relationships/image" Target="../media/image27.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Anneau radar"/>
          <p:cNvSpPr/>
          <p:nvPr/>
        </p:nvSpPr>
        <p:spPr>
          <a:xfrm>
            <a:off x="9052560" y="2788920"/>
            <a:ext cx="1279800" cy="1279800"/>
          </a:xfrm>
          <a:prstGeom prst="ellipse">
            <a:avLst/>
          </a:prstGeom>
          <a:noFill/>
          <a:ln w="28575">
            <a:solidFill>
              <a:srgbClr val="00c9b7">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5" name="Anneau radar"/>
          <p:cNvSpPr/>
          <p:nvPr/>
        </p:nvSpPr>
        <p:spPr>
          <a:xfrm>
            <a:off x="8412480" y="2148840"/>
            <a:ext cx="2559960" cy="2559960"/>
          </a:xfrm>
          <a:prstGeom prst="ellipse">
            <a:avLst/>
          </a:prstGeom>
          <a:noFill/>
          <a:ln w="28575">
            <a:solidFill>
              <a:srgbClr val="6c3bff">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 name="Anneau radar"/>
          <p:cNvSpPr/>
          <p:nvPr/>
        </p:nvSpPr>
        <p:spPr>
          <a:xfrm>
            <a:off x="7772400" y="1508760"/>
            <a:ext cx="3840120" cy="3840120"/>
          </a:xfrm>
          <a:prstGeom prst="ellipse">
            <a:avLst/>
          </a:prstGeom>
          <a:noFill/>
          <a:ln w="28575">
            <a:solidFill>
              <a:srgbClr val="ff4f81">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7" name="Anneau radar"/>
          <p:cNvSpPr/>
          <p:nvPr/>
        </p:nvSpPr>
        <p:spPr>
          <a:xfrm>
            <a:off x="7132320" y="868680"/>
            <a:ext cx="5120280" cy="5120280"/>
          </a:xfrm>
          <a:prstGeom prst="ellipse">
            <a:avLst/>
          </a:prstGeom>
          <a:noFill/>
          <a:ln w="28575">
            <a:solidFill>
              <a:srgbClr val="6c3bff">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8" name="Anneau radar"/>
          <p:cNvSpPr/>
          <p:nvPr/>
        </p:nvSpPr>
        <p:spPr>
          <a:xfrm>
            <a:off x="6492240" y="228600"/>
            <a:ext cx="6400440" cy="6400440"/>
          </a:xfrm>
          <a:prstGeom prst="ellipse">
            <a:avLst/>
          </a:prstGeom>
          <a:noFill/>
          <a:ln w="28575">
            <a:solidFill>
              <a:srgbClr val="00c9b7">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9" name="Balayage radar"/>
          <p:cNvSpPr/>
          <p:nvPr/>
        </p:nvSpPr>
        <p:spPr>
          <a:xfrm flipV="1">
            <a:off x="9692640" y="804600"/>
            <a:ext cx="1828800" cy="2624400"/>
          </a:xfrm>
          <a:prstGeom prst="line">
            <a:avLst/>
          </a:prstGeom>
          <a:ln w="38100">
            <a:solidFill>
              <a:srgbClr val="00c9b7">
                <a:alpha val="80000"/>
              </a:srgbClr>
            </a:solidFill>
            <a:round/>
          </a:ln>
        </p:spPr>
        <p:style>
          <a:lnRef idx="0"/>
          <a:fillRef idx="0"/>
          <a:effectRef idx="0"/>
          <a:fontRef idx="minor"/>
        </p:style>
        <p:txBody>
          <a:bodyPr lIns="90000" rIns="90000" tIns="45000" bIns="45000" anchor="t" anchorCtr="1">
            <a:noAutofit/>
          </a:bodyPr>
          <a:p>
            <a:endParaRPr b="0" lang="fr-FR" sz="1800" spc="-1" strike="noStrike">
              <a:solidFill>
                <a:srgbClr val="ffffff"/>
              </a:solidFill>
              <a:latin typeface="Arial"/>
            </a:endParaRPr>
          </a:p>
        </p:txBody>
      </p:sp>
      <p:sp>
        <p:nvSpPr>
          <p:cNvPr id="20" name="Point radar"/>
          <p:cNvSpPr/>
          <p:nvPr/>
        </p:nvSpPr>
        <p:spPr>
          <a:xfrm>
            <a:off x="11026440" y="2057400"/>
            <a:ext cx="273960" cy="27396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1" name="Point radar"/>
          <p:cNvSpPr/>
          <p:nvPr/>
        </p:nvSpPr>
        <p:spPr>
          <a:xfrm>
            <a:off x="7149600" y="4167360"/>
            <a:ext cx="273960" cy="27396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2" name="Point radar"/>
          <p:cNvSpPr/>
          <p:nvPr/>
        </p:nvSpPr>
        <p:spPr>
          <a:xfrm>
            <a:off x="10114920" y="4470480"/>
            <a:ext cx="237240" cy="23724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3" name="Point radar"/>
          <p:cNvSpPr/>
          <p:nvPr/>
        </p:nvSpPr>
        <p:spPr>
          <a:xfrm>
            <a:off x="7719840" y="670320"/>
            <a:ext cx="273960" cy="27396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4" name="Point radar"/>
          <p:cNvSpPr/>
          <p:nvPr/>
        </p:nvSpPr>
        <p:spPr>
          <a:xfrm>
            <a:off x="11427840" y="706680"/>
            <a:ext cx="200880" cy="2008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5" name="Point radar"/>
          <p:cNvSpPr/>
          <p:nvPr/>
        </p:nvSpPr>
        <p:spPr>
          <a:xfrm>
            <a:off x="11809440" y="4608720"/>
            <a:ext cx="200880" cy="20088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 name="Pastille FaEye"/>
          <p:cNvSpPr/>
          <p:nvPr/>
        </p:nvSpPr>
        <p:spPr>
          <a:xfrm>
            <a:off x="9189720" y="2926080"/>
            <a:ext cx="1005480" cy="100548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27" name="Image 0" descr="FaEye"/>
          <p:cNvPicPr/>
          <p:nvPr/>
        </p:nvPicPr>
        <p:blipFill>
          <a:blip r:embed="rId1"/>
          <a:stretch/>
        </p:blipFill>
        <p:spPr>
          <a:xfrm>
            <a:off x="9441360" y="3177720"/>
            <a:ext cx="502560" cy="502560"/>
          </a:xfrm>
          <a:prstGeom prst="rect">
            <a:avLst/>
          </a:prstGeom>
          <a:ln w="0">
            <a:noFill/>
          </a:ln>
        </p:spPr>
      </p:pic>
      <p:sp>
        <p:nvSpPr>
          <p:cNvPr id="28" name="Étiquette"/>
          <p:cNvSpPr/>
          <p:nvPr/>
        </p:nvSpPr>
        <p:spPr>
          <a:xfrm>
            <a:off x="548640" y="548640"/>
            <a:ext cx="4571640" cy="32868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9" name="Text 14"/>
          <p:cNvSpPr/>
          <p:nvPr/>
        </p:nvSpPr>
        <p:spPr>
          <a:xfrm>
            <a:off x="548640" y="548640"/>
            <a:ext cx="4571640" cy="328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EPSI · WORKSHOP NATIONAL BAC+4 · OCTOBRE 2026</a:t>
            </a:r>
            <a:endParaRPr b="0" lang="fr-FR" sz="1100" spc="-1" strike="noStrike">
              <a:solidFill>
                <a:srgbClr val="ffffff"/>
              </a:solidFill>
              <a:latin typeface="Arial"/>
            </a:endParaRPr>
          </a:p>
        </p:txBody>
      </p:sp>
      <p:sp>
        <p:nvSpPr>
          <p:cNvPr id="30" name="PlaceHolder 1"/>
          <p:cNvSpPr>
            <a:spLocks noGrp="1"/>
          </p:cNvSpPr>
          <p:nvPr>
            <p:ph type="title"/>
          </p:nvPr>
        </p:nvSpPr>
        <p:spPr>
          <a:xfrm>
            <a:off x="548640" y="1325880"/>
            <a:ext cx="6034680" cy="1188360"/>
          </a:xfrm>
          <a:prstGeom prst="rect">
            <a:avLst/>
          </a:prstGeom>
          <a:noFill/>
          <a:ln w="0">
            <a:noFill/>
          </a:ln>
        </p:spPr>
        <p:txBody>
          <a:bodyPr lIns="0" rIns="0" tIns="0" bIns="0" anchor="ctr">
            <a:noAutofit/>
          </a:bodyPr>
          <a:p>
            <a:pPr indent="0" defTabSz="914400">
              <a:lnSpc>
                <a:spcPct val="100000"/>
              </a:lnSpc>
              <a:buNone/>
              <a:tabLst>
                <a:tab algn="l" pos="0"/>
              </a:tabLst>
            </a:pPr>
            <a:r>
              <a:rPr b="1" lang="en-US" sz="7200" spc="-1" strike="noStrike">
                <a:solidFill>
                  <a:schemeClr val="lt1"/>
                </a:solidFill>
                <a:latin typeface="Arial"/>
              </a:rPr>
              <a:t>Sentinel-X</a:t>
            </a:r>
            <a:endParaRPr b="0" lang="fr-FR" sz="7200" spc="-1" strike="noStrike">
              <a:solidFill>
                <a:schemeClr val="dk1"/>
              </a:solidFill>
              <a:latin typeface="Calibri"/>
            </a:endParaRPr>
          </a:p>
        </p:txBody>
      </p:sp>
      <p:sp>
        <p:nvSpPr>
          <p:cNvPr id="31" name="Text 16"/>
          <p:cNvSpPr/>
          <p:nvPr/>
        </p:nvSpPr>
        <p:spPr>
          <a:xfrm>
            <a:off x="548640" y="2697480"/>
            <a:ext cx="566892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2000" spc="-1" strike="noStrike">
                <a:solidFill>
                  <a:srgbClr val="b9b3e6"/>
                </a:solidFill>
                <a:latin typeface="Calibri"/>
              </a:rPr>
              <a:t>Surveillance autonome pour micro-centrales : de l'ESP32 à l'IA, chiffré de bout en bout</a:t>
            </a:r>
            <a:endParaRPr b="0" lang="fr-FR" sz="2000" spc="-1" strike="noStrike">
              <a:solidFill>
                <a:srgbClr val="ffffff"/>
              </a:solidFill>
              <a:latin typeface="Arial"/>
            </a:endParaRPr>
          </a:p>
        </p:txBody>
      </p:sp>
      <p:sp>
        <p:nvSpPr>
          <p:cNvPr id="32" name="Étiquette"/>
          <p:cNvSpPr/>
          <p:nvPr/>
        </p:nvSpPr>
        <p:spPr>
          <a:xfrm>
            <a:off x="548640" y="3840480"/>
            <a:ext cx="2102760" cy="365400"/>
          </a:xfrm>
          <a:prstGeom prst="roundRect">
            <a:avLst>
              <a:gd name="adj" fmla="val 50000"/>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3" name="Text 18"/>
          <p:cNvSpPr/>
          <p:nvPr/>
        </p:nvSpPr>
        <p:spPr>
          <a:xfrm>
            <a:off x="548640" y="3840480"/>
            <a:ext cx="210276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Calibri"/>
              </a:rPr>
              <a:t>Nœud VIG1L-8-NODE04</a:t>
            </a:r>
            <a:endParaRPr b="0" lang="fr-FR" sz="1300" spc="-1" strike="noStrike">
              <a:solidFill>
                <a:srgbClr val="ffffff"/>
              </a:solidFill>
              <a:latin typeface="Arial"/>
            </a:endParaRPr>
          </a:p>
        </p:txBody>
      </p:sp>
      <p:sp>
        <p:nvSpPr>
          <p:cNvPr id="34" name="Étiquette"/>
          <p:cNvSpPr/>
          <p:nvPr/>
        </p:nvSpPr>
        <p:spPr>
          <a:xfrm>
            <a:off x="2788920" y="3840480"/>
            <a:ext cx="1234080" cy="365400"/>
          </a:xfrm>
          <a:prstGeom prst="roundRect">
            <a:avLst>
              <a:gd name="adj" fmla="val 50000"/>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5" name="Text 20"/>
          <p:cNvSpPr/>
          <p:nvPr/>
        </p:nvSpPr>
        <p:spPr>
          <a:xfrm>
            <a:off x="2788920" y="3840480"/>
            <a:ext cx="123408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Calibri"/>
              </a:rPr>
              <a:t>Groupe 04</a:t>
            </a:r>
            <a:endParaRPr b="0" lang="fr-FR" sz="1300" spc="-1" strike="noStrike">
              <a:solidFill>
                <a:srgbClr val="ffffff"/>
              </a:solidFill>
              <a:latin typeface="Arial"/>
            </a:endParaRPr>
          </a:p>
        </p:txBody>
      </p:sp>
      <p:sp>
        <p:nvSpPr>
          <p:cNvPr id="36" name="Étiquette"/>
          <p:cNvSpPr/>
          <p:nvPr/>
        </p:nvSpPr>
        <p:spPr>
          <a:xfrm>
            <a:off x="4160520" y="3840480"/>
            <a:ext cx="2011320" cy="365400"/>
          </a:xfrm>
          <a:prstGeom prst="roundRect">
            <a:avLst>
              <a:gd name="adj" fmla="val 50000"/>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7" name="Text 22"/>
          <p:cNvSpPr/>
          <p:nvPr/>
        </p:nvSpPr>
        <p:spPr>
          <a:xfrm>
            <a:off x="4160520" y="3840480"/>
            <a:ext cx="201132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Calibri"/>
              </a:rPr>
              <a:t>Option B · Edge-to-Server</a:t>
            </a:r>
            <a:endParaRPr b="0" lang="fr-FR" sz="1300" spc="-1" strike="noStrike">
              <a:solidFill>
                <a:srgbClr val="ffffff"/>
              </a:solidFill>
              <a:latin typeface="Arial"/>
            </a:endParaRPr>
          </a:p>
        </p:txBody>
      </p:sp>
      <p:sp>
        <p:nvSpPr>
          <p:cNvPr id="38" name="Membre Julien DAUVERGNE"/>
          <p:cNvSpPr/>
          <p:nvPr/>
        </p:nvSpPr>
        <p:spPr>
          <a:xfrm>
            <a:off x="548640" y="466344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 name="Initiales"/>
          <p:cNvSpPr/>
          <p:nvPr/>
        </p:nvSpPr>
        <p:spPr>
          <a:xfrm>
            <a:off x="676800" y="4791600"/>
            <a:ext cx="456840" cy="45684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 name="Text 25"/>
          <p:cNvSpPr/>
          <p:nvPr/>
        </p:nvSpPr>
        <p:spPr>
          <a:xfrm>
            <a:off x="676800" y="47916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JD</a:t>
            </a:r>
            <a:endParaRPr b="0" lang="fr-FR" sz="1300" spc="-1" strike="noStrike">
              <a:solidFill>
                <a:srgbClr val="ffffff"/>
              </a:solidFill>
              <a:latin typeface="Arial"/>
            </a:endParaRPr>
          </a:p>
        </p:txBody>
      </p:sp>
      <p:sp>
        <p:nvSpPr>
          <p:cNvPr id="41" name="Text 26"/>
          <p:cNvSpPr/>
          <p:nvPr/>
        </p:nvSpPr>
        <p:spPr>
          <a:xfrm>
            <a:off x="1261800" y="477324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Julien DAUVERGNE</a:t>
            </a:r>
            <a:endParaRPr b="0" lang="fr-FR" sz="1400" spc="-1" strike="noStrike">
              <a:solidFill>
                <a:srgbClr val="ffffff"/>
              </a:solidFill>
              <a:latin typeface="Arial"/>
            </a:endParaRPr>
          </a:p>
        </p:txBody>
      </p:sp>
      <p:sp>
        <p:nvSpPr>
          <p:cNvPr id="42" name="Text 27"/>
          <p:cNvSpPr/>
          <p:nvPr/>
        </p:nvSpPr>
        <p:spPr>
          <a:xfrm>
            <a:off x="1261800" y="504756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Infra · Cyber · Firmware</a:t>
            </a:r>
            <a:endParaRPr b="0" lang="fr-FR" sz="1100" spc="-1" strike="noStrike">
              <a:solidFill>
                <a:srgbClr val="ffffff"/>
              </a:solidFill>
              <a:latin typeface="Arial"/>
            </a:endParaRPr>
          </a:p>
        </p:txBody>
      </p:sp>
      <p:sp>
        <p:nvSpPr>
          <p:cNvPr id="43" name="Membre Lucas DIOT"/>
          <p:cNvSpPr/>
          <p:nvPr/>
        </p:nvSpPr>
        <p:spPr>
          <a:xfrm>
            <a:off x="3566160" y="466344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4" name="Initiales"/>
          <p:cNvSpPr/>
          <p:nvPr/>
        </p:nvSpPr>
        <p:spPr>
          <a:xfrm>
            <a:off x="3694320" y="4791600"/>
            <a:ext cx="456840" cy="45684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5" name="Text 30"/>
          <p:cNvSpPr/>
          <p:nvPr/>
        </p:nvSpPr>
        <p:spPr>
          <a:xfrm>
            <a:off x="3694320" y="47916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LD</a:t>
            </a:r>
            <a:endParaRPr b="0" lang="fr-FR" sz="1300" spc="-1" strike="noStrike">
              <a:solidFill>
                <a:srgbClr val="ffffff"/>
              </a:solidFill>
              <a:latin typeface="Arial"/>
            </a:endParaRPr>
          </a:p>
        </p:txBody>
      </p:sp>
      <p:sp>
        <p:nvSpPr>
          <p:cNvPr id="46" name="Text 31"/>
          <p:cNvSpPr/>
          <p:nvPr/>
        </p:nvSpPr>
        <p:spPr>
          <a:xfrm>
            <a:off x="4279320" y="477324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Lucas DIOT</a:t>
            </a:r>
            <a:endParaRPr b="0" lang="fr-FR" sz="1400" spc="-1" strike="noStrike">
              <a:solidFill>
                <a:srgbClr val="ffffff"/>
              </a:solidFill>
              <a:latin typeface="Arial"/>
            </a:endParaRPr>
          </a:p>
        </p:txBody>
      </p:sp>
      <p:sp>
        <p:nvSpPr>
          <p:cNvPr id="47" name="Text 32"/>
          <p:cNvSpPr/>
          <p:nvPr/>
        </p:nvSpPr>
        <p:spPr>
          <a:xfrm>
            <a:off x="4279320" y="504756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Backend · Dashboard</a:t>
            </a:r>
            <a:endParaRPr b="0" lang="fr-FR" sz="1100" spc="-1" strike="noStrike">
              <a:solidFill>
                <a:srgbClr val="ffffff"/>
              </a:solidFill>
              <a:latin typeface="Arial"/>
            </a:endParaRPr>
          </a:p>
        </p:txBody>
      </p:sp>
      <p:sp>
        <p:nvSpPr>
          <p:cNvPr id="48" name="Membre Rem TSHIMANGA"/>
          <p:cNvSpPr/>
          <p:nvPr/>
        </p:nvSpPr>
        <p:spPr>
          <a:xfrm>
            <a:off x="548640" y="553212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9" name="Initiales"/>
          <p:cNvSpPr/>
          <p:nvPr/>
        </p:nvSpPr>
        <p:spPr>
          <a:xfrm>
            <a:off x="676800" y="5660280"/>
            <a:ext cx="456840" cy="4568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0" name="Text 35"/>
          <p:cNvSpPr/>
          <p:nvPr/>
        </p:nvSpPr>
        <p:spPr>
          <a:xfrm>
            <a:off x="676800" y="566028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RT</a:t>
            </a:r>
            <a:endParaRPr b="0" lang="fr-FR" sz="1300" spc="-1" strike="noStrike">
              <a:solidFill>
                <a:srgbClr val="ffffff"/>
              </a:solidFill>
              <a:latin typeface="Arial"/>
            </a:endParaRPr>
          </a:p>
        </p:txBody>
      </p:sp>
      <p:sp>
        <p:nvSpPr>
          <p:cNvPr id="51" name="Text 36"/>
          <p:cNvSpPr/>
          <p:nvPr/>
        </p:nvSpPr>
        <p:spPr>
          <a:xfrm>
            <a:off x="1261800" y="564192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Rem TSHIMANGA</a:t>
            </a:r>
            <a:endParaRPr b="0" lang="fr-FR" sz="1400" spc="-1" strike="noStrike">
              <a:solidFill>
                <a:srgbClr val="ffffff"/>
              </a:solidFill>
              <a:latin typeface="Arial"/>
            </a:endParaRPr>
          </a:p>
        </p:txBody>
      </p:sp>
      <p:sp>
        <p:nvSpPr>
          <p:cNvPr id="52" name="Text 37"/>
          <p:cNvSpPr/>
          <p:nvPr/>
        </p:nvSpPr>
        <p:spPr>
          <a:xfrm>
            <a:off x="1261800" y="591624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IA Vision · Prédiction</a:t>
            </a:r>
            <a:endParaRPr b="0" lang="fr-FR" sz="1100" spc="-1" strike="noStrike">
              <a:solidFill>
                <a:srgbClr val="ffffff"/>
              </a:solidFill>
              <a:latin typeface="Arial"/>
            </a:endParaRPr>
          </a:p>
        </p:txBody>
      </p:sp>
      <p:sp>
        <p:nvSpPr>
          <p:cNvPr id="53" name="Membre Latif MOUINOU"/>
          <p:cNvSpPr/>
          <p:nvPr/>
        </p:nvSpPr>
        <p:spPr>
          <a:xfrm>
            <a:off x="3566160" y="553212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4" name="Initiales"/>
          <p:cNvSpPr/>
          <p:nvPr/>
        </p:nvSpPr>
        <p:spPr>
          <a:xfrm>
            <a:off x="3694320" y="5660280"/>
            <a:ext cx="456840" cy="45684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5" name="Text 40"/>
          <p:cNvSpPr/>
          <p:nvPr/>
        </p:nvSpPr>
        <p:spPr>
          <a:xfrm>
            <a:off x="3694320" y="566028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LM</a:t>
            </a:r>
            <a:endParaRPr b="0" lang="fr-FR" sz="1300" spc="-1" strike="noStrike">
              <a:solidFill>
                <a:srgbClr val="ffffff"/>
              </a:solidFill>
              <a:latin typeface="Arial"/>
            </a:endParaRPr>
          </a:p>
        </p:txBody>
      </p:sp>
      <p:sp>
        <p:nvSpPr>
          <p:cNvPr id="56" name="Text 41"/>
          <p:cNvSpPr/>
          <p:nvPr/>
        </p:nvSpPr>
        <p:spPr>
          <a:xfrm>
            <a:off x="4279320" y="564192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Latif MOUINOU</a:t>
            </a:r>
            <a:endParaRPr b="0" lang="fr-FR" sz="1400" spc="-1" strike="noStrike">
              <a:solidFill>
                <a:srgbClr val="ffffff"/>
              </a:solidFill>
              <a:latin typeface="Arial"/>
            </a:endParaRPr>
          </a:p>
        </p:txBody>
      </p:sp>
      <p:sp>
        <p:nvSpPr>
          <p:cNvPr id="57" name="Text 42"/>
          <p:cNvSpPr/>
          <p:nvPr/>
        </p:nvSpPr>
        <p:spPr>
          <a:xfrm>
            <a:off x="4279320" y="591624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Sécurité</a:t>
            </a:r>
            <a:endParaRPr b="0" lang="fr-FR" sz="11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9"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60"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61" name="Surtitre"/>
          <p:cNvSpPr/>
          <p:nvPr/>
        </p:nvSpPr>
        <p:spPr>
          <a:xfrm>
            <a:off x="548640" y="384120"/>
            <a:ext cx="961560" cy="29232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62" name="Text 4"/>
          <p:cNvSpPr/>
          <p:nvPr/>
        </p:nvSpPr>
        <p:spPr>
          <a:xfrm>
            <a:off x="548640" y="384120"/>
            <a:ext cx="9615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ffffff"/>
                </a:solidFill>
                <a:latin typeface="Calibri"/>
              </a:rPr>
              <a:t>LE BESOIN</a:t>
            </a:r>
            <a:endParaRPr b="0" lang="fr-FR" sz="1100" spc="-1" strike="noStrike">
              <a:solidFill>
                <a:srgbClr val="000000"/>
              </a:solidFill>
              <a:latin typeface="Arial"/>
            </a:endParaRPr>
          </a:p>
        </p:txBody>
      </p:sp>
      <p:sp>
        <p:nvSpPr>
          <p:cNvPr id="63"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4 piliers, 1 seul boîtier</a:t>
            </a:r>
            <a:endParaRPr b="0" lang="fr-FR" sz="3400" spc="-1" strike="noStrike">
              <a:solidFill>
                <a:schemeClr val="dk1"/>
              </a:solidFill>
              <a:latin typeface="Calibri"/>
            </a:endParaRPr>
          </a:p>
        </p:txBody>
      </p:sp>
      <p:sp>
        <p:nvSpPr>
          <p:cNvPr id="64" name="Pilier Edge &amp; IoT"/>
          <p:cNvSpPr/>
          <p:nvPr/>
        </p:nvSpPr>
        <p:spPr>
          <a:xfrm>
            <a:off x="548640" y="1783080"/>
            <a:ext cx="2605680" cy="3520080"/>
          </a:xfrm>
          <a:prstGeom prst="roundRect">
            <a:avLst>
              <a:gd name="adj" fmla="val 5263"/>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65" name="Pastille FaMicrochip"/>
          <p:cNvSpPr/>
          <p:nvPr/>
        </p:nvSpPr>
        <p:spPr>
          <a:xfrm>
            <a:off x="82296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66" name="Image 0" descr="FaMicrochip"/>
          <p:cNvPicPr/>
          <p:nvPr/>
        </p:nvPicPr>
        <p:blipFill>
          <a:blip r:embed="rId1"/>
          <a:stretch/>
        </p:blipFill>
        <p:spPr>
          <a:xfrm>
            <a:off x="1040040" y="2274480"/>
            <a:ext cx="434160" cy="434160"/>
          </a:xfrm>
          <a:prstGeom prst="rect">
            <a:avLst/>
          </a:prstGeom>
          <a:ln w="0">
            <a:noFill/>
          </a:ln>
        </p:spPr>
      </p:pic>
      <p:sp>
        <p:nvSpPr>
          <p:cNvPr id="67" name="Text 8"/>
          <p:cNvSpPr/>
          <p:nvPr/>
        </p:nvSpPr>
        <p:spPr>
          <a:xfrm>
            <a:off x="82296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120b2e"/>
                </a:solidFill>
                <a:latin typeface="Arial"/>
                <a:ea typeface="Arial"/>
              </a:rPr>
              <a:t>Edge &amp; IoT</a:t>
            </a:r>
            <a:endParaRPr b="0" lang="fr-FR" sz="2200" spc="-1" strike="noStrike">
              <a:solidFill>
                <a:srgbClr val="000000"/>
              </a:solidFill>
              <a:latin typeface="Arial"/>
            </a:endParaRPr>
          </a:p>
        </p:txBody>
      </p:sp>
      <p:sp>
        <p:nvSpPr>
          <p:cNvPr id="68" name="Text 9"/>
          <p:cNvSpPr/>
          <p:nvPr/>
        </p:nvSpPr>
        <p:spPr>
          <a:xfrm>
            <a:off x="82296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120b2e"/>
                </a:solidFill>
                <a:latin typeface="Calibri"/>
              </a:rPr>
              <a:t>Un seul ESP32 capte, alerte localement et publie en MQTT.</a:t>
            </a:r>
            <a:endParaRPr b="0" lang="fr-FR" sz="1700" spc="-1" strike="noStrike">
              <a:solidFill>
                <a:srgbClr val="000000"/>
              </a:solidFill>
              <a:latin typeface="Arial"/>
            </a:endParaRPr>
          </a:p>
        </p:txBody>
      </p:sp>
      <p:sp>
        <p:nvSpPr>
          <p:cNvPr id="69" name="Pilier IA locale"/>
          <p:cNvSpPr/>
          <p:nvPr/>
        </p:nvSpPr>
        <p:spPr>
          <a:xfrm>
            <a:off x="3364920" y="1783080"/>
            <a:ext cx="2605680" cy="3520080"/>
          </a:xfrm>
          <a:prstGeom prst="roundRect">
            <a:avLst>
              <a:gd name="adj" fmla="val 5263"/>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70" name="Pastille FaBrain"/>
          <p:cNvSpPr/>
          <p:nvPr/>
        </p:nvSpPr>
        <p:spPr>
          <a:xfrm>
            <a:off x="363924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71" name="Image 1" descr="FaBrain"/>
          <p:cNvPicPr/>
          <p:nvPr/>
        </p:nvPicPr>
        <p:blipFill>
          <a:blip r:embed="rId2"/>
          <a:stretch/>
        </p:blipFill>
        <p:spPr>
          <a:xfrm>
            <a:off x="3856320" y="2274480"/>
            <a:ext cx="434160" cy="434160"/>
          </a:xfrm>
          <a:prstGeom prst="rect">
            <a:avLst/>
          </a:prstGeom>
          <a:ln w="0">
            <a:noFill/>
          </a:ln>
        </p:spPr>
      </p:pic>
      <p:sp>
        <p:nvSpPr>
          <p:cNvPr id="72" name="Text 12"/>
          <p:cNvSpPr/>
          <p:nvPr/>
        </p:nvSpPr>
        <p:spPr>
          <a:xfrm>
            <a:off x="363924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120b2e"/>
                </a:solidFill>
                <a:latin typeface="Arial"/>
                <a:ea typeface="Arial"/>
              </a:rPr>
              <a:t>IA locale</a:t>
            </a:r>
            <a:endParaRPr b="0" lang="fr-FR" sz="2200" spc="-1" strike="noStrike">
              <a:solidFill>
                <a:srgbClr val="000000"/>
              </a:solidFill>
              <a:latin typeface="Arial"/>
            </a:endParaRPr>
          </a:p>
        </p:txBody>
      </p:sp>
      <p:sp>
        <p:nvSpPr>
          <p:cNvPr id="73" name="Text 13"/>
          <p:cNvSpPr/>
          <p:nvPr/>
        </p:nvSpPr>
        <p:spPr>
          <a:xfrm>
            <a:off x="363924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120b2e"/>
                </a:solidFill>
                <a:latin typeface="Calibri"/>
              </a:rPr>
              <a:t>Vision sur webcam et détection prédictive, sans seuils statiques.</a:t>
            </a:r>
            <a:endParaRPr b="0" lang="fr-FR" sz="1700" spc="-1" strike="noStrike">
              <a:solidFill>
                <a:srgbClr val="000000"/>
              </a:solidFill>
              <a:latin typeface="Arial"/>
            </a:endParaRPr>
          </a:p>
        </p:txBody>
      </p:sp>
      <p:sp>
        <p:nvSpPr>
          <p:cNvPr id="74" name="Pilier Infrastructure"/>
          <p:cNvSpPr/>
          <p:nvPr/>
        </p:nvSpPr>
        <p:spPr>
          <a:xfrm>
            <a:off x="6181200" y="1783080"/>
            <a:ext cx="2605680" cy="3520080"/>
          </a:xfrm>
          <a:prstGeom prst="roundRect">
            <a:avLst>
              <a:gd name="adj" fmla="val 5263"/>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75" name="Pastille FaDocker"/>
          <p:cNvSpPr/>
          <p:nvPr/>
        </p:nvSpPr>
        <p:spPr>
          <a:xfrm>
            <a:off x="645552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76" name="Image 2" descr="FaDocker"/>
          <p:cNvPicPr/>
          <p:nvPr/>
        </p:nvPicPr>
        <p:blipFill>
          <a:blip r:embed="rId3"/>
          <a:stretch/>
        </p:blipFill>
        <p:spPr>
          <a:xfrm>
            <a:off x="6672960" y="2274480"/>
            <a:ext cx="434160" cy="434160"/>
          </a:xfrm>
          <a:prstGeom prst="rect">
            <a:avLst/>
          </a:prstGeom>
          <a:ln w="0">
            <a:noFill/>
          </a:ln>
        </p:spPr>
      </p:pic>
      <p:sp>
        <p:nvSpPr>
          <p:cNvPr id="77" name="Text 16"/>
          <p:cNvSpPr/>
          <p:nvPr/>
        </p:nvSpPr>
        <p:spPr>
          <a:xfrm>
            <a:off x="645552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120b2e"/>
                </a:solidFill>
                <a:latin typeface="Arial"/>
                <a:ea typeface="Arial"/>
              </a:rPr>
              <a:t>Infrastructure</a:t>
            </a:r>
            <a:endParaRPr b="0" lang="fr-FR" sz="2200" spc="-1" strike="noStrike">
              <a:solidFill>
                <a:srgbClr val="000000"/>
              </a:solidFill>
              <a:latin typeface="Arial"/>
            </a:endParaRPr>
          </a:p>
        </p:txBody>
      </p:sp>
      <p:sp>
        <p:nvSpPr>
          <p:cNvPr id="78" name="Text 17"/>
          <p:cNvSpPr/>
          <p:nvPr/>
        </p:nvSpPr>
        <p:spPr>
          <a:xfrm>
            <a:off x="645552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120b2e"/>
                </a:solidFill>
                <a:latin typeface="Calibri"/>
              </a:rPr>
              <a:t>Conteneurs résilients sur un réseau de table isolé.</a:t>
            </a:r>
            <a:endParaRPr b="0" lang="fr-FR" sz="1700" spc="-1" strike="noStrike">
              <a:solidFill>
                <a:srgbClr val="000000"/>
              </a:solidFill>
              <a:latin typeface="Arial"/>
            </a:endParaRPr>
          </a:p>
        </p:txBody>
      </p:sp>
      <p:sp>
        <p:nvSpPr>
          <p:cNvPr id="79" name="Pilier Cybersécurité"/>
          <p:cNvSpPr/>
          <p:nvPr/>
        </p:nvSpPr>
        <p:spPr>
          <a:xfrm>
            <a:off x="8997840" y="1783080"/>
            <a:ext cx="2605680" cy="3520080"/>
          </a:xfrm>
          <a:prstGeom prst="roundRect">
            <a:avLst>
              <a:gd name="adj" fmla="val 5263"/>
            </a:avLst>
          </a:prstGeom>
          <a:solidFill>
            <a:srgbClr val="6c3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80" name="Pastille FaShieldAlt"/>
          <p:cNvSpPr/>
          <p:nvPr/>
        </p:nvSpPr>
        <p:spPr>
          <a:xfrm>
            <a:off x="927216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81" name="Image 3" descr="FaShieldAlt"/>
          <p:cNvPicPr/>
          <p:nvPr/>
        </p:nvPicPr>
        <p:blipFill>
          <a:blip r:embed="rId4"/>
          <a:stretch/>
        </p:blipFill>
        <p:spPr>
          <a:xfrm>
            <a:off x="9489240" y="2274480"/>
            <a:ext cx="434160" cy="434160"/>
          </a:xfrm>
          <a:prstGeom prst="rect">
            <a:avLst/>
          </a:prstGeom>
          <a:ln w="0">
            <a:noFill/>
          </a:ln>
        </p:spPr>
      </p:pic>
      <p:sp>
        <p:nvSpPr>
          <p:cNvPr id="82" name="Text 20"/>
          <p:cNvSpPr/>
          <p:nvPr/>
        </p:nvSpPr>
        <p:spPr>
          <a:xfrm>
            <a:off x="927216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ffffff"/>
                </a:solidFill>
                <a:latin typeface="Arial"/>
                <a:ea typeface="Arial"/>
              </a:rPr>
              <a:t>Cybersécurité</a:t>
            </a:r>
            <a:endParaRPr b="0" lang="fr-FR" sz="2200" spc="-1" strike="noStrike">
              <a:solidFill>
                <a:srgbClr val="000000"/>
              </a:solidFill>
              <a:latin typeface="Arial"/>
            </a:endParaRPr>
          </a:p>
        </p:txBody>
      </p:sp>
      <p:sp>
        <p:nvSpPr>
          <p:cNvPr id="83" name="Text 21"/>
          <p:cNvSpPr/>
          <p:nvPr/>
        </p:nvSpPr>
        <p:spPr>
          <a:xfrm>
            <a:off x="927216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ffffff"/>
                </a:solidFill>
                <a:latin typeface="Calibri"/>
              </a:rPr>
              <a:t>Chiffrement de bout en bout, durcissement.</a:t>
            </a:r>
            <a:endParaRPr b="0" lang="fr-FR" sz="1700" spc="-1" strike="noStrike">
              <a:solidFill>
                <a:srgbClr val="000000"/>
              </a:solidFill>
              <a:latin typeface="Arial"/>
            </a:endParaRPr>
          </a:p>
        </p:txBody>
      </p:sp>
      <p:sp>
        <p:nvSpPr>
          <p:cNvPr id="84" name="Bandeau éliminatoire"/>
          <p:cNvSpPr/>
          <p:nvPr/>
        </p:nvSpPr>
        <p:spPr>
          <a:xfrm>
            <a:off x="3960000" y="5532120"/>
            <a:ext cx="4320000" cy="685440"/>
          </a:xfrm>
          <a:prstGeom prst="roundRect">
            <a:avLst>
              <a:gd name="adj" fmla="val 20000"/>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85" name="Text 23"/>
          <p:cNvSpPr/>
          <p:nvPr/>
        </p:nvSpPr>
        <p:spPr>
          <a:xfrm>
            <a:off x="822960" y="5532120"/>
            <a:ext cx="1060668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chemeClr val="lt1"/>
                </a:solidFill>
                <a:latin typeface="Calibri"/>
              </a:rPr>
              <a:t>Toutes les briques sont interconnectées.</a:t>
            </a:r>
            <a:endParaRPr b="0" lang="fr-FR" sz="1600" spc="-1" strike="noStrike">
              <a:solidFill>
                <a:srgbClr val="000000"/>
              </a:solidFill>
              <a:latin typeface="Arial"/>
            </a:endParaRPr>
          </a:p>
        </p:txBody>
      </p:sp>
      <p:sp>
        <p:nvSpPr>
          <p:cNvPr id="86" name="PlaceHolder 2"/>
          <p:cNvSpPr>
            <a:spLocks noGrp="1"/>
          </p:cNvSpPr>
          <p:nvPr>
            <p:ph type="sldNum" idx="6"/>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A014B40A-A92E-42C7-934A-3BB9062F1C79}"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Surtitre"/>
          <p:cNvSpPr/>
          <p:nvPr/>
        </p:nvSpPr>
        <p:spPr>
          <a:xfrm>
            <a:off x="548640" y="384120"/>
            <a:ext cx="78228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88" name="Text 1"/>
          <p:cNvSpPr/>
          <p:nvPr/>
        </p:nvSpPr>
        <p:spPr>
          <a:xfrm>
            <a:off x="548640" y="384120"/>
            <a:ext cx="78228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EN BREF</a:t>
            </a:r>
            <a:endParaRPr b="0" lang="fr-FR" sz="1100" spc="-1" strike="noStrike">
              <a:solidFill>
                <a:srgbClr val="ffffff"/>
              </a:solidFill>
              <a:latin typeface="Arial"/>
            </a:endParaRPr>
          </a:p>
        </p:txBody>
      </p:sp>
      <p:sp>
        <p:nvSpPr>
          <p:cNvPr id="89"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Sentinel-X en 4 chiffres</a:t>
            </a:r>
            <a:endParaRPr b="0" lang="fr-FR" sz="3400" spc="-1" strike="noStrike">
              <a:solidFill>
                <a:schemeClr val="dk1"/>
              </a:solidFill>
              <a:latin typeface="Calibri"/>
            </a:endParaRPr>
          </a:p>
        </p:txBody>
      </p:sp>
      <p:sp>
        <p:nvSpPr>
          <p:cNvPr id="90" name="Chiffre 1.2+"/>
          <p:cNvSpPr/>
          <p:nvPr/>
        </p:nvSpPr>
        <p:spPr>
          <a:xfrm>
            <a:off x="54864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91" name="Étiquette"/>
          <p:cNvSpPr/>
          <p:nvPr/>
        </p:nvSpPr>
        <p:spPr>
          <a:xfrm>
            <a:off x="822960" y="2103120"/>
            <a:ext cx="132552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92" name="Text 5"/>
          <p:cNvSpPr/>
          <p:nvPr/>
        </p:nvSpPr>
        <p:spPr>
          <a:xfrm>
            <a:off x="82296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SÉCURITÉ</a:t>
            </a:r>
            <a:endParaRPr b="0" lang="fr-FR" sz="1100" spc="-1" strike="noStrike">
              <a:solidFill>
                <a:srgbClr val="ffffff"/>
              </a:solidFill>
              <a:latin typeface="Arial"/>
            </a:endParaRPr>
          </a:p>
        </p:txBody>
      </p:sp>
      <p:sp>
        <p:nvSpPr>
          <p:cNvPr id="93" name="Text 6"/>
          <p:cNvSpPr/>
          <p:nvPr/>
        </p:nvSpPr>
        <p:spPr>
          <a:xfrm>
            <a:off x="82296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00c9b7"/>
                </a:solidFill>
                <a:latin typeface="Arial"/>
                <a:ea typeface="Arial"/>
              </a:rPr>
              <a:t>1.2+</a:t>
            </a:r>
            <a:endParaRPr b="0" lang="fr-FR" sz="5400" spc="-1" strike="noStrike">
              <a:solidFill>
                <a:srgbClr val="ffffff"/>
              </a:solidFill>
              <a:latin typeface="Arial"/>
            </a:endParaRPr>
          </a:p>
        </p:txBody>
      </p:sp>
      <p:sp>
        <p:nvSpPr>
          <p:cNvPr id="94" name="Text 7"/>
          <p:cNvSpPr/>
          <p:nvPr/>
        </p:nvSpPr>
        <p:spPr>
          <a:xfrm>
            <a:off x="82296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TLS, de l'ESP32 au broker</a:t>
            </a:r>
            <a:endParaRPr b="0" lang="fr-FR" sz="1800" spc="-1" strike="noStrike">
              <a:solidFill>
                <a:srgbClr val="ffffff"/>
              </a:solidFill>
              <a:latin typeface="Arial"/>
            </a:endParaRPr>
          </a:p>
        </p:txBody>
      </p:sp>
      <p:sp>
        <p:nvSpPr>
          <p:cNvPr id="95" name="Text 8"/>
          <p:cNvSpPr/>
          <p:nvPr/>
        </p:nvSpPr>
        <p:spPr>
          <a:xfrm>
            <a:off x="82296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CA locale vérifiée par le nœud : un faux broker est refusé</a:t>
            </a:r>
            <a:endParaRPr b="0" lang="fr-FR" sz="1400" spc="-1" strike="noStrike">
              <a:solidFill>
                <a:srgbClr val="ffffff"/>
              </a:solidFill>
              <a:latin typeface="Arial"/>
            </a:endParaRPr>
          </a:p>
        </p:txBody>
      </p:sp>
      <p:sp>
        <p:nvSpPr>
          <p:cNvPr id="96" name="Chiffre 2"/>
          <p:cNvSpPr/>
          <p:nvPr/>
        </p:nvSpPr>
        <p:spPr>
          <a:xfrm>
            <a:off x="336492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97" name="Étiquette"/>
          <p:cNvSpPr/>
          <p:nvPr/>
        </p:nvSpPr>
        <p:spPr>
          <a:xfrm>
            <a:off x="3639240" y="2103120"/>
            <a:ext cx="132552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98" name="Text 11"/>
          <p:cNvSpPr/>
          <p:nvPr/>
        </p:nvSpPr>
        <p:spPr>
          <a:xfrm>
            <a:off x="363924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ALERTES</a:t>
            </a:r>
            <a:endParaRPr b="0" lang="fr-FR" sz="1100" spc="-1" strike="noStrike">
              <a:solidFill>
                <a:srgbClr val="ffffff"/>
              </a:solidFill>
              <a:latin typeface="Arial"/>
            </a:endParaRPr>
          </a:p>
        </p:txBody>
      </p:sp>
      <p:sp>
        <p:nvSpPr>
          <p:cNvPr id="99" name="Text 12"/>
          <p:cNvSpPr/>
          <p:nvPr/>
        </p:nvSpPr>
        <p:spPr>
          <a:xfrm>
            <a:off x="363924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ffb400"/>
                </a:solidFill>
                <a:latin typeface="Arial"/>
                <a:ea typeface="Arial"/>
              </a:rPr>
              <a:t>2</a:t>
            </a:r>
            <a:endParaRPr b="0" lang="fr-FR" sz="5400" spc="-1" strike="noStrike">
              <a:solidFill>
                <a:srgbClr val="ffffff"/>
              </a:solidFill>
              <a:latin typeface="Arial"/>
            </a:endParaRPr>
          </a:p>
        </p:txBody>
      </p:sp>
      <p:sp>
        <p:nvSpPr>
          <p:cNvPr id="100" name="Text 13"/>
          <p:cNvSpPr/>
          <p:nvPr/>
        </p:nvSpPr>
        <p:spPr>
          <a:xfrm>
            <a:off x="363924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niveaux d'alerte IA</a:t>
            </a:r>
            <a:endParaRPr b="0" lang="fr-FR" sz="1800" spc="-1" strike="noStrike">
              <a:solidFill>
                <a:srgbClr val="ffffff"/>
              </a:solidFill>
              <a:latin typeface="Arial"/>
            </a:endParaRPr>
          </a:p>
        </p:txBody>
      </p:sp>
      <p:sp>
        <p:nvSpPr>
          <p:cNvPr id="101" name="Text 14"/>
          <p:cNvSpPr/>
          <p:nvPr/>
        </p:nvSpPr>
        <p:spPr>
          <a:xfrm>
            <a:off x="363924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Avertissement puis confirmation, avec LED du nœud</a:t>
            </a:r>
            <a:endParaRPr b="0" lang="fr-FR" sz="1400" spc="-1" strike="noStrike">
              <a:solidFill>
                <a:srgbClr val="ffffff"/>
              </a:solidFill>
              <a:latin typeface="Arial"/>
            </a:endParaRPr>
          </a:p>
        </p:txBody>
      </p:sp>
      <p:sp>
        <p:nvSpPr>
          <p:cNvPr id="102" name="Chiffre 10/10"/>
          <p:cNvSpPr/>
          <p:nvPr/>
        </p:nvSpPr>
        <p:spPr>
          <a:xfrm>
            <a:off x="618120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03" name="Étiquette"/>
          <p:cNvSpPr/>
          <p:nvPr/>
        </p:nvSpPr>
        <p:spPr>
          <a:xfrm>
            <a:off x="6455520" y="2103120"/>
            <a:ext cx="1325520" cy="29232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04" name="Text 17"/>
          <p:cNvSpPr/>
          <p:nvPr/>
        </p:nvSpPr>
        <p:spPr>
          <a:xfrm>
            <a:off x="645552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PRÉDICTION</a:t>
            </a:r>
            <a:endParaRPr b="0" lang="fr-FR" sz="1100" spc="-1" strike="noStrike">
              <a:solidFill>
                <a:srgbClr val="ffffff"/>
              </a:solidFill>
              <a:latin typeface="Arial"/>
            </a:endParaRPr>
          </a:p>
        </p:txBody>
      </p:sp>
      <p:sp>
        <p:nvSpPr>
          <p:cNvPr id="105" name="Text 18"/>
          <p:cNvSpPr/>
          <p:nvPr/>
        </p:nvSpPr>
        <p:spPr>
          <a:xfrm>
            <a:off x="645552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ff4f81"/>
                </a:solidFill>
                <a:latin typeface="Arial"/>
                <a:ea typeface="Arial"/>
              </a:rPr>
              <a:t>10/10</a:t>
            </a:r>
            <a:endParaRPr b="0" lang="fr-FR" sz="5400" spc="-1" strike="noStrike">
              <a:solidFill>
                <a:srgbClr val="ffffff"/>
              </a:solidFill>
              <a:latin typeface="Arial"/>
            </a:endParaRPr>
          </a:p>
        </p:txBody>
      </p:sp>
      <p:sp>
        <p:nvSpPr>
          <p:cNvPr id="106" name="Text 19"/>
          <p:cNvSpPr/>
          <p:nvPr/>
        </p:nvSpPr>
        <p:spPr>
          <a:xfrm>
            <a:off x="645552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dérives lentes détectées</a:t>
            </a:r>
            <a:endParaRPr b="0" lang="fr-FR" sz="1800" spc="-1" strike="noStrike">
              <a:solidFill>
                <a:srgbClr val="ffffff"/>
              </a:solidFill>
              <a:latin typeface="Arial"/>
            </a:endParaRPr>
          </a:p>
        </p:txBody>
      </p:sp>
      <p:sp>
        <p:nvSpPr>
          <p:cNvPr id="107" name="Text 20"/>
          <p:cNvSpPr/>
          <p:nvPr/>
        </p:nvSpPr>
        <p:spPr>
          <a:xfrm>
            <a:off x="645552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0,07 % de fausses alertes (données simulées)</a:t>
            </a:r>
            <a:endParaRPr b="0" lang="fr-FR" sz="1400" spc="-1" strike="noStrike">
              <a:solidFill>
                <a:srgbClr val="ffffff"/>
              </a:solidFill>
              <a:latin typeface="Arial"/>
            </a:endParaRPr>
          </a:p>
        </p:txBody>
      </p:sp>
      <p:sp>
        <p:nvSpPr>
          <p:cNvPr id="108" name="Chiffre 37 ms"/>
          <p:cNvSpPr/>
          <p:nvPr/>
        </p:nvSpPr>
        <p:spPr>
          <a:xfrm>
            <a:off x="899784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09" name="Étiquette"/>
          <p:cNvSpPr/>
          <p:nvPr/>
        </p:nvSpPr>
        <p:spPr>
          <a:xfrm>
            <a:off x="9272160" y="2103120"/>
            <a:ext cx="1325520" cy="29232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0" name="Text 23"/>
          <p:cNvSpPr/>
          <p:nvPr/>
        </p:nvSpPr>
        <p:spPr>
          <a:xfrm>
            <a:off x="927216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VISION</a:t>
            </a:r>
            <a:endParaRPr b="0" lang="fr-FR" sz="1100" spc="-1" strike="noStrike">
              <a:solidFill>
                <a:srgbClr val="ffffff"/>
              </a:solidFill>
              <a:latin typeface="Arial"/>
            </a:endParaRPr>
          </a:p>
        </p:txBody>
      </p:sp>
      <p:sp>
        <p:nvSpPr>
          <p:cNvPr id="111" name="Text 24"/>
          <p:cNvSpPr/>
          <p:nvPr/>
        </p:nvSpPr>
        <p:spPr>
          <a:xfrm>
            <a:off x="927216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7adb4f"/>
                </a:solidFill>
                <a:latin typeface="Arial"/>
                <a:ea typeface="Arial"/>
              </a:rPr>
              <a:t>37 ms</a:t>
            </a:r>
            <a:endParaRPr b="0" lang="fr-FR" sz="5400" spc="-1" strike="noStrike">
              <a:solidFill>
                <a:srgbClr val="ffffff"/>
              </a:solidFill>
              <a:latin typeface="Arial"/>
            </a:endParaRPr>
          </a:p>
        </p:txBody>
      </p:sp>
      <p:sp>
        <p:nvSpPr>
          <p:cNvPr id="112" name="Text 25"/>
          <p:cNvSpPr/>
          <p:nvPr/>
        </p:nvSpPr>
        <p:spPr>
          <a:xfrm>
            <a:off x="927216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par image, YOLOv8n</a:t>
            </a:r>
            <a:endParaRPr b="0" lang="fr-FR" sz="1800" spc="-1" strike="noStrike">
              <a:solidFill>
                <a:srgbClr val="ffffff"/>
              </a:solidFill>
              <a:latin typeface="Arial"/>
            </a:endParaRPr>
          </a:p>
        </p:txBody>
      </p:sp>
      <p:sp>
        <p:nvSpPr>
          <p:cNvPr id="113" name="Text 26"/>
          <p:cNvSpPr/>
          <p:nvPr/>
        </p:nvSpPr>
        <p:spPr>
          <a:xfrm>
            <a:off x="927216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PC de développement, CPU · objectif &lt; 100 ms</a:t>
            </a:r>
            <a:endParaRPr b="0" lang="fr-FR" sz="1400" spc="-1" strike="noStrike">
              <a:solidFill>
                <a:srgbClr val="ffffff"/>
              </a:solidFill>
              <a:latin typeface="Arial"/>
            </a:endParaRPr>
          </a:p>
        </p:txBody>
      </p:sp>
      <p:sp>
        <p:nvSpPr>
          <p:cNvPr id="114" name="PlaceHolder 2"/>
          <p:cNvSpPr>
            <a:spLocks noGrp="1"/>
          </p:cNvSpPr>
          <p:nvPr>
            <p:ph type="sldNum" idx="7"/>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6ECF444E-0CA3-494E-ACF5-71E836534F80}"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6"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7"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8" name="Surtitre"/>
          <p:cNvSpPr/>
          <p:nvPr/>
        </p:nvSpPr>
        <p:spPr>
          <a:xfrm>
            <a:off x="548640" y="384120"/>
            <a:ext cx="1230480" cy="29232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19" name="Text 4"/>
          <p:cNvSpPr/>
          <p:nvPr/>
        </p:nvSpPr>
        <p:spPr>
          <a:xfrm>
            <a:off x="548640" y="384120"/>
            <a:ext cx="123048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ffffff"/>
                </a:solidFill>
                <a:latin typeface="Calibri"/>
              </a:rPr>
              <a:t>ARCHITECTURE</a:t>
            </a:r>
            <a:endParaRPr b="0" lang="fr-FR" sz="1100" spc="-1" strike="noStrike">
              <a:solidFill>
                <a:srgbClr val="000000"/>
              </a:solidFill>
              <a:latin typeface="Arial"/>
            </a:endParaRPr>
          </a:p>
        </p:txBody>
      </p:sp>
      <p:sp>
        <p:nvSpPr>
          <p:cNvPr id="120"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Edge-to-Server : le portable devient serveur</a:t>
            </a:r>
            <a:endParaRPr b="0" lang="fr-FR" sz="3400" spc="-1" strike="noStrike">
              <a:solidFill>
                <a:schemeClr val="dk1"/>
              </a:solidFill>
              <a:latin typeface="Calibri"/>
            </a:endParaRPr>
          </a:p>
        </p:txBody>
      </p:sp>
      <p:sp>
        <p:nvSpPr>
          <p:cNvPr id="121" name="Panneau PC Serveur Local"/>
          <p:cNvSpPr/>
          <p:nvPr/>
        </p:nvSpPr>
        <p:spPr>
          <a:xfrm>
            <a:off x="4206240" y="1737360"/>
            <a:ext cx="7406280" cy="4525920"/>
          </a:xfrm>
          <a:prstGeom prst="roundRect">
            <a:avLst>
              <a:gd name="adj" fmla="val 4040"/>
            </a:avLst>
          </a:prstGeom>
          <a:solidFill>
            <a:srgbClr val="f3f0ff"/>
          </a:solidFill>
          <a:ln w="19050">
            <a:solidFill>
              <a:srgbClr val="6c3bff"/>
            </a:solidFill>
            <a:prstDash val="dash"/>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22" name="Text 7"/>
          <p:cNvSpPr/>
          <p:nvPr/>
        </p:nvSpPr>
        <p:spPr>
          <a:xfrm>
            <a:off x="4434840" y="1847160"/>
            <a:ext cx="694908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pc="-1" strike="noStrike">
                <a:solidFill>
                  <a:srgbClr val="6c3bff"/>
                </a:solidFill>
                <a:latin typeface="Calibri"/>
              </a:rPr>
              <a:t>PC SERVEUR LOCAL · portable Linux · Docker Compose · hotspot 192.168.10.1</a:t>
            </a:r>
            <a:endParaRPr b="0" lang="fr-FR" sz="1200" spc="-1" strike="noStrike">
              <a:solidFill>
                <a:srgbClr val="000000"/>
              </a:solidFill>
              <a:latin typeface="Arial"/>
            </a:endParaRPr>
          </a:p>
        </p:txBody>
      </p:sp>
      <p:sp>
        <p:nvSpPr>
          <p:cNvPr id="123" name="Nœud ESP32"/>
          <p:cNvSpPr/>
          <p:nvPr/>
        </p:nvSpPr>
        <p:spPr>
          <a:xfrm>
            <a:off x="548640" y="2514600"/>
            <a:ext cx="2377080" cy="868320"/>
          </a:xfrm>
          <a:prstGeom prst="roundRect">
            <a:avLst>
              <a:gd name="adj" fmla="val 15789"/>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24" name="Text 9"/>
          <p:cNvSpPr/>
          <p:nvPr/>
        </p:nvSpPr>
        <p:spPr>
          <a:xfrm>
            <a:off x="640080" y="2642760"/>
            <a:ext cx="21942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Nœud ESP32</a:t>
            </a:r>
            <a:endParaRPr b="0" lang="fr-FR" sz="1500" spc="-1" strike="noStrike">
              <a:solidFill>
                <a:srgbClr val="000000"/>
              </a:solidFill>
              <a:latin typeface="Arial"/>
            </a:endParaRPr>
          </a:p>
        </p:txBody>
      </p:sp>
      <p:sp>
        <p:nvSpPr>
          <p:cNvPr id="125" name="Text 10"/>
          <p:cNvSpPr/>
          <p:nvPr/>
        </p:nvSpPr>
        <p:spPr>
          <a:xfrm>
            <a:off x="640080" y="2971800"/>
            <a:ext cx="21942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DHT22 · MQ-2 · PIR · LED</a:t>
            </a:r>
            <a:endParaRPr b="0" lang="fr-FR" sz="1200" spc="-1" strike="noStrike">
              <a:solidFill>
                <a:srgbClr val="000000"/>
              </a:solidFill>
              <a:latin typeface="Arial"/>
            </a:endParaRPr>
          </a:p>
        </p:txBody>
      </p:sp>
      <p:sp>
        <p:nvSpPr>
          <p:cNvPr id="126" name="Webcam USB"/>
          <p:cNvSpPr/>
          <p:nvPr/>
        </p:nvSpPr>
        <p:spPr>
          <a:xfrm>
            <a:off x="548640" y="4160520"/>
            <a:ext cx="2377080" cy="868320"/>
          </a:xfrm>
          <a:prstGeom prst="roundRect">
            <a:avLst>
              <a:gd name="adj" fmla="val 15789"/>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27" name="Text 12"/>
          <p:cNvSpPr/>
          <p:nvPr/>
        </p:nvSpPr>
        <p:spPr>
          <a:xfrm>
            <a:off x="640080" y="4288680"/>
            <a:ext cx="21942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Webcam USB</a:t>
            </a:r>
            <a:endParaRPr b="0" lang="fr-FR" sz="1500" spc="-1" strike="noStrike">
              <a:solidFill>
                <a:srgbClr val="000000"/>
              </a:solidFill>
              <a:latin typeface="Arial"/>
            </a:endParaRPr>
          </a:p>
        </p:txBody>
      </p:sp>
      <p:sp>
        <p:nvSpPr>
          <p:cNvPr id="128" name="Text 13"/>
          <p:cNvSpPr/>
          <p:nvPr/>
        </p:nvSpPr>
        <p:spPr>
          <a:xfrm>
            <a:off x="640080" y="4617720"/>
            <a:ext cx="21942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/dev/video0</a:t>
            </a:r>
            <a:endParaRPr b="0" lang="fr-FR" sz="1200" spc="-1" strike="noStrike">
              <a:solidFill>
                <a:srgbClr val="000000"/>
              </a:solidFill>
              <a:latin typeface="Arial"/>
            </a:endParaRPr>
          </a:p>
        </p:txBody>
      </p:sp>
      <p:sp>
        <p:nvSpPr>
          <p:cNvPr id="129" name="Mosquitto"/>
          <p:cNvSpPr/>
          <p:nvPr/>
        </p:nvSpPr>
        <p:spPr>
          <a:xfrm>
            <a:off x="4526280" y="2514600"/>
            <a:ext cx="2011320" cy="868320"/>
          </a:xfrm>
          <a:prstGeom prst="roundRect">
            <a:avLst>
              <a:gd name="adj" fmla="val 15789"/>
            </a:avLst>
          </a:prstGeom>
          <a:solidFill>
            <a:srgbClr val="6c3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30" name="Text 15"/>
          <p:cNvSpPr/>
          <p:nvPr/>
        </p:nvSpPr>
        <p:spPr>
          <a:xfrm>
            <a:off x="4617720" y="264276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ffffff"/>
                </a:solidFill>
                <a:latin typeface="Calibri"/>
              </a:rPr>
              <a:t>Mosquitto</a:t>
            </a:r>
            <a:endParaRPr b="0" lang="fr-FR" sz="1500" spc="-1" strike="noStrike">
              <a:solidFill>
                <a:srgbClr val="000000"/>
              </a:solidFill>
              <a:latin typeface="Arial"/>
            </a:endParaRPr>
          </a:p>
        </p:txBody>
      </p:sp>
      <p:sp>
        <p:nvSpPr>
          <p:cNvPr id="131" name="Text 16"/>
          <p:cNvSpPr/>
          <p:nvPr/>
        </p:nvSpPr>
        <p:spPr>
          <a:xfrm>
            <a:off x="4617720" y="297180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ffffff"/>
                </a:solidFill>
                <a:latin typeface="Calibri"/>
              </a:rPr>
              <a:t>broker TLS</a:t>
            </a:r>
            <a:endParaRPr b="0" lang="fr-FR" sz="1200" spc="-1" strike="noStrike">
              <a:solidFill>
                <a:srgbClr val="000000"/>
              </a:solidFill>
              <a:latin typeface="Arial"/>
            </a:endParaRPr>
          </a:p>
        </p:txBody>
      </p:sp>
      <p:sp>
        <p:nvSpPr>
          <p:cNvPr id="132" name="Backend Go"/>
          <p:cNvSpPr/>
          <p:nvPr/>
        </p:nvSpPr>
        <p:spPr>
          <a:xfrm>
            <a:off x="7178040" y="2514600"/>
            <a:ext cx="2011320" cy="868320"/>
          </a:xfrm>
          <a:prstGeom prst="roundRect">
            <a:avLst>
              <a:gd name="adj" fmla="val 15789"/>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33" name="Text 18"/>
          <p:cNvSpPr/>
          <p:nvPr/>
        </p:nvSpPr>
        <p:spPr>
          <a:xfrm>
            <a:off x="7269480" y="264276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Backend Go</a:t>
            </a:r>
            <a:endParaRPr b="0" lang="fr-FR" sz="1500" spc="-1" strike="noStrike">
              <a:solidFill>
                <a:srgbClr val="000000"/>
              </a:solidFill>
              <a:latin typeface="Arial"/>
            </a:endParaRPr>
          </a:p>
        </p:txBody>
      </p:sp>
      <p:sp>
        <p:nvSpPr>
          <p:cNvPr id="134" name="Text 19"/>
          <p:cNvSpPr/>
          <p:nvPr/>
        </p:nvSpPr>
        <p:spPr>
          <a:xfrm>
            <a:off x="7269480" y="297180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API REST · WebSocket</a:t>
            </a:r>
            <a:endParaRPr b="0" lang="fr-FR" sz="1200" spc="-1" strike="noStrike">
              <a:solidFill>
                <a:srgbClr val="000000"/>
              </a:solidFill>
              <a:latin typeface="Arial"/>
            </a:endParaRPr>
          </a:p>
        </p:txBody>
      </p:sp>
      <p:sp>
        <p:nvSpPr>
          <p:cNvPr id="135" name="CouchDB"/>
          <p:cNvSpPr/>
          <p:nvPr/>
        </p:nvSpPr>
        <p:spPr>
          <a:xfrm>
            <a:off x="9509760" y="2514600"/>
            <a:ext cx="1919880" cy="868320"/>
          </a:xfrm>
          <a:prstGeom prst="roundRect">
            <a:avLst>
              <a:gd name="adj" fmla="val 15789"/>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36" name="Text 21"/>
          <p:cNvSpPr/>
          <p:nvPr/>
        </p:nvSpPr>
        <p:spPr>
          <a:xfrm>
            <a:off x="9601200" y="2642760"/>
            <a:ext cx="17370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CouchDB</a:t>
            </a:r>
            <a:endParaRPr b="0" lang="fr-FR" sz="1500" spc="-1" strike="noStrike">
              <a:solidFill>
                <a:srgbClr val="000000"/>
              </a:solidFill>
              <a:latin typeface="Arial"/>
            </a:endParaRPr>
          </a:p>
        </p:txBody>
      </p:sp>
      <p:sp>
        <p:nvSpPr>
          <p:cNvPr id="137" name="Text 22"/>
          <p:cNvSpPr/>
          <p:nvPr/>
        </p:nvSpPr>
        <p:spPr>
          <a:xfrm>
            <a:off x="9601200" y="2971800"/>
            <a:ext cx="17370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telemetry · events</a:t>
            </a:r>
            <a:endParaRPr b="0" lang="fr-FR" sz="1200" spc="-1" strike="noStrike">
              <a:solidFill>
                <a:srgbClr val="000000"/>
              </a:solidFill>
              <a:latin typeface="Arial"/>
            </a:endParaRPr>
          </a:p>
        </p:txBody>
      </p:sp>
      <p:sp>
        <p:nvSpPr>
          <p:cNvPr id="138" name="IA Vision"/>
          <p:cNvSpPr/>
          <p:nvPr/>
        </p:nvSpPr>
        <p:spPr>
          <a:xfrm>
            <a:off x="4526280" y="4160520"/>
            <a:ext cx="2011320" cy="868320"/>
          </a:xfrm>
          <a:prstGeom prst="roundRect">
            <a:avLst>
              <a:gd name="adj" fmla="val 15789"/>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39" name="Text 24"/>
          <p:cNvSpPr/>
          <p:nvPr/>
        </p:nvSpPr>
        <p:spPr>
          <a:xfrm>
            <a:off x="4617720" y="428868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IA Vision</a:t>
            </a:r>
            <a:endParaRPr b="0" lang="fr-FR" sz="1500" spc="-1" strike="noStrike">
              <a:solidFill>
                <a:srgbClr val="000000"/>
              </a:solidFill>
              <a:latin typeface="Arial"/>
            </a:endParaRPr>
          </a:p>
        </p:txBody>
      </p:sp>
      <p:sp>
        <p:nvSpPr>
          <p:cNvPr id="140" name="Text 25"/>
          <p:cNvSpPr/>
          <p:nvPr/>
        </p:nvSpPr>
        <p:spPr>
          <a:xfrm>
            <a:off x="4617720" y="461772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MOG2 + YOLOv8n</a:t>
            </a:r>
            <a:endParaRPr b="0" lang="fr-FR" sz="1200" spc="-1" strike="noStrike">
              <a:solidFill>
                <a:srgbClr val="000000"/>
              </a:solidFill>
              <a:latin typeface="Arial"/>
            </a:endParaRPr>
          </a:p>
        </p:txBody>
      </p:sp>
      <p:sp>
        <p:nvSpPr>
          <p:cNvPr id="141" name="Dashboard"/>
          <p:cNvSpPr/>
          <p:nvPr/>
        </p:nvSpPr>
        <p:spPr>
          <a:xfrm>
            <a:off x="7178040" y="4160520"/>
            <a:ext cx="2011320" cy="868320"/>
          </a:xfrm>
          <a:prstGeom prst="roundRect">
            <a:avLst>
              <a:gd name="adj" fmla="val 15789"/>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42" name="Text 27"/>
          <p:cNvSpPr/>
          <p:nvPr/>
        </p:nvSpPr>
        <p:spPr>
          <a:xfrm>
            <a:off x="7269480" y="428868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Dashboard</a:t>
            </a:r>
            <a:endParaRPr b="0" lang="fr-FR" sz="1500" spc="-1" strike="noStrike">
              <a:solidFill>
                <a:srgbClr val="000000"/>
              </a:solidFill>
              <a:latin typeface="Arial"/>
            </a:endParaRPr>
          </a:p>
        </p:txBody>
      </p:sp>
      <p:sp>
        <p:nvSpPr>
          <p:cNvPr id="143" name="Text 28"/>
          <p:cNvSpPr/>
          <p:nvPr/>
        </p:nvSpPr>
        <p:spPr>
          <a:xfrm>
            <a:off x="7269480" y="461772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React · 127.0.0.1</a:t>
            </a:r>
            <a:endParaRPr b="0" lang="fr-FR" sz="1200" spc="-1" strike="noStrike">
              <a:solidFill>
                <a:srgbClr val="000000"/>
              </a:solidFill>
              <a:latin typeface="Arial"/>
            </a:endParaRPr>
          </a:p>
        </p:txBody>
      </p:sp>
      <p:sp>
        <p:nvSpPr>
          <p:cNvPr id="144" name="IA Prédiction"/>
          <p:cNvSpPr/>
          <p:nvPr/>
        </p:nvSpPr>
        <p:spPr>
          <a:xfrm>
            <a:off x="9509760" y="4160520"/>
            <a:ext cx="1919880" cy="868320"/>
          </a:xfrm>
          <a:prstGeom prst="roundRect">
            <a:avLst>
              <a:gd name="adj" fmla="val 15789"/>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45" name="Text 30"/>
          <p:cNvSpPr/>
          <p:nvPr/>
        </p:nvSpPr>
        <p:spPr>
          <a:xfrm>
            <a:off x="9601200" y="4288680"/>
            <a:ext cx="17370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IA Prédiction</a:t>
            </a:r>
            <a:endParaRPr b="0" lang="fr-FR" sz="1500" spc="-1" strike="noStrike">
              <a:solidFill>
                <a:srgbClr val="000000"/>
              </a:solidFill>
              <a:latin typeface="Arial"/>
            </a:endParaRPr>
          </a:p>
        </p:txBody>
      </p:sp>
      <p:sp>
        <p:nvSpPr>
          <p:cNvPr id="146" name="Text 31"/>
          <p:cNvSpPr/>
          <p:nvPr/>
        </p:nvSpPr>
        <p:spPr>
          <a:xfrm>
            <a:off x="9601200" y="4617720"/>
            <a:ext cx="17370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Isolation Forest</a:t>
            </a:r>
            <a:endParaRPr b="0" lang="fr-FR" sz="1200" spc="-1" strike="noStrike">
              <a:solidFill>
                <a:srgbClr val="000000"/>
              </a:solidFill>
              <a:latin typeface="Arial"/>
            </a:endParaRPr>
          </a:p>
        </p:txBody>
      </p:sp>
      <p:sp>
        <p:nvSpPr>
          <p:cNvPr id="147" name="Flèche"/>
          <p:cNvSpPr/>
          <p:nvPr/>
        </p:nvSpPr>
        <p:spPr>
          <a:xfrm>
            <a:off x="2926080" y="2944080"/>
            <a:ext cx="1600200" cy="360"/>
          </a:xfrm>
          <a:prstGeom prst="line">
            <a:avLst/>
          </a:prstGeom>
          <a:ln w="31750">
            <a:solidFill>
              <a:srgbClr val="6c3bff"/>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48" name="Text 33"/>
          <p:cNvSpPr/>
          <p:nvPr/>
        </p:nvSpPr>
        <p:spPr>
          <a:xfrm>
            <a:off x="2926080" y="2578680"/>
            <a:ext cx="127980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200" spc="-1" strike="noStrike">
                <a:solidFill>
                  <a:srgbClr val="6c3bff"/>
                </a:solidFill>
                <a:latin typeface="Calibri"/>
              </a:rPr>
              <a:t>MQTTS · TLS 1.2+</a:t>
            </a:r>
            <a:endParaRPr b="0" lang="fr-FR" sz="1200" spc="-1" strike="noStrike">
              <a:solidFill>
                <a:srgbClr val="000000"/>
              </a:solidFill>
              <a:latin typeface="Arial"/>
            </a:endParaRPr>
          </a:p>
        </p:txBody>
      </p:sp>
      <p:sp>
        <p:nvSpPr>
          <p:cNvPr id="149" name="Flèche"/>
          <p:cNvSpPr/>
          <p:nvPr/>
        </p:nvSpPr>
        <p:spPr>
          <a:xfrm>
            <a:off x="2926080" y="4590000"/>
            <a:ext cx="1600200" cy="360"/>
          </a:xfrm>
          <a:prstGeom prst="line">
            <a:avLst/>
          </a:prstGeom>
          <a:ln w="31750">
            <a:solidFill>
              <a:srgbClr val="00c9b7"/>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0" name="Flèche"/>
          <p:cNvSpPr/>
          <p:nvPr/>
        </p:nvSpPr>
        <p:spPr>
          <a:xfrm>
            <a:off x="6537960" y="2944080"/>
            <a:ext cx="640080" cy="360"/>
          </a:xfrm>
          <a:prstGeom prst="line">
            <a:avLst/>
          </a:prstGeom>
          <a:ln w="31750">
            <a:solidFill>
              <a:srgbClr val="120b2e"/>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1" name="Flèche"/>
          <p:cNvSpPr/>
          <p:nvPr/>
        </p:nvSpPr>
        <p:spPr>
          <a:xfrm>
            <a:off x="9189720" y="2944080"/>
            <a:ext cx="320040" cy="360"/>
          </a:xfrm>
          <a:prstGeom prst="line">
            <a:avLst/>
          </a:prstGeom>
          <a:ln w="31750">
            <a:solidFill>
              <a:srgbClr val="120b2e"/>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2" name="Trait"/>
          <p:cNvSpPr/>
          <p:nvPr/>
        </p:nvSpPr>
        <p:spPr>
          <a:xfrm>
            <a:off x="8183880" y="3383280"/>
            <a:ext cx="360" cy="38376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3" name="Trait"/>
          <p:cNvSpPr/>
          <p:nvPr/>
        </p:nvSpPr>
        <p:spPr>
          <a:xfrm>
            <a:off x="5532120" y="3767040"/>
            <a:ext cx="4937760" cy="360"/>
          </a:xfrm>
          <a:prstGeom prst="line">
            <a:avLst/>
          </a:prstGeom>
          <a:ln w="25400">
            <a:solidFill>
              <a:srgbClr val="120b2e"/>
            </a:solidFill>
            <a:roun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4" name="Trait"/>
          <p:cNvSpPr/>
          <p:nvPr/>
        </p:nvSpPr>
        <p:spPr>
          <a:xfrm>
            <a:off x="5532120" y="3767040"/>
            <a:ext cx="360" cy="39348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5" name="Trait"/>
          <p:cNvSpPr/>
          <p:nvPr/>
        </p:nvSpPr>
        <p:spPr>
          <a:xfrm>
            <a:off x="8183880" y="3767040"/>
            <a:ext cx="360" cy="39348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6" name="Trait"/>
          <p:cNvSpPr/>
          <p:nvPr/>
        </p:nvSpPr>
        <p:spPr>
          <a:xfrm>
            <a:off x="10469880" y="3767040"/>
            <a:ext cx="360" cy="39348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7" name="Text 42"/>
          <p:cNvSpPr/>
          <p:nvPr/>
        </p:nvSpPr>
        <p:spPr>
          <a:xfrm>
            <a:off x="8321040" y="3493080"/>
            <a:ext cx="210276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100" spc="-1" strike="noStrike">
                <a:solidFill>
                  <a:srgbClr val="5b5780"/>
                </a:solidFill>
                <a:latin typeface="Calibri"/>
              </a:rPr>
              <a:t>alertes · session · API</a:t>
            </a:r>
            <a:endParaRPr b="0" lang="fr-FR" sz="1100" spc="-1" strike="noStrike">
              <a:solidFill>
                <a:srgbClr val="000000"/>
              </a:solidFill>
              <a:latin typeface="Arial"/>
            </a:endParaRPr>
          </a:p>
        </p:txBody>
      </p:sp>
      <p:sp>
        <p:nvSpPr>
          <p:cNvPr id="158" name="Étiquette"/>
          <p:cNvSpPr/>
          <p:nvPr/>
        </p:nvSpPr>
        <p:spPr>
          <a:xfrm>
            <a:off x="4526280" y="5440680"/>
            <a:ext cx="2468520" cy="45684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59" name="Text 44"/>
          <p:cNvSpPr/>
          <p:nvPr/>
        </p:nvSpPr>
        <p:spPr>
          <a:xfrm>
            <a:off x="4526280" y="5440680"/>
            <a:ext cx="24685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ffffff"/>
                </a:solidFill>
                <a:latin typeface="Calibri"/>
              </a:rPr>
              <a:t>1 seul port exposé : 18883</a:t>
            </a:r>
            <a:endParaRPr b="0" lang="fr-FR" sz="1200" spc="-1" strike="noStrike">
              <a:solidFill>
                <a:srgbClr val="000000"/>
              </a:solidFill>
              <a:latin typeface="Arial"/>
            </a:endParaRPr>
          </a:p>
        </p:txBody>
      </p:sp>
      <p:sp>
        <p:nvSpPr>
          <p:cNvPr id="160" name="Étiquette"/>
          <p:cNvSpPr/>
          <p:nvPr/>
        </p:nvSpPr>
        <p:spPr>
          <a:xfrm>
            <a:off x="7178040" y="5440680"/>
            <a:ext cx="1919880" cy="45684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61" name="Text 46"/>
          <p:cNvSpPr/>
          <p:nvPr/>
        </p:nvSpPr>
        <p:spPr>
          <a:xfrm>
            <a:off x="7178040" y="5440680"/>
            <a:ext cx="191988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120b2e"/>
                </a:solidFill>
                <a:latin typeface="Calibri"/>
              </a:rPr>
              <a:t>conteneurs non root</a:t>
            </a:r>
            <a:endParaRPr b="0" lang="fr-FR" sz="1200" spc="-1" strike="noStrike">
              <a:solidFill>
                <a:srgbClr val="000000"/>
              </a:solidFill>
              <a:latin typeface="Arial"/>
            </a:endParaRPr>
          </a:p>
        </p:txBody>
      </p:sp>
      <p:sp>
        <p:nvSpPr>
          <p:cNvPr id="162" name="Étiquette"/>
          <p:cNvSpPr/>
          <p:nvPr/>
        </p:nvSpPr>
        <p:spPr>
          <a:xfrm>
            <a:off x="9281160" y="5440680"/>
            <a:ext cx="2239920" cy="45684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3" name="Text 48"/>
          <p:cNvSpPr/>
          <p:nvPr/>
        </p:nvSpPr>
        <p:spPr>
          <a:xfrm>
            <a:off x="9281160" y="5440680"/>
            <a:ext cx="22399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120b2e"/>
                </a:solidFill>
                <a:latin typeface="Calibri"/>
              </a:rPr>
              <a:t>hors ligne après build</a:t>
            </a:r>
            <a:endParaRPr b="0" lang="fr-FR" sz="1200" spc="-1" strike="noStrike">
              <a:solidFill>
                <a:srgbClr val="000000"/>
              </a:solidFill>
              <a:latin typeface="Arial"/>
            </a:endParaRPr>
          </a:p>
        </p:txBody>
      </p:sp>
      <p:sp>
        <p:nvSpPr>
          <p:cNvPr id="164" name="Text 49"/>
          <p:cNvSpPr/>
          <p:nvPr/>
        </p:nvSpPr>
        <p:spPr>
          <a:xfrm>
            <a:off x="548640" y="5486400"/>
            <a:ext cx="347436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Un seul écrivain en base : le backend. Les IA lisent, puis alertent via l'API.</a:t>
            </a:r>
            <a:endParaRPr b="0" lang="fr-FR" sz="1400" spc="-1" strike="noStrike">
              <a:solidFill>
                <a:srgbClr val="000000"/>
              </a:solidFill>
              <a:latin typeface="Arial"/>
            </a:endParaRPr>
          </a:p>
        </p:txBody>
      </p:sp>
      <p:sp>
        <p:nvSpPr>
          <p:cNvPr id="165" name="PlaceHolder 2"/>
          <p:cNvSpPr>
            <a:spLocks noGrp="1"/>
          </p:cNvSpPr>
          <p:nvPr>
            <p:ph type="sldNum" idx="8"/>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E5B72F4A-8B34-4C5C-AC1A-9469573A73C1}"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7"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8"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9" name="Surtitre"/>
          <p:cNvSpPr/>
          <p:nvPr/>
        </p:nvSpPr>
        <p:spPr>
          <a:xfrm>
            <a:off x="548640" y="384120"/>
            <a:ext cx="149940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70" name="Text 4"/>
          <p:cNvSpPr/>
          <p:nvPr/>
        </p:nvSpPr>
        <p:spPr>
          <a:xfrm>
            <a:off x="548640" y="384120"/>
            <a:ext cx="14994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RÉSEAU DE TABLE</a:t>
            </a:r>
            <a:endParaRPr b="0" lang="fr-FR" sz="1100" spc="-1" strike="noStrike">
              <a:solidFill>
                <a:srgbClr val="000000"/>
              </a:solidFill>
              <a:latin typeface="Arial"/>
            </a:endParaRPr>
          </a:p>
        </p:txBody>
      </p:sp>
      <p:sp>
        <p:nvSpPr>
          <p:cNvPr id="171"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Un réseau de table verrouillé</a:t>
            </a:r>
            <a:endParaRPr b="0" lang="fr-FR" sz="3400" spc="-1" strike="noStrike">
              <a:solidFill>
                <a:schemeClr val="dk1"/>
              </a:solidFill>
              <a:latin typeface="Calibri"/>
            </a:endParaRPr>
          </a:p>
        </p:txBody>
      </p:sp>
      <p:sp>
        <p:nvSpPr>
          <p:cNvPr id="172" name="Ligne réseau VIGIL8_HOTSPOT"/>
          <p:cNvSpPr/>
          <p:nvPr/>
        </p:nvSpPr>
        <p:spPr>
          <a:xfrm>
            <a:off x="548640" y="178308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73" name="Pastille FaWifi"/>
          <p:cNvSpPr/>
          <p:nvPr/>
        </p:nvSpPr>
        <p:spPr>
          <a:xfrm>
            <a:off x="731520" y="1920240"/>
            <a:ext cx="639720" cy="63972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174" name="Image 0" descr="FaWifi"/>
          <p:cNvPicPr/>
          <p:nvPr/>
        </p:nvPicPr>
        <p:blipFill>
          <a:blip r:embed="rId1"/>
          <a:stretch/>
        </p:blipFill>
        <p:spPr>
          <a:xfrm>
            <a:off x="891720" y="2080440"/>
            <a:ext cx="319680" cy="319680"/>
          </a:xfrm>
          <a:prstGeom prst="rect">
            <a:avLst/>
          </a:prstGeom>
          <a:ln w="0">
            <a:noFill/>
          </a:ln>
        </p:spPr>
      </p:pic>
      <p:sp>
        <p:nvSpPr>
          <p:cNvPr id="175" name="Text 8"/>
          <p:cNvSpPr/>
          <p:nvPr/>
        </p:nvSpPr>
        <p:spPr>
          <a:xfrm>
            <a:off x="1554480" y="190188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VIGIL8_HOTSPOT</a:t>
            </a:r>
            <a:endParaRPr b="0" lang="fr-FR" sz="1700" spc="-1" strike="noStrike">
              <a:solidFill>
                <a:srgbClr val="000000"/>
              </a:solidFill>
              <a:latin typeface="Arial"/>
            </a:endParaRPr>
          </a:p>
        </p:txBody>
      </p:sp>
      <p:sp>
        <p:nvSpPr>
          <p:cNvPr id="176" name="Text 9"/>
          <p:cNvSpPr/>
          <p:nvPr/>
        </p:nvSpPr>
        <p:spPr>
          <a:xfrm>
            <a:off x="1554480" y="222192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192.168.10.0/24 · WPA2-PSK · 2,4 GHz uniquement</a:t>
            </a:r>
            <a:endParaRPr b="0" lang="fr-FR" sz="1300" spc="-1" strike="noStrike">
              <a:solidFill>
                <a:srgbClr val="000000"/>
              </a:solidFill>
              <a:latin typeface="Arial"/>
            </a:endParaRPr>
          </a:p>
        </p:txBody>
      </p:sp>
      <p:sp>
        <p:nvSpPr>
          <p:cNvPr id="177" name="Ligne réseau Serveur · 192.168.10.1"/>
          <p:cNvSpPr/>
          <p:nvPr/>
        </p:nvSpPr>
        <p:spPr>
          <a:xfrm>
            <a:off x="548640" y="288036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78" name="Pastille FaServer"/>
          <p:cNvSpPr/>
          <p:nvPr/>
        </p:nvSpPr>
        <p:spPr>
          <a:xfrm>
            <a:off x="731520" y="3017520"/>
            <a:ext cx="639720" cy="639720"/>
          </a:xfrm>
          <a:prstGeom prst="ellipse">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179" name="Image 1" descr="FaServer"/>
          <p:cNvPicPr/>
          <p:nvPr/>
        </p:nvPicPr>
        <p:blipFill>
          <a:blip r:embed="rId2"/>
          <a:stretch/>
        </p:blipFill>
        <p:spPr>
          <a:xfrm>
            <a:off x="891720" y="3177720"/>
            <a:ext cx="319680" cy="319680"/>
          </a:xfrm>
          <a:prstGeom prst="rect">
            <a:avLst/>
          </a:prstGeom>
          <a:ln w="0">
            <a:noFill/>
          </a:ln>
        </p:spPr>
      </p:pic>
      <p:sp>
        <p:nvSpPr>
          <p:cNvPr id="180" name="Text 12"/>
          <p:cNvSpPr/>
          <p:nvPr/>
        </p:nvSpPr>
        <p:spPr>
          <a:xfrm>
            <a:off x="1554480" y="299916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Serveur · 192.168.10.1</a:t>
            </a:r>
            <a:endParaRPr b="0" lang="fr-FR" sz="1700" spc="-1" strike="noStrike">
              <a:solidFill>
                <a:srgbClr val="000000"/>
              </a:solidFill>
              <a:latin typeface="Arial"/>
            </a:endParaRPr>
          </a:p>
        </p:txBody>
      </p:sp>
      <p:sp>
        <p:nvSpPr>
          <p:cNvPr id="181" name="Text 13"/>
          <p:cNvSpPr/>
          <p:nvPr/>
        </p:nvSpPr>
        <p:spPr>
          <a:xfrm>
            <a:off x="1554480" y="331920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Passerelle et DHCP · adresse inscrite dans le certificat TLS</a:t>
            </a:r>
            <a:endParaRPr b="0" lang="fr-FR" sz="1300" spc="-1" strike="noStrike">
              <a:solidFill>
                <a:srgbClr val="000000"/>
              </a:solidFill>
              <a:latin typeface="Arial"/>
            </a:endParaRPr>
          </a:p>
        </p:txBody>
      </p:sp>
      <p:sp>
        <p:nvSpPr>
          <p:cNvPr id="182" name="Ligne réseau Nœud ESP32 · 192.168.10.5"/>
          <p:cNvSpPr/>
          <p:nvPr/>
        </p:nvSpPr>
        <p:spPr>
          <a:xfrm>
            <a:off x="548640" y="397764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83" name="Pastille FaMicrochip"/>
          <p:cNvSpPr/>
          <p:nvPr/>
        </p:nvSpPr>
        <p:spPr>
          <a:xfrm>
            <a:off x="731520" y="4114800"/>
            <a:ext cx="639720" cy="63972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184" name="Image 2" descr="FaMicrochip"/>
          <p:cNvPicPr/>
          <p:nvPr/>
        </p:nvPicPr>
        <p:blipFill>
          <a:blip r:embed="rId3"/>
          <a:stretch/>
        </p:blipFill>
        <p:spPr>
          <a:xfrm>
            <a:off x="891720" y="4275000"/>
            <a:ext cx="319680" cy="319680"/>
          </a:xfrm>
          <a:prstGeom prst="rect">
            <a:avLst/>
          </a:prstGeom>
          <a:ln w="0">
            <a:noFill/>
          </a:ln>
        </p:spPr>
      </p:pic>
      <p:sp>
        <p:nvSpPr>
          <p:cNvPr id="185" name="Text 16"/>
          <p:cNvSpPr/>
          <p:nvPr/>
        </p:nvSpPr>
        <p:spPr>
          <a:xfrm>
            <a:off x="1554480" y="409644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Nœud ESP32 · 192.168.10.5</a:t>
            </a:r>
            <a:endParaRPr b="0" lang="fr-FR" sz="1700" spc="-1" strike="noStrike">
              <a:solidFill>
                <a:srgbClr val="000000"/>
              </a:solidFill>
              <a:latin typeface="Arial"/>
            </a:endParaRPr>
          </a:p>
        </p:txBody>
      </p:sp>
      <p:sp>
        <p:nvSpPr>
          <p:cNvPr id="186" name="Text 17"/>
          <p:cNvSpPr/>
          <p:nvPr/>
        </p:nvSpPr>
        <p:spPr>
          <a:xfrm>
            <a:off x="1554480" y="441648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IP fixe, hors plage DHCP : aucun conflit possible</a:t>
            </a:r>
            <a:endParaRPr b="0" lang="fr-FR" sz="1300" spc="-1" strike="noStrike">
              <a:solidFill>
                <a:srgbClr val="000000"/>
              </a:solidFill>
              <a:latin typeface="Arial"/>
            </a:endParaRPr>
          </a:p>
        </p:txBody>
      </p:sp>
      <p:sp>
        <p:nvSpPr>
          <p:cNvPr id="187" name="Ligne réseau DHCP · .10 à .254"/>
          <p:cNvSpPr/>
          <p:nvPr/>
        </p:nvSpPr>
        <p:spPr>
          <a:xfrm>
            <a:off x="548640" y="507492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88" name="Pastille FaNetworkWired"/>
          <p:cNvSpPr/>
          <p:nvPr/>
        </p:nvSpPr>
        <p:spPr>
          <a:xfrm>
            <a:off x="731520" y="5212080"/>
            <a:ext cx="639720" cy="63972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189" name="Image 3" descr="FaNetworkWired"/>
          <p:cNvPicPr/>
          <p:nvPr/>
        </p:nvPicPr>
        <p:blipFill>
          <a:blip r:embed="rId4"/>
          <a:stretch/>
        </p:blipFill>
        <p:spPr>
          <a:xfrm>
            <a:off x="891720" y="5372280"/>
            <a:ext cx="319680" cy="319680"/>
          </a:xfrm>
          <a:prstGeom prst="rect">
            <a:avLst/>
          </a:prstGeom>
          <a:ln w="0">
            <a:noFill/>
          </a:ln>
        </p:spPr>
      </p:pic>
      <p:sp>
        <p:nvSpPr>
          <p:cNvPr id="190" name="Text 20"/>
          <p:cNvSpPr/>
          <p:nvPr/>
        </p:nvSpPr>
        <p:spPr>
          <a:xfrm>
            <a:off x="1554480" y="519372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DHCP · .10 à .254</a:t>
            </a:r>
            <a:endParaRPr b="0" lang="fr-FR" sz="1700" spc="-1" strike="noStrike">
              <a:solidFill>
                <a:srgbClr val="000000"/>
              </a:solidFill>
              <a:latin typeface="Arial"/>
            </a:endParaRPr>
          </a:p>
        </p:txBody>
      </p:sp>
      <p:sp>
        <p:nvSpPr>
          <p:cNvPr id="191" name="Text 21"/>
          <p:cNvSpPr/>
          <p:nvPr/>
        </p:nvSpPr>
        <p:spPr>
          <a:xfrm>
            <a:off x="1554480" y="551376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Clients occasionnels : aucun service ne leur est destiné</a:t>
            </a:r>
            <a:endParaRPr b="0" lang="fr-FR" sz="1300" spc="-1" strike="noStrike">
              <a:solidFill>
                <a:srgbClr val="000000"/>
              </a:solidFill>
              <a:latin typeface="Arial"/>
            </a:endParaRPr>
          </a:p>
        </p:txBody>
      </p:sp>
      <p:sp>
        <p:nvSpPr>
          <p:cNvPr id="192" name="Vue attaquant"/>
          <p:cNvSpPr/>
          <p:nvPr/>
        </p:nvSpPr>
        <p:spPr>
          <a:xfrm>
            <a:off x="6675120" y="1783080"/>
            <a:ext cx="4937400" cy="4205880"/>
          </a:xfrm>
          <a:prstGeom prst="roundRect">
            <a:avLst>
              <a:gd name="adj" fmla="val 3261"/>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93" name="Text 23"/>
          <p:cNvSpPr/>
          <p:nvPr/>
        </p:nvSpPr>
        <p:spPr>
          <a:xfrm>
            <a:off x="6949440" y="1965960"/>
            <a:ext cx="43887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pc="97" strike="noStrike">
                <a:solidFill>
                  <a:srgbClr val="00c9b7"/>
                </a:solidFill>
                <a:latin typeface="Calibri"/>
              </a:rPr>
              <a:t>VU DEPUIS UN  nmap -p-</a:t>
            </a:r>
            <a:endParaRPr b="0" lang="fr-FR" sz="1200" spc="-1" strike="noStrike">
              <a:solidFill>
                <a:srgbClr val="000000"/>
              </a:solidFill>
              <a:latin typeface="Arial"/>
            </a:endParaRPr>
          </a:p>
        </p:txBody>
      </p:sp>
      <p:sp>
        <p:nvSpPr>
          <p:cNvPr id="194" name="Text 24"/>
          <p:cNvSpPr/>
          <p:nvPr/>
        </p:nvSpPr>
        <p:spPr>
          <a:xfrm>
            <a:off x="6949440" y="2286000"/>
            <a:ext cx="438876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6600" spc="-1" strike="noStrike">
                <a:solidFill>
                  <a:srgbClr val="00c9b7"/>
                </a:solidFill>
                <a:latin typeface="Arial"/>
                <a:ea typeface="Arial"/>
              </a:rPr>
              <a:t>18883</a:t>
            </a:r>
            <a:endParaRPr b="0" lang="fr-FR" sz="6600" spc="-1" strike="noStrike">
              <a:solidFill>
                <a:srgbClr val="000000"/>
              </a:solidFill>
              <a:latin typeface="Arial"/>
            </a:endParaRPr>
          </a:p>
        </p:txBody>
      </p:sp>
      <p:sp>
        <p:nvSpPr>
          <p:cNvPr id="195" name="Text 25"/>
          <p:cNvSpPr/>
          <p:nvPr/>
        </p:nvSpPr>
        <p:spPr>
          <a:xfrm>
            <a:off x="6949440" y="3291840"/>
            <a:ext cx="43887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chemeClr val="lt1"/>
                </a:solidFill>
                <a:latin typeface="Calibri"/>
              </a:rPr>
              <a:t>MQTTS · lié à 192.168.10.1 uniquement</a:t>
            </a:r>
            <a:endParaRPr b="0" lang="fr-FR" sz="1400" spc="-1" strike="noStrike">
              <a:solidFill>
                <a:srgbClr val="000000"/>
              </a:solidFill>
              <a:latin typeface="Arial"/>
            </a:endParaRPr>
          </a:p>
        </p:txBody>
      </p:sp>
      <p:sp>
        <p:nvSpPr>
          <p:cNvPr id="196" name="Étiquette"/>
          <p:cNvSpPr/>
          <p:nvPr/>
        </p:nvSpPr>
        <p:spPr>
          <a:xfrm>
            <a:off x="6949440" y="3749040"/>
            <a:ext cx="822600" cy="27396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97" name="Text 27"/>
          <p:cNvSpPr/>
          <p:nvPr/>
        </p:nvSpPr>
        <p:spPr>
          <a:xfrm>
            <a:off x="6949440" y="374904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OUVERT</a:t>
            </a:r>
            <a:endParaRPr b="0" lang="fr-FR" sz="1100" spc="-1" strike="noStrike">
              <a:solidFill>
                <a:srgbClr val="000000"/>
              </a:solidFill>
              <a:latin typeface="Arial"/>
            </a:endParaRPr>
          </a:p>
        </p:txBody>
      </p:sp>
      <p:sp>
        <p:nvSpPr>
          <p:cNvPr id="198" name="Text 28"/>
          <p:cNvSpPr/>
          <p:nvPr/>
        </p:nvSpPr>
        <p:spPr>
          <a:xfrm>
            <a:off x="7909560" y="374904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TLS + mot de passe + ACL</a:t>
            </a:r>
            <a:endParaRPr b="0" lang="fr-FR" sz="1400" spc="-1" strike="noStrike">
              <a:solidFill>
                <a:srgbClr val="000000"/>
              </a:solidFill>
              <a:latin typeface="Arial"/>
            </a:endParaRPr>
          </a:p>
        </p:txBody>
      </p:sp>
      <p:sp>
        <p:nvSpPr>
          <p:cNvPr id="199" name="Étiquette"/>
          <p:cNvSpPr/>
          <p:nvPr/>
        </p:nvSpPr>
        <p:spPr>
          <a:xfrm>
            <a:off x="6949440" y="4169520"/>
            <a:ext cx="822600" cy="27396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00" name="Text 30"/>
          <p:cNvSpPr/>
          <p:nvPr/>
        </p:nvSpPr>
        <p:spPr>
          <a:xfrm>
            <a:off x="6949440" y="416952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FERMÉ</a:t>
            </a:r>
            <a:endParaRPr b="0" lang="fr-FR" sz="1100" spc="-1" strike="noStrike">
              <a:solidFill>
                <a:srgbClr val="000000"/>
              </a:solidFill>
              <a:latin typeface="Arial"/>
            </a:endParaRPr>
          </a:p>
        </p:txBody>
      </p:sp>
      <p:sp>
        <p:nvSpPr>
          <p:cNvPr id="201" name="Text 31"/>
          <p:cNvSpPr/>
          <p:nvPr/>
        </p:nvSpPr>
        <p:spPr>
          <a:xfrm>
            <a:off x="7909560" y="416952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Dashboard : 127.0.0.1 seulement</a:t>
            </a:r>
            <a:endParaRPr b="0" lang="fr-FR" sz="1400" spc="-1" strike="noStrike">
              <a:solidFill>
                <a:srgbClr val="000000"/>
              </a:solidFill>
              <a:latin typeface="Arial"/>
            </a:endParaRPr>
          </a:p>
        </p:txBody>
      </p:sp>
      <p:sp>
        <p:nvSpPr>
          <p:cNvPr id="202" name="Étiquette"/>
          <p:cNvSpPr/>
          <p:nvPr/>
        </p:nvSpPr>
        <p:spPr>
          <a:xfrm>
            <a:off x="6949440" y="4590360"/>
            <a:ext cx="822600" cy="27396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03" name="Text 33"/>
          <p:cNvSpPr/>
          <p:nvPr/>
        </p:nvSpPr>
        <p:spPr>
          <a:xfrm>
            <a:off x="6949440" y="459036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FERMÉ</a:t>
            </a:r>
            <a:endParaRPr b="0" lang="fr-FR" sz="1100" spc="-1" strike="noStrike">
              <a:solidFill>
                <a:srgbClr val="000000"/>
              </a:solidFill>
              <a:latin typeface="Arial"/>
            </a:endParaRPr>
          </a:p>
        </p:txBody>
      </p:sp>
      <p:sp>
        <p:nvSpPr>
          <p:cNvPr id="204" name="Text 34"/>
          <p:cNvSpPr/>
          <p:nvPr/>
        </p:nvSpPr>
        <p:spPr>
          <a:xfrm>
            <a:off x="7909560" y="459036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CouchDB et API : réseau Docker interne</a:t>
            </a:r>
            <a:endParaRPr b="0" lang="fr-FR" sz="1400" spc="-1" strike="noStrike">
              <a:solidFill>
                <a:srgbClr val="000000"/>
              </a:solidFill>
              <a:latin typeface="Arial"/>
            </a:endParaRPr>
          </a:p>
        </p:txBody>
      </p:sp>
      <p:sp>
        <p:nvSpPr>
          <p:cNvPr id="205" name="Étiquette"/>
          <p:cNvSpPr/>
          <p:nvPr/>
        </p:nvSpPr>
        <p:spPr>
          <a:xfrm>
            <a:off x="6949440" y="5010840"/>
            <a:ext cx="822600" cy="27396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06" name="Text 36"/>
          <p:cNvSpPr/>
          <p:nvPr/>
        </p:nvSpPr>
        <p:spPr>
          <a:xfrm>
            <a:off x="6949440" y="501084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FERMÉ</a:t>
            </a:r>
            <a:endParaRPr b="0" lang="fr-FR" sz="1100" spc="-1" strike="noStrike">
              <a:solidFill>
                <a:srgbClr val="000000"/>
              </a:solidFill>
              <a:latin typeface="Arial"/>
            </a:endParaRPr>
          </a:p>
        </p:txBody>
      </p:sp>
      <p:sp>
        <p:nvSpPr>
          <p:cNvPr id="207" name="Text 37"/>
          <p:cNvSpPr/>
          <p:nvPr/>
        </p:nvSpPr>
        <p:spPr>
          <a:xfrm>
            <a:off x="7909560" y="501084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SSH : aucun serveur lancé</a:t>
            </a:r>
            <a:endParaRPr b="0" lang="fr-FR" sz="1400" spc="-1" strike="noStrike">
              <a:solidFill>
                <a:srgbClr val="000000"/>
              </a:solidFill>
              <a:latin typeface="Arial"/>
            </a:endParaRPr>
          </a:p>
        </p:txBody>
      </p:sp>
      <p:sp>
        <p:nvSpPr>
          <p:cNvPr id="208" name="Text 38"/>
          <p:cNvSpPr/>
          <p:nvPr/>
        </p:nvSpPr>
        <p:spPr>
          <a:xfrm>
            <a:off x="6949440" y="5440680"/>
            <a:ext cx="44802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200" spc="-1" strike="noStrike">
                <a:solidFill>
                  <a:srgbClr val="b9b3e6"/>
                </a:solidFill>
                <a:latin typeface="Calibri"/>
              </a:rPr>
              <a:t>Ports non standard = moins de bruit, pas une protection. La sécurité, c'est TLS + auth + ACL.</a:t>
            </a:r>
            <a:endParaRPr b="0" lang="fr-FR" sz="1200" spc="-1" strike="noStrike">
              <a:solidFill>
                <a:srgbClr val="000000"/>
              </a:solidFill>
              <a:latin typeface="Arial"/>
            </a:endParaRPr>
          </a:p>
        </p:txBody>
      </p:sp>
      <p:sp>
        <p:nvSpPr>
          <p:cNvPr id="209" name="PlaceHolder 2"/>
          <p:cNvSpPr>
            <a:spLocks noGrp="1"/>
          </p:cNvSpPr>
          <p:nvPr>
            <p:ph type="sldNum" idx="9"/>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B05E8EB2-AB67-41C6-8FDF-BFD1D35F049E}"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11"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12"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13" name="Surtitre"/>
          <p:cNvSpPr/>
          <p:nvPr/>
        </p:nvSpPr>
        <p:spPr>
          <a:xfrm>
            <a:off x="548640" y="384120"/>
            <a:ext cx="782280" cy="29232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14" name="Text 4"/>
          <p:cNvSpPr/>
          <p:nvPr/>
        </p:nvSpPr>
        <p:spPr>
          <a:xfrm>
            <a:off x="548640" y="384120"/>
            <a:ext cx="78228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LE NŒUD</a:t>
            </a:r>
            <a:endParaRPr b="0" lang="fr-FR" sz="1100" spc="-1" strike="noStrike">
              <a:solidFill>
                <a:srgbClr val="000000"/>
              </a:solidFill>
              <a:latin typeface="Arial"/>
            </a:endParaRPr>
          </a:p>
        </p:txBody>
      </p:sp>
      <p:sp>
        <p:nvSpPr>
          <p:cNvPr id="21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Un ESP32, trois capteurs, deux LED</a:t>
            </a:r>
            <a:endParaRPr b="0" lang="fr-FR" sz="3400" spc="-1" strike="noStrike">
              <a:solidFill>
                <a:schemeClr val="dk1"/>
              </a:solidFill>
              <a:latin typeface="Calibri"/>
            </a:endParaRPr>
          </a:p>
        </p:txBody>
      </p:sp>
      <p:sp>
        <p:nvSpPr>
          <p:cNvPr id="216" name="Capteur DHT22"/>
          <p:cNvSpPr/>
          <p:nvPr/>
        </p:nvSpPr>
        <p:spPr>
          <a:xfrm>
            <a:off x="548640" y="1783080"/>
            <a:ext cx="3565800" cy="2148480"/>
          </a:xfrm>
          <a:prstGeom prst="roundRect">
            <a:avLst>
              <a:gd name="adj" fmla="val 6383"/>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17" name="Pastille FaThermometerHalf"/>
          <p:cNvSpPr/>
          <p:nvPr/>
        </p:nvSpPr>
        <p:spPr>
          <a:xfrm>
            <a:off x="777240" y="1965960"/>
            <a:ext cx="731160" cy="73116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18" name="Image 0" descr="FaThermometerHalf"/>
          <p:cNvPicPr/>
          <p:nvPr/>
        </p:nvPicPr>
        <p:blipFill>
          <a:blip r:embed="rId1"/>
          <a:stretch/>
        </p:blipFill>
        <p:spPr>
          <a:xfrm>
            <a:off x="960120" y="2148840"/>
            <a:ext cx="365400" cy="365400"/>
          </a:xfrm>
          <a:prstGeom prst="rect">
            <a:avLst/>
          </a:prstGeom>
          <a:ln w="0">
            <a:noFill/>
          </a:ln>
        </p:spPr>
      </p:pic>
      <p:sp>
        <p:nvSpPr>
          <p:cNvPr id="219" name="Text 8"/>
          <p:cNvSpPr/>
          <p:nvPr/>
        </p:nvSpPr>
        <p:spPr>
          <a:xfrm>
            <a:off x="1645920" y="1984320"/>
            <a:ext cx="2285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400" spc="-1" strike="noStrike">
                <a:solidFill>
                  <a:srgbClr val="120b2e"/>
                </a:solidFill>
                <a:latin typeface="Arial"/>
                <a:ea typeface="Arial"/>
              </a:rPr>
              <a:t>DHT22</a:t>
            </a:r>
            <a:endParaRPr b="0" lang="fr-FR" sz="2400" spc="-1" strike="noStrike">
              <a:solidFill>
                <a:srgbClr val="000000"/>
              </a:solidFill>
              <a:latin typeface="Arial"/>
            </a:endParaRPr>
          </a:p>
        </p:txBody>
      </p:sp>
      <p:sp>
        <p:nvSpPr>
          <p:cNvPr id="220" name="Text 9"/>
          <p:cNvSpPr/>
          <p:nvPr/>
        </p:nvSpPr>
        <p:spPr>
          <a:xfrm>
            <a:off x="1645920" y="2395800"/>
            <a:ext cx="2285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120b2e"/>
                </a:solidFill>
                <a:latin typeface="Calibri"/>
              </a:rPr>
              <a:t>Température et humidité</a:t>
            </a:r>
            <a:endParaRPr b="0" lang="fr-FR" sz="1500" spc="-1" strike="noStrike">
              <a:solidFill>
                <a:srgbClr val="000000"/>
              </a:solidFill>
              <a:latin typeface="Arial"/>
            </a:endParaRPr>
          </a:p>
        </p:txBody>
      </p:sp>
      <p:sp>
        <p:nvSpPr>
          <p:cNvPr id="221" name="Text 10"/>
          <p:cNvSpPr/>
          <p:nvPr/>
        </p:nvSpPr>
        <p:spPr>
          <a:xfrm>
            <a:off x="777240" y="3017520"/>
            <a:ext cx="315432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GPIO 27 · alimenté par GPIO 33, donc redémarrable par le firmware</a:t>
            </a:r>
            <a:endParaRPr b="0" lang="fr-FR" sz="1400" spc="-1" strike="noStrike">
              <a:solidFill>
                <a:srgbClr val="000000"/>
              </a:solidFill>
              <a:latin typeface="Arial"/>
            </a:endParaRPr>
          </a:p>
        </p:txBody>
      </p:sp>
      <p:sp>
        <p:nvSpPr>
          <p:cNvPr id="222" name="Capteur MQ-2"/>
          <p:cNvSpPr/>
          <p:nvPr/>
        </p:nvSpPr>
        <p:spPr>
          <a:xfrm>
            <a:off x="4297680" y="1783080"/>
            <a:ext cx="3565800" cy="2148480"/>
          </a:xfrm>
          <a:prstGeom prst="roundRect">
            <a:avLst>
              <a:gd name="adj" fmla="val 6383"/>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23" name="Pastille FaFire"/>
          <p:cNvSpPr/>
          <p:nvPr/>
        </p:nvSpPr>
        <p:spPr>
          <a:xfrm>
            <a:off x="4526280" y="1965960"/>
            <a:ext cx="731160" cy="73116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24" name="Image 1" descr="FaFire"/>
          <p:cNvPicPr/>
          <p:nvPr/>
        </p:nvPicPr>
        <p:blipFill>
          <a:blip r:embed="rId2"/>
          <a:stretch/>
        </p:blipFill>
        <p:spPr>
          <a:xfrm>
            <a:off x="4709160" y="2148840"/>
            <a:ext cx="365400" cy="365400"/>
          </a:xfrm>
          <a:prstGeom prst="rect">
            <a:avLst/>
          </a:prstGeom>
          <a:ln w="0">
            <a:noFill/>
          </a:ln>
        </p:spPr>
      </p:pic>
      <p:sp>
        <p:nvSpPr>
          <p:cNvPr id="225" name="Text 13"/>
          <p:cNvSpPr/>
          <p:nvPr/>
        </p:nvSpPr>
        <p:spPr>
          <a:xfrm>
            <a:off x="5394960" y="1984320"/>
            <a:ext cx="2285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400" spc="-1" strike="noStrike">
                <a:solidFill>
                  <a:srgbClr val="120b2e"/>
                </a:solidFill>
                <a:latin typeface="Arial"/>
                <a:ea typeface="Arial"/>
              </a:rPr>
              <a:t>MQ-2</a:t>
            </a:r>
            <a:endParaRPr b="0" lang="fr-FR" sz="2400" spc="-1" strike="noStrike">
              <a:solidFill>
                <a:srgbClr val="000000"/>
              </a:solidFill>
              <a:latin typeface="Arial"/>
            </a:endParaRPr>
          </a:p>
        </p:txBody>
      </p:sp>
      <p:sp>
        <p:nvSpPr>
          <p:cNvPr id="226" name="Text 14"/>
          <p:cNvSpPr/>
          <p:nvPr/>
        </p:nvSpPr>
        <p:spPr>
          <a:xfrm>
            <a:off x="5394960" y="2395800"/>
            <a:ext cx="2285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120b2e"/>
                </a:solidFill>
                <a:latin typeface="Calibri"/>
              </a:rPr>
              <a:t>Gaz combustibles, fumées</a:t>
            </a:r>
            <a:endParaRPr b="0" lang="fr-FR" sz="1500" spc="-1" strike="noStrike">
              <a:solidFill>
                <a:srgbClr val="000000"/>
              </a:solidFill>
              <a:latin typeface="Arial"/>
            </a:endParaRPr>
          </a:p>
        </p:txBody>
      </p:sp>
      <p:sp>
        <p:nvSpPr>
          <p:cNvPr id="227" name="Text 15"/>
          <p:cNvSpPr/>
          <p:nvPr/>
        </p:nvSpPr>
        <p:spPr>
          <a:xfrm>
            <a:off x="4526280" y="3017520"/>
            <a:ext cx="315432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GPIO 34 (ADC1) · 5 V · préchauffage de 3 min</a:t>
            </a:r>
            <a:endParaRPr b="0" lang="fr-FR" sz="1400" spc="-1" strike="noStrike">
              <a:solidFill>
                <a:srgbClr val="000000"/>
              </a:solidFill>
              <a:latin typeface="Arial"/>
            </a:endParaRPr>
          </a:p>
        </p:txBody>
      </p:sp>
      <p:sp>
        <p:nvSpPr>
          <p:cNvPr id="228" name="Capteur HC-SR501"/>
          <p:cNvSpPr/>
          <p:nvPr/>
        </p:nvSpPr>
        <p:spPr>
          <a:xfrm>
            <a:off x="8046720" y="1783080"/>
            <a:ext cx="3565800" cy="2148480"/>
          </a:xfrm>
          <a:prstGeom prst="roundRect">
            <a:avLst>
              <a:gd name="adj" fmla="val 6383"/>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29" name="Pastille FaWalking"/>
          <p:cNvSpPr/>
          <p:nvPr/>
        </p:nvSpPr>
        <p:spPr>
          <a:xfrm>
            <a:off x="8275320" y="1965960"/>
            <a:ext cx="731160" cy="73116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30" name="Image 2" descr="FaWalking"/>
          <p:cNvPicPr/>
          <p:nvPr/>
        </p:nvPicPr>
        <p:blipFill>
          <a:blip r:embed="rId3"/>
          <a:stretch/>
        </p:blipFill>
        <p:spPr>
          <a:xfrm>
            <a:off x="8458200" y="2148840"/>
            <a:ext cx="365400" cy="365400"/>
          </a:xfrm>
          <a:prstGeom prst="rect">
            <a:avLst/>
          </a:prstGeom>
          <a:ln w="0">
            <a:noFill/>
          </a:ln>
        </p:spPr>
      </p:pic>
      <p:sp>
        <p:nvSpPr>
          <p:cNvPr id="231" name="Text 18"/>
          <p:cNvSpPr/>
          <p:nvPr/>
        </p:nvSpPr>
        <p:spPr>
          <a:xfrm>
            <a:off x="9144000" y="1984320"/>
            <a:ext cx="2285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400" spc="-1" strike="noStrike">
                <a:solidFill>
                  <a:srgbClr val="120b2e"/>
                </a:solidFill>
                <a:latin typeface="Arial"/>
                <a:ea typeface="Arial"/>
              </a:rPr>
              <a:t>HC-SR501</a:t>
            </a:r>
            <a:endParaRPr b="0" lang="fr-FR" sz="2400" spc="-1" strike="noStrike">
              <a:solidFill>
                <a:srgbClr val="000000"/>
              </a:solidFill>
              <a:latin typeface="Arial"/>
            </a:endParaRPr>
          </a:p>
        </p:txBody>
      </p:sp>
      <p:sp>
        <p:nvSpPr>
          <p:cNvPr id="232" name="Text 19"/>
          <p:cNvSpPr/>
          <p:nvPr/>
        </p:nvSpPr>
        <p:spPr>
          <a:xfrm>
            <a:off x="9144000" y="2395800"/>
            <a:ext cx="2285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120b2e"/>
                </a:solidFill>
                <a:latin typeface="Calibri"/>
              </a:rPr>
              <a:t>Présence infrarouge</a:t>
            </a:r>
            <a:endParaRPr b="0" lang="fr-FR" sz="1500" spc="-1" strike="noStrike">
              <a:solidFill>
                <a:srgbClr val="000000"/>
              </a:solidFill>
              <a:latin typeface="Arial"/>
            </a:endParaRPr>
          </a:p>
        </p:txBody>
      </p:sp>
      <p:sp>
        <p:nvSpPr>
          <p:cNvPr id="233" name="Text 20"/>
          <p:cNvSpPr/>
          <p:nvPr/>
        </p:nvSpPr>
        <p:spPr>
          <a:xfrm>
            <a:off x="8275320" y="3017520"/>
            <a:ext cx="315432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GPIO 14 · re-déclenchable · calibration de 30 s</a:t>
            </a:r>
            <a:endParaRPr b="0" lang="fr-FR" sz="1400" spc="-1" strike="noStrike">
              <a:solidFill>
                <a:srgbClr val="000000"/>
              </a:solidFill>
              <a:latin typeface="Arial"/>
            </a:endParaRPr>
          </a:p>
        </p:txBody>
      </p:sp>
      <p:sp>
        <p:nvSpPr>
          <p:cNvPr id="234" name="La LED parle"/>
          <p:cNvSpPr/>
          <p:nvPr/>
        </p:nvSpPr>
        <p:spPr>
          <a:xfrm>
            <a:off x="548640" y="4160520"/>
            <a:ext cx="5668920" cy="2102760"/>
          </a:xfrm>
          <a:prstGeom prst="roundRect">
            <a:avLst>
              <a:gd name="adj" fmla="val 6522"/>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35" name="Text 22"/>
          <p:cNvSpPr/>
          <p:nvPr/>
        </p:nvSpPr>
        <p:spPr>
          <a:xfrm>
            <a:off x="822960" y="4297680"/>
            <a:ext cx="51202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La LED environnement parle</a:t>
            </a:r>
            <a:endParaRPr b="0" lang="fr-FR" sz="1800" spc="-1" strike="noStrike">
              <a:solidFill>
                <a:srgbClr val="000000"/>
              </a:solidFill>
              <a:latin typeface="Arial"/>
            </a:endParaRPr>
          </a:p>
        </p:txBody>
      </p:sp>
      <p:sp>
        <p:nvSpPr>
          <p:cNvPr id="236" name="LED fixe"/>
          <p:cNvSpPr/>
          <p:nvPr/>
        </p:nvSpPr>
        <p:spPr>
          <a:xfrm>
            <a:off x="914400" y="4754880"/>
            <a:ext cx="548280" cy="54828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37" name="Text 24"/>
          <p:cNvSpPr/>
          <p:nvPr/>
        </p:nvSpPr>
        <p:spPr>
          <a:xfrm>
            <a:off x="1737360" y="4754880"/>
            <a:ext cx="42058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ffb400"/>
                </a:solidFill>
                <a:latin typeface="Calibri"/>
              </a:rPr>
              <a:t>Fixe : </a:t>
            </a:r>
            <a:r>
              <a:rPr b="0" lang="en-US" sz="1500" spc="-1" strike="noStrike">
                <a:solidFill>
                  <a:schemeClr val="lt1"/>
                </a:solidFill>
                <a:latin typeface="Calibri"/>
              </a:rPr>
              <a:t>au-dessus de 40 °C, ou de 800 mV au détecteur gaz/fumée MQ-2 (normal ≈ 150 mV)</a:t>
            </a:r>
            <a:endParaRPr b="0" lang="fr-FR" sz="1500" spc="-1" strike="noStrike">
              <a:solidFill>
                <a:srgbClr val="000000"/>
              </a:solidFill>
              <a:latin typeface="Arial"/>
            </a:endParaRPr>
          </a:p>
        </p:txBody>
      </p:sp>
      <p:sp>
        <p:nvSpPr>
          <p:cNvPr id="238" name="Halo LED"/>
          <p:cNvSpPr/>
          <p:nvPr/>
        </p:nvSpPr>
        <p:spPr>
          <a:xfrm>
            <a:off x="822960" y="5349240"/>
            <a:ext cx="731160" cy="731160"/>
          </a:xfrm>
          <a:prstGeom prst="ellipse">
            <a:avLst/>
          </a:prstGeom>
          <a:noFill/>
          <a:ln w="25400">
            <a:solidFill>
              <a:srgbClr val="ff4f81">
                <a:alpha val="60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39" name="LED clignotante"/>
          <p:cNvSpPr/>
          <p:nvPr/>
        </p:nvSpPr>
        <p:spPr>
          <a:xfrm>
            <a:off x="914400" y="5440680"/>
            <a:ext cx="548280" cy="54828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40" name="Text 27"/>
          <p:cNvSpPr/>
          <p:nvPr/>
        </p:nvSpPr>
        <p:spPr>
          <a:xfrm>
            <a:off x="1737360" y="5440680"/>
            <a:ext cx="42058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ff4f81"/>
                </a:solidFill>
                <a:latin typeface="Calibri"/>
              </a:rPr>
              <a:t>Clignotante : </a:t>
            </a:r>
            <a:r>
              <a:rPr b="0" lang="en-US" sz="1500" spc="-1" strike="noStrike">
                <a:solidFill>
                  <a:schemeClr val="lt1"/>
                </a:solidFill>
                <a:latin typeface="Calibri"/>
              </a:rPr>
              <a:t>alerte confirmée par l'IA</a:t>
            </a:r>
            <a:endParaRPr b="0" lang="fr-FR" sz="1500" spc="-1" strike="noStrike">
              <a:solidFill>
                <a:srgbClr val="000000"/>
              </a:solidFill>
              <a:latin typeface="Arial"/>
            </a:endParaRPr>
          </a:p>
        </p:txBody>
      </p:sp>
      <p:sp>
        <p:nvSpPr>
          <p:cNvPr id="241" name="Adaptations"/>
          <p:cNvSpPr/>
          <p:nvPr/>
        </p:nvSpPr>
        <p:spPr>
          <a:xfrm>
            <a:off x="6492240" y="4160520"/>
            <a:ext cx="5120280" cy="2102760"/>
          </a:xfrm>
          <a:prstGeom prst="roundRect">
            <a:avLst>
              <a:gd name="adj" fmla="val 6522"/>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42" name="Text 29"/>
          <p:cNvSpPr/>
          <p:nvPr/>
        </p:nvSpPr>
        <p:spPr>
          <a:xfrm>
            <a:off x="6766560" y="429768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dk1"/>
                </a:solidFill>
                <a:latin typeface="Calibri"/>
              </a:rPr>
              <a:t>Adaptations assumées</a:t>
            </a:r>
            <a:endParaRPr b="0" lang="fr-FR" sz="1800" spc="-1" strike="noStrike">
              <a:solidFill>
                <a:srgbClr val="000000"/>
              </a:solidFill>
              <a:latin typeface="Arial"/>
            </a:endParaRPr>
          </a:p>
        </p:txBody>
      </p:sp>
      <p:sp>
        <p:nvSpPr>
          <p:cNvPr id="243" name="Text 30"/>
          <p:cNvSpPr/>
          <p:nvPr/>
        </p:nvSpPr>
        <p:spPr>
          <a:xfrm>
            <a:off x="6766560" y="480060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6c3bff"/>
                </a:solidFill>
                <a:latin typeface="Calibri"/>
              </a:rPr>
              <a:t>ESP8266 → ESP32  </a:t>
            </a:r>
            <a:r>
              <a:rPr b="0" lang="en-US" sz="1400" spc="-1" strike="noStrike">
                <a:solidFill>
                  <a:schemeClr val="dk1"/>
                </a:solidFill>
                <a:latin typeface="Calibri"/>
              </a:rPr>
              <a:t>ADC 12 bits, TLS mbedTLS plus confortable</a:t>
            </a:r>
            <a:endParaRPr b="0" lang="fr-FR" sz="1400" spc="-1" strike="noStrike">
              <a:solidFill>
                <a:srgbClr val="000000"/>
              </a:solidFill>
              <a:latin typeface="Arial"/>
            </a:endParaRPr>
          </a:p>
        </p:txBody>
      </p:sp>
      <p:sp>
        <p:nvSpPr>
          <p:cNvPr id="244" name="Text 31"/>
          <p:cNvSpPr/>
          <p:nvPr/>
        </p:nvSpPr>
        <p:spPr>
          <a:xfrm>
            <a:off x="6766560" y="525780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6c3bff"/>
                </a:solidFill>
                <a:latin typeface="Calibri"/>
              </a:rPr>
              <a:t>Buzzer → 2 LED  </a:t>
            </a:r>
            <a:r>
              <a:rPr b="0" lang="en-US" sz="1400" spc="-1" strike="noStrike">
                <a:solidFill>
                  <a:schemeClr val="dk1"/>
                </a:solidFill>
                <a:latin typeface="Calibri"/>
              </a:rPr>
              <a:t>plus de buzzer disponible</a:t>
            </a:r>
            <a:endParaRPr b="0" lang="fr-FR" sz="1400" spc="-1" strike="noStrike">
              <a:solidFill>
                <a:srgbClr val="000000"/>
              </a:solidFill>
              <a:latin typeface="Arial"/>
            </a:endParaRPr>
          </a:p>
        </p:txBody>
      </p:sp>
      <p:sp>
        <p:nvSpPr>
          <p:cNvPr id="245" name="Text 32"/>
          <p:cNvSpPr/>
          <p:nvPr/>
        </p:nvSpPr>
        <p:spPr>
          <a:xfrm>
            <a:off x="6766560" y="571500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6c3bff"/>
                </a:solidFill>
                <a:latin typeface="Calibri"/>
              </a:rPr>
              <a:t>Écran OLED → dashboard  </a:t>
            </a:r>
            <a:r>
              <a:rPr b="0" lang="en-US" sz="1400" spc="-1" strike="noStrike">
                <a:solidFill>
                  <a:schemeClr val="dk1"/>
                </a:solidFill>
                <a:latin typeface="Calibri"/>
              </a:rPr>
              <a:t>IP, connexion et mesures en ligne</a:t>
            </a:r>
            <a:endParaRPr b="0" lang="fr-FR" sz="1400" spc="-1" strike="noStrike">
              <a:solidFill>
                <a:srgbClr val="000000"/>
              </a:solidFill>
              <a:latin typeface="Arial"/>
            </a:endParaRPr>
          </a:p>
        </p:txBody>
      </p:sp>
      <p:sp>
        <p:nvSpPr>
          <p:cNvPr id="246" name="PlaceHolder 2"/>
          <p:cNvSpPr>
            <a:spLocks noGrp="1"/>
          </p:cNvSpPr>
          <p:nvPr>
            <p:ph type="sldNum" idx="10"/>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879A7192-F17D-4FA9-9B56-E91EDDAC24A9}"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Surtitre"/>
          <p:cNvSpPr/>
          <p:nvPr/>
        </p:nvSpPr>
        <p:spPr>
          <a:xfrm>
            <a:off x="548640" y="384120"/>
            <a:ext cx="96156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48" name="Text 1"/>
          <p:cNvSpPr/>
          <p:nvPr/>
        </p:nvSpPr>
        <p:spPr>
          <a:xfrm>
            <a:off x="548640" y="384120"/>
            <a:ext cx="9615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PROTOCOLE</a:t>
            </a:r>
            <a:endParaRPr b="0" lang="fr-FR" sz="1100" spc="-1" strike="noStrike">
              <a:solidFill>
                <a:srgbClr val="ffffff"/>
              </a:solidFill>
              <a:latin typeface="Arial"/>
            </a:endParaRPr>
          </a:p>
        </p:txBody>
      </p:sp>
      <p:sp>
        <p:nvSpPr>
          <p:cNvPr id="249"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Le nœud parle MQTT, en JSON v1</a:t>
            </a:r>
            <a:endParaRPr b="0" lang="fr-FR" sz="3400" spc="-1" strike="noStrike">
              <a:solidFill>
                <a:schemeClr val="dk1"/>
              </a:solidFill>
              <a:latin typeface="Calibri"/>
            </a:endParaRPr>
          </a:p>
        </p:txBody>
      </p:sp>
      <p:sp>
        <p:nvSpPr>
          <p:cNvPr id="250" name="Message JSON"/>
          <p:cNvSpPr/>
          <p:nvPr/>
        </p:nvSpPr>
        <p:spPr>
          <a:xfrm>
            <a:off x="548640" y="1828800"/>
            <a:ext cx="5120280" cy="3428640"/>
          </a:xfrm>
          <a:prstGeom prst="roundRect">
            <a:avLst>
              <a:gd name="adj" fmla="val 4000"/>
            </a:avLst>
          </a:prstGeom>
          <a:solidFill>
            <a:srgbClr val="0a062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1" name="Text 4"/>
          <p:cNvSpPr/>
          <p:nvPr/>
        </p:nvSpPr>
        <p:spPr>
          <a:xfrm>
            <a:off x="822960" y="1965960"/>
            <a:ext cx="4663080" cy="320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"v"</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1</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"device_id"</a:t>
            </a:r>
            <a:r>
              <a:rPr b="0" lang="en-US" sz="1400" spc="-1" strike="noStrike">
                <a:solidFill>
                  <a:schemeClr val="lt1"/>
                </a:solidFill>
                <a:latin typeface="Courier New"/>
                <a:ea typeface="Courier New"/>
              </a:rPr>
              <a:t>: </a:t>
            </a:r>
            <a:r>
              <a:rPr b="0" lang="en-US" sz="1400" spc="-1" strike="noStrike">
                <a:solidFill>
                  <a:srgbClr val="ffb400"/>
                </a:solidFill>
                <a:latin typeface="Courier New"/>
                <a:ea typeface="Courier New"/>
              </a:rPr>
              <a:t>"VIG1L-8-NODE04"</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"seq"</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18342</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"temp_c"</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25.8</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"hum_pct"</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61.5</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"gas_mv"</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259</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"pir"</a:t>
            </a:r>
            <a:r>
              <a:rPr b="0" lang="en-US" sz="1400" spc="-1" strike="noStrike">
                <a:solidFill>
                  <a:schemeClr val="lt1"/>
                </a:solidFill>
                <a:latin typeface="Courier New"/>
                <a:ea typeface="Courier New"/>
              </a:rPr>
              <a:t>: </a:t>
            </a:r>
            <a:r>
              <a:rPr b="0" lang="en-US" sz="1400" spc="-1" strike="noStrike">
                <a:solidFill>
                  <a:srgbClr val="7adb4f"/>
                </a:solidFill>
                <a:latin typeface="Courier New"/>
                <a:ea typeface="Courier New"/>
              </a:rPr>
              <a:t>false</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"status"</a:t>
            </a:r>
            <a:r>
              <a:rPr b="0" lang="en-US" sz="1400" spc="-1" strike="noStrike">
                <a:solidFill>
                  <a:schemeClr val="lt1"/>
                </a:solidFill>
                <a:latin typeface="Courier New"/>
                <a:ea typeface="Courier New"/>
              </a:rPr>
              <a:t>: {</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"dht"</a:t>
            </a:r>
            <a:r>
              <a:rPr b="0" lang="en-US" sz="1400" spc="-1" strike="noStrike">
                <a:solidFill>
                  <a:schemeClr val="lt1"/>
                </a:solidFill>
                <a:latin typeface="Courier New"/>
                <a:ea typeface="Courier New"/>
              </a:rPr>
              <a:t>: </a:t>
            </a:r>
            <a:r>
              <a:rPr b="0" lang="en-US" sz="1400" spc="-1" strike="noStrike">
                <a:solidFill>
                  <a:srgbClr val="7adb4f"/>
                </a:solidFill>
                <a:latin typeface="Courier New"/>
                <a:ea typeface="Courier New"/>
              </a:rPr>
              <a:t>"ok"</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"gas_warm"</a:t>
            </a:r>
            <a:r>
              <a:rPr b="0" lang="en-US" sz="1400" spc="-1" strike="noStrike">
                <a:solidFill>
                  <a:schemeClr val="lt1"/>
                </a:solidFill>
                <a:latin typeface="Courier New"/>
                <a:ea typeface="Courier New"/>
              </a:rPr>
              <a:t>: </a:t>
            </a:r>
            <a:r>
              <a:rPr b="0" lang="en-US" sz="1400" spc="-1" strike="noStrike">
                <a:solidFill>
                  <a:srgbClr val="7adb4f"/>
                </a:solidFill>
                <a:latin typeface="Courier New"/>
                <a:ea typeface="Courier New"/>
              </a:rPr>
              <a:t>true</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chemeClr val="lt1"/>
                </a:solidFill>
                <a:latin typeface="Courier New"/>
                <a:ea typeface="Courier New"/>
              </a:rPr>
              <a:t>  </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p:txBody>
      </p:sp>
      <p:sp>
        <p:nvSpPr>
          <p:cNvPr id="252" name="Panne visible"/>
          <p:cNvSpPr/>
          <p:nvPr/>
        </p:nvSpPr>
        <p:spPr>
          <a:xfrm>
            <a:off x="548640" y="5440680"/>
            <a:ext cx="5120280" cy="776880"/>
          </a:xfrm>
          <a:prstGeom prst="roundRect">
            <a:avLst>
              <a:gd name="adj" fmla="val 17647"/>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3" name="Text 6"/>
          <p:cNvSpPr/>
          <p:nvPr/>
        </p:nvSpPr>
        <p:spPr>
          <a:xfrm>
            <a:off x="777240" y="5440680"/>
            <a:ext cx="466308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120b2e"/>
                </a:solidFill>
                <a:latin typeface="Calibri"/>
              </a:rPr>
              <a:t>Capteur en panne ⇒ null. </a:t>
            </a:r>
            <a:r>
              <a:rPr b="0" lang="en-US" sz="1500" spc="-1" strike="noStrike">
                <a:solidFill>
                  <a:srgbClr val="120b2e"/>
                </a:solidFill>
                <a:latin typeface="Calibri"/>
              </a:rPr>
              <a:t>Jamais de « dernière valeur » qui masque un problème.</a:t>
            </a:r>
            <a:endParaRPr b="0" lang="fr-FR" sz="1500" spc="-1" strike="noStrike">
              <a:solidFill>
                <a:srgbClr val="ffffff"/>
              </a:solidFill>
              <a:latin typeface="Arial"/>
            </a:endParaRPr>
          </a:p>
        </p:txBody>
      </p:sp>
      <p:sp>
        <p:nvSpPr>
          <p:cNvPr id="254" name="Topic telemetry"/>
          <p:cNvSpPr/>
          <p:nvPr/>
        </p:nvSpPr>
        <p:spPr>
          <a:xfrm>
            <a:off x="6035040" y="1828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5" name="Pastille topic"/>
          <p:cNvSpPr/>
          <p:nvPr/>
        </p:nvSpPr>
        <p:spPr>
          <a:xfrm>
            <a:off x="6263640" y="2121480"/>
            <a:ext cx="365400" cy="36540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6" name="Text 9"/>
          <p:cNvSpPr/>
          <p:nvPr/>
        </p:nvSpPr>
        <p:spPr>
          <a:xfrm>
            <a:off x="6858000" y="1956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vigil8/&lt;id&gt;/telemetry</a:t>
            </a:r>
            <a:endParaRPr b="0" lang="fr-FR" sz="1700" spc="-1" strike="noStrike">
              <a:solidFill>
                <a:srgbClr val="ffffff"/>
              </a:solidFill>
              <a:latin typeface="Arial"/>
            </a:endParaRPr>
          </a:p>
        </p:txBody>
      </p:sp>
      <p:sp>
        <p:nvSpPr>
          <p:cNvPr id="257" name="Text 10"/>
          <p:cNvSpPr/>
          <p:nvPr/>
        </p:nvSpPr>
        <p:spPr>
          <a:xfrm>
            <a:off x="6858000" y="2304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00c9b7"/>
                </a:solidFill>
                <a:latin typeface="Calibri"/>
              </a:rPr>
              <a:t>nœud → serveur  </a:t>
            </a:r>
            <a:r>
              <a:rPr b="0" lang="en-US" sz="1300" spc="-1" strike="noStrike">
                <a:solidFill>
                  <a:srgbClr val="b9b3e6"/>
                </a:solidFill>
                <a:latin typeface="Calibri"/>
              </a:rPr>
              <a:t>toutes les 2 s · seq : un trou = message perdu</a:t>
            </a:r>
            <a:endParaRPr b="0" lang="fr-FR" sz="1300" spc="-1" strike="noStrike">
              <a:solidFill>
                <a:srgbClr val="ffffff"/>
              </a:solidFill>
              <a:latin typeface="Arial"/>
            </a:endParaRPr>
          </a:p>
        </p:txBody>
      </p:sp>
      <p:sp>
        <p:nvSpPr>
          <p:cNvPr id="258" name="Topic event"/>
          <p:cNvSpPr/>
          <p:nvPr/>
        </p:nvSpPr>
        <p:spPr>
          <a:xfrm>
            <a:off x="6035040" y="2971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9" name="Pastille topic"/>
          <p:cNvSpPr/>
          <p:nvPr/>
        </p:nvSpPr>
        <p:spPr>
          <a:xfrm>
            <a:off x="6263640" y="3264480"/>
            <a:ext cx="365400" cy="36540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60" name="Text 13"/>
          <p:cNvSpPr/>
          <p:nvPr/>
        </p:nvSpPr>
        <p:spPr>
          <a:xfrm>
            <a:off x="6858000" y="3099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vigil8/&lt;id&gt;/event</a:t>
            </a:r>
            <a:endParaRPr b="0" lang="fr-FR" sz="1700" spc="-1" strike="noStrike">
              <a:solidFill>
                <a:srgbClr val="ffffff"/>
              </a:solidFill>
              <a:latin typeface="Arial"/>
            </a:endParaRPr>
          </a:p>
        </p:txBody>
      </p:sp>
      <p:sp>
        <p:nvSpPr>
          <p:cNvPr id="261" name="Text 14"/>
          <p:cNvSpPr/>
          <p:nvPr/>
        </p:nvSpPr>
        <p:spPr>
          <a:xfrm>
            <a:off x="6858000" y="3447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ffb400"/>
                </a:solidFill>
                <a:latin typeface="Calibri"/>
              </a:rPr>
              <a:t>nœud → serveur  </a:t>
            </a:r>
            <a:r>
              <a:rPr b="0" lang="en-US" sz="1300" spc="-1" strike="noStrike">
                <a:solidFill>
                  <a:srgbClr val="b9b3e6"/>
                </a:solidFill>
                <a:latin typeface="Calibri"/>
              </a:rPr>
              <a:t>immédiat à chaque changement d'état du PIR</a:t>
            </a:r>
            <a:endParaRPr b="0" lang="fr-FR" sz="1300" spc="-1" strike="noStrike">
              <a:solidFill>
                <a:srgbClr val="ffffff"/>
              </a:solidFill>
              <a:latin typeface="Arial"/>
            </a:endParaRPr>
          </a:p>
        </p:txBody>
      </p:sp>
      <p:sp>
        <p:nvSpPr>
          <p:cNvPr id="262" name="Topic status"/>
          <p:cNvSpPr/>
          <p:nvPr/>
        </p:nvSpPr>
        <p:spPr>
          <a:xfrm>
            <a:off x="6035040" y="4114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3" name="Pastille topic"/>
          <p:cNvSpPr/>
          <p:nvPr/>
        </p:nvSpPr>
        <p:spPr>
          <a:xfrm>
            <a:off x="6263640" y="4407480"/>
            <a:ext cx="365400" cy="36540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64" name="Text 17"/>
          <p:cNvSpPr/>
          <p:nvPr/>
        </p:nvSpPr>
        <p:spPr>
          <a:xfrm>
            <a:off x="6858000" y="4242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vigil8/&lt;id&gt;/status</a:t>
            </a:r>
            <a:endParaRPr b="0" lang="fr-FR" sz="1700" spc="-1" strike="noStrike">
              <a:solidFill>
                <a:srgbClr val="ffffff"/>
              </a:solidFill>
              <a:latin typeface="Arial"/>
            </a:endParaRPr>
          </a:p>
        </p:txBody>
      </p:sp>
      <p:sp>
        <p:nvSpPr>
          <p:cNvPr id="265" name="Text 18"/>
          <p:cNvSpPr/>
          <p:nvPr/>
        </p:nvSpPr>
        <p:spPr>
          <a:xfrm>
            <a:off x="6858000" y="4590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7adb4f"/>
                </a:solidFill>
                <a:latin typeface="Calibri"/>
              </a:rPr>
              <a:t>nœud → serveur  </a:t>
            </a:r>
            <a:r>
              <a:rPr b="0" lang="en-US" sz="1300" spc="-1" strike="noStrike">
                <a:solidFill>
                  <a:srgbClr val="b9b3e6"/>
                </a:solidFill>
                <a:latin typeface="Calibri"/>
              </a:rPr>
              <a:t>retenu · LWT {online:false} si le nœud disparaît</a:t>
            </a:r>
            <a:endParaRPr b="0" lang="fr-FR" sz="1300" spc="-1" strike="noStrike">
              <a:solidFill>
                <a:srgbClr val="ffffff"/>
              </a:solidFill>
              <a:latin typeface="Arial"/>
            </a:endParaRPr>
          </a:p>
        </p:txBody>
      </p:sp>
      <p:sp>
        <p:nvSpPr>
          <p:cNvPr id="266" name="Topic cmd"/>
          <p:cNvSpPr/>
          <p:nvPr/>
        </p:nvSpPr>
        <p:spPr>
          <a:xfrm>
            <a:off x="6035040" y="5257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7" name="Pastille topic"/>
          <p:cNvSpPr/>
          <p:nvPr/>
        </p:nvSpPr>
        <p:spPr>
          <a:xfrm>
            <a:off x="6263640" y="5550480"/>
            <a:ext cx="365400" cy="36540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8" name="Text 21"/>
          <p:cNvSpPr/>
          <p:nvPr/>
        </p:nvSpPr>
        <p:spPr>
          <a:xfrm>
            <a:off x="6858000" y="5385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vigil8/&lt;id&gt;/cmd</a:t>
            </a:r>
            <a:endParaRPr b="0" lang="fr-FR" sz="1700" spc="-1" strike="noStrike">
              <a:solidFill>
                <a:srgbClr val="ffffff"/>
              </a:solidFill>
              <a:latin typeface="Arial"/>
            </a:endParaRPr>
          </a:p>
        </p:txBody>
      </p:sp>
      <p:sp>
        <p:nvSpPr>
          <p:cNvPr id="269" name="Text 22"/>
          <p:cNvSpPr/>
          <p:nvPr/>
        </p:nvSpPr>
        <p:spPr>
          <a:xfrm>
            <a:off x="6858000" y="5733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ff4f81"/>
                </a:solidFill>
                <a:latin typeface="Calibri"/>
              </a:rPr>
              <a:t>serveur → nœud  </a:t>
            </a:r>
            <a:r>
              <a:rPr b="0" lang="en-US" sz="1300" spc="-1" strike="noStrike">
                <a:solidFill>
                  <a:srgbClr val="b9b3e6"/>
                </a:solidFill>
                <a:latin typeface="Calibri"/>
              </a:rPr>
              <a:t>alerte confirmée ou commande opérateur</a:t>
            </a:r>
            <a:endParaRPr b="0" lang="fr-FR" sz="1300" spc="-1" strike="noStrike">
              <a:solidFill>
                <a:srgbClr val="ffffff"/>
              </a:solidFill>
              <a:latin typeface="Arial"/>
            </a:endParaRPr>
          </a:p>
        </p:txBody>
      </p:sp>
      <p:sp>
        <p:nvSpPr>
          <p:cNvPr id="270" name="PlaceHolder 2"/>
          <p:cNvSpPr>
            <a:spLocks noGrp="1"/>
          </p:cNvSpPr>
          <p:nvPr>
            <p:ph type="sldNum" idx="11"/>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CBFD693B-8749-4971-8F4E-D2B53ABD1790}"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2"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3"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4" name="Surtitre"/>
          <p:cNvSpPr/>
          <p:nvPr/>
        </p:nvSpPr>
        <p:spPr>
          <a:xfrm>
            <a:off x="548640" y="384120"/>
            <a:ext cx="140976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5" name="Text 4"/>
          <p:cNvSpPr/>
          <p:nvPr/>
        </p:nvSpPr>
        <p:spPr>
          <a:xfrm>
            <a:off x="548640" y="384120"/>
            <a:ext cx="14097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INFRASTRUCTURE</a:t>
            </a:r>
            <a:endParaRPr b="0" lang="fr-FR" sz="1100" spc="-1" strike="noStrike">
              <a:solidFill>
                <a:srgbClr val="000000"/>
              </a:solidFill>
              <a:latin typeface="Arial"/>
            </a:endParaRPr>
          </a:p>
        </p:txBody>
      </p:sp>
      <p:sp>
        <p:nvSpPr>
          <p:cNvPr id="276"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7 services, une seule commande</a:t>
            </a:r>
            <a:endParaRPr b="0" lang="fr-FR" sz="3400" spc="-1" strike="noStrike">
              <a:solidFill>
                <a:schemeClr val="dk1"/>
              </a:solidFill>
              <a:latin typeface="Calibri"/>
            </a:endParaRPr>
          </a:p>
        </p:txBody>
      </p:sp>
      <p:sp>
        <p:nvSpPr>
          <p:cNvPr id="277" name="Service mqtt-broker"/>
          <p:cNvSpPr/>
          <p:nvPr/>
        </p:nvSpPr>
        <p:spPr>
          <a:xfrm>
            <a:off x="548640" y="1783080"/>
            <a:ext cx="2605680" cy="2102760"/>
          </a:xfrm>
          <a:prstGeom prst="roundRect">
            <a:avLst>
              <a:gd name="adj" fmla="val 6522"/>
            </a:avLst>
          </a:prstGeom>
          <a:solidFill>
            <a:srgbClr val="6c3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78" name="Pastille FaLock"/>
          <p:cNvSpPr/>
          <p:nvPr/>
        </p:nvSpPr>
        <p:spPr>
          <a:xfrm>
            <a:off x="77724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79" name="Image 0" descr="FaLock"/>
          <p:cNvPicPr/>
          <p:nvPr/>
        </p:nvPicPr>
        <p:blipFill>
          <a:blip r:embed="rId1"/>
          <a:stretch/>
        </p:blipFill>
        <p:spPr>
          <a:xfrm>
            <a:off x="914400" y="2103120"/>
            <a:ext cx="273960" cy="273960"/>
          </a:xfrm>
          <a:prstGeom prst="rect">
            <a:avLst/>
          </a:prstGeom>
          <a:ln w="0">
            <a:noFill/>
          </a:ln>
        </p:spPr>
      </p:pic>
      <p:sp>
        <p:nvSpPr>
          <p:cNvPr id="280" name="Text 8"/>
          <p:cNvSpPr/>
          <p:nvPr/>
        </p:nvSpPr>
        <p:spPr>
          <a:xfrm>
            <a:off x="77724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Calibri"/>
              </a:rPr>
              <a:t>mqtt-broker</a:t>
            </a:r>
            <a:endParaRPr b="0" lang="fr-FR" sz="1700" spc="-1" strike="noStrike">
              <a:solidFill>
                <a:srgbClr val="000000"/>
              </a:solidFill>
              <a:latin typeface="Arial"/>
            </a:endParaRPr>
          </a:p>
        </p:txBody>
      </p:sp>
      <p:sp>
        <p:nvSpPr>
          <p:cNvPr id="281" name="Text 9"/>
          <p:cNvSpPr/>
          <p:nvPr/>
        </p:nvSpPr>
        <p:spPr>
          <a:xfrm>
            <a:off x="77724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Calibri"/>
              </a:rPr>
              <a:t>Mosquitto 2.1</a:t>
            </a:r>
            <a:endParaRPr b="0" lang="fr-FR" sz="1400" spc="-1" strike="noStrike">
              <a:solidFill>
                <a:srgbClr val="000000"/>
              </a:solidFill>
              <a:latin typeface="Arial"/>
            </a:endParaRPr>
          </a:p>
        </p:txBody>
      </p:sp>
      <p:sp>
        <p:nvSpPr>
          <p:cNvPr id="282" name="Text 10"/>
          <p:cNvSpPr/>
          <p:nvPr/>
        </p:nvSpPr>
        <p:spPr>
          <a:xfrm>
            <a:off x="77724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ffffff"/>
                </a:solidFill>
                <a:latin typeface="Calibri"/>
              </a:rPr>
              <a:t>TLS 8883, publié en 18883</a:t>
            </a:r>
            <a:endParaRPr b="0" lang="fr-FR" sz="1400" spc="-1" strike="noStrike">
              <a:solidFill>
                <a:srgbClr val="000000"/>
              </a:solidFill>
              <a:latin typeface="Arial"/>
            </a:endParaRPr>
          </a:p>
        </p:txBody>
      </p:sp>
      <p:sp>
        <p:nvSpPr>
          <p:cNvPr id="283" name="Service history-db"/>
          <p:cNvSpPr/>
          <p:nvPr/>
        </p:nvSpPr>
        <p:spPr>
          <a:xfrm>
            <a:off x="3364920" y="1783080"/>
            <a:ext cx="2605680" cy="2102760"/>
          </a:xfrm>
          <a:prstGeom prst="roundRect">
            <a:avLst>
              <a:gd name="adj" fmla="val 6522"/>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84" name="Pastille FaDatabase"/>
          <p:cNvSpPr/>
          <p:nvPr/>
        </p:nvSpPr>
        <p:spPr>
          <a:xfrm>
            <a:off x="359352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85" name="Image 1" descr="FaDatabase"/>
          <p:cNvPicPr/>
          <p:nvPr/>
        </p:nvPicPr>
        <p:blipFill>
          <a:blip r:embed="rId2"/>
          <a:stretch/>
        </p:blipFill>
        <p:spPr>
          <a:xfrm>
            <a:off x="3730680" y="2103120"/>
            <a:ext cx="273960" cy="273960"/>
          </a:xfrm>
          <a:prstGeom prst="rect">
            <a:avLst/>
          </a:prstGeom>
          <a:ln w="0">
            <a:noFill/>
          </a:ln>
        </p:spPr>
      </p:pic>
      <p:sp>
        <p:nvSpPr>
          <p:cNvPr id="286" name="Text 13"/>
          <p:cNvSpPr/>
          <p:nvPr/>
        </p:nvSpPr>
        <p:spPr>
          <a:xfrm>
            <a:off x="359352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history-db</a:t>
            </a:r>
            <a:endParaRPr b="0" lang="fr-FR" sz="1700" spc="-1" strike="noStrike">
              <a:solidFill>
                <a:srgbClr val="000000"/>
              </a:solidFill>
              <a:latin typeface="Arial"/>
            </a:endParaRPr>
          </a:p>
        </p:txBody>
      </p:sp>
      <p:sp>
        <p:nvSpPr>
          <p:cNvPr id="287" name="Text 14"/>
          <p:cNvSpPr/>
          <p:nvPr/>
        </p:nvSpPr>
        <p:spPr>
          <a:xfrm>
            <a:off x="359352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CouchDB 3.5</a:t>
            </a:r>
            <a:endParaRPr b="0" lang="fr-FR" sz="1400" spc="-1" strike="noStrike">
              <a:solidFill>
                <a:srgbClr val="000000"/>
              </a:solidFill>
              <a:latin typeface="Arial"/>
            </a:endParaRPr>
          </a:p>
        </p:txBody>
      </p:sp>
      <p:sp>
        <p:nvSpPr>
          <p:cNvPr id="288" name="Text 15"/>
          <p:cNvSpPr/>
          <p:nvPr/>
        </p:nvSpPr>
        <p:spPr>
          <a:xfrm>
            <a:off x="359352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telemetry et events</a:t>
            </a:r>
            <a:endParaRPr b="0" lang="fr-FR" sz="1400" spc="-1" strike="noStrike">
              <a:solidFill>
                <a:srgbClr val="000000"/>
              </a:solidFill>
              <a:latin typeface="Arial"/>
            </a:endParaRPr>
          </a:p>
        </p:txBody>
      </p:sp>
      <p:sp>
        <p:nvSpPr>
          <p:cNvPr id="289" name="Service history-db-init"/>
          <p:cNvSpPr/>
          <p:nvPr/>
        </p:nvSpPr>
        <p:spPr>
          <a:xfrm>
            <a:off x="6181200" y="1783080"/>
            <a:ext cx="2605680" cy="2102760"/>
          </a:xfrm>
          <a:prstGeom prst="roundRect">
            <a:avLst>
              <a:gd name="adj" fmla="val 6522"/>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90" name="Pastille FaCogs"/>
          <p:cNvSpPr/>
          <p:nvPr/>
        </p:nvSpPr>
        <p:spPr>
          <a:xfrm>
            <a:off x="640980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91" name="Image 2" descr="FaCogs"/>
          <p:cNvPicPr/>
          <p:nvPr/>
        </p:nvPicPr>
        <p:blipFill>
          <a:blip r:embed="rId3"/>
          <a:stretch/>
        </p:blipFill>
        <p:spPr>
          <a:xfrm>
            <a:off x="6546960" y="2103120"/>
            <a:ext cx="273960" cy="273960"/>
          </a:xfrm>
          <a:prstGeom prst="rect">
            <a:avLst/>
          </a:prstGeom>
          <a:ln w="0">
            <a:noFill/>
          </a:ln>
        </p:spPr>
      </p:pic>
      <p:sp>
        <p:nvSpPr>
          <p:cNvPr id="292" name="Text 18"/>
          <p:cNvSpPr/>
          <p:nvPr/>
        </p:nvSpPr>
        <p:spPr>
          <a:xfrm>
            <a:off x="640980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history-db-init</a:t>
            </a:r>
            <a:endParaRPr b="0" lang="fr-FR" sz="1700" spc="-1" strike="noStrike">
              <a:solidFill>
                <a:srgbClr val="000000"/>
              </a:solidFill>
              <a:latin typeface="Arial"/>
            </a:endParaRPr>
          </a:p>
        </p:txBody>
      </p:sp>
      <p:sp>
        <p:nvSpPr>
          <p:cNvPr id="293" name="Text 19"/>
          <p:cNvSpPr/>
          <p:nvPr/>
        </p:nvSpPr>
        <p:spPr>
          <a:xfrm>
            <a:off x="640980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Job au démarrage</a:t>
            </a:r>
            <a:endParaRPr b="0" lang="fr-FR" sz="1400" spc="-1" strike="noStrike">
              <a:solidFill>
                <a:srgbClr val="000000"/>
              </a:solidFill>
              <a:latin typeface="Arial"/>
            </a:endParaRPr>
          </a:p>
        </p:txBody>
      </p:sp>
      <p:sp>
        <p:nvSpPr>
          <p:cNvPr id="294" name="Text 20"/>
          <p:cNvSpPr/>
          <p:nvPr/>
        </p:nvSpPr>
        <p:spPr>
          <a:xfrm>
            <a:off x="640980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bases, comptes, droits, vues</a:t>
            </a:r>
            <a:endParaRPr b="0" lang="fr-FR" sz="1400" spc="-1" strike="noStrike">
              <a:solidFill>
                <a:srgbClr val="000000"/>
              </a:solidFill>
              <a:latin typeface="Arial"/>
            </a:endParaRPr>
          </a:p>
        </p:txBody>
      </p:sp>
      <p:sp>
        <p:nvSpPr>
          <p:cNvPr id="295" name="Service backend"/>
          <p:cNvSpPr/>
          <p:nvPr/>
        </p:nvSpPr>
        <p:spPr>
          <a:xfrm>
            <a:off x="8997840" y="1783080"/>
            <a:ext cx="2605680" cy="2102760"/>
          </a:xfrm>
          <a:prstGeom prst="roundRect">
            <a:avLst>
              <a:gd name="adj" fmla="val 6522"/>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96" name="Pastille FaServer"/>
          <p:cNvSpPr/>
          <p:nvPr/>
        </p:nvSpPr>
        <p:spPr>
          <a:xfrm>
            <a:off x="922644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97" name="Image 3" descr="FaServer"/>
          <p:cNvPicPr/>
          <p:nvPr/>
        </p:nvPicPr>
        <p:blipFill>
          <a:blip r:embed="rId4"/>
          <a:stretch/>
        </p:blipFill>
        <p:spPr>
          <a:xfrm>
            <a:off x="9363600" y="2103120"/>
            <a:ext cx="273960" cy="273960"/>
          </a:xfrm>
          <a:prstGeom prst="rect">
            <a:avLst/>
          </a:prstGeom>
          <a:ln w="0">
            <a:noFill/>
          </a:ln>
        </p:spPr>
      </p:pic>
      <p:sp>
        <p:nvSpPr>
          <p:cNvPr id="298" name="Text 23"/>
          <p:cNvSpPr/>
          <p:nvPr/>
        </p:nvSpPr>
        <p:spPr>
          <a:xfrm>
            <a:off x="922644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backend</a:t>
            </a:r>
            <a:endParaRPr b="0" lang="fr-FR" sz="1700" spc="-1" strike="noStrike">
              <a:solidFill>
                <a:srgbClr val="000000"/>
              </a:solidFill>
              <a:latin typeface="Arial"/>
            </a:endParaRPr>
          </a:p>
        </p:txBody>
      </p:sp>
      <p:sp>
        <p:nvSpPr>
          <p:cNvPr id="299" name="Text 24"/>
          <p:cNvSpPr/>
          <p:nvPr/>
        </p:nvSpPr>
        <p:spPr>
          <a:xfrm>
            <a:off x="922644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Go 1.26, binaire statique</a:t>
            </a:r>
            <a:endParaRPr b="0" lang="fr-FR" sz="1400" spc="-1" strike="noStrike">
              <a:solidFill>
                <a:srgbClr val="000000"/>
              </a:solidFill>
              <a:latin typeface="Arial"/>
            </a:endParaRPr>
          </a:p>
        </p:txBody>
      </p:sp>
      <p:sp>
        <p:nvSpPr>
          <p:cNvPr id="300" name="Text 25"/>
          <p:cNvSpPr/>
          <p:nvPr/>
        </p:nvSpPr>
        <p:spPr>
          <a:xfrm>
            <a:off x="922644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ingestion, API REST, WebSocket</a:t>
            </a:r>
            <a:endParaRPr b="0" lang="fr-FR" sz="1400" spc="-1" strike="noStrike">
              <a:solidFill>
                <a:srgbClr val="000000"/>
              </a:solidFill>
              <a:latin typeface="Arial"/>
            </a:endParaRPr>
          </a:p>
        </p:txBody>
      </p:sp>
      <p:sp>
        <p:nvSpPr>
          <p:cNvPr id="301" name="Service dashboard"/>
          <p:cNvSpPr/>
          <p:nvPr/>
        </p:nvSpPr>
        <p:spPr>
          <a:xfrm>
            <a:off x="548640" y="4069080"/>
            <a:ext cx="2605680" cy="2102760"/>
          </a:xfrm>
          <a:prstGeom prst="roundRect">
            <a:avLst>
              <a:gd name="adj" fmla="val 6522"/>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02" name="Pastille FaCode"/>
          <p:cNvSpPr/>
          <p:nvPr/>
        </p:nvSpPr>
        <p:spPr>
          <a:xfrm>
            <a:off x="777240" y="4251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03" name="Image 4" descr="FaCode"/>
          <p:cNvPicPr/>
          <p:nvPr/>
        </p:nvPicPr>
        <p:blipFill>
          <a:blip r:embed="rId5"/>
          <a:stretch/>
        </p:blipFill>
        <p:spPr>
          <a:xfrm>
            <a:off x="914400" y="4389120"/>
            <a:ext cx="273960" cy="273960"/>
          </a:xfrm>
          <a:prstGeom prst="rect">
            <a:avLst/>
          </a:prstGeom>
          <a:ln w="0">
            <a:noFill/>
          </a:ln>
        </p:spPr>
      </p:pic>
      <p:sp>
        <p:nvSpPr>
          <p:cNvPr id="304" name="Text 28"/>
          <p:cNvSpPr/>
          <p:nvPr/>
        </p:nvSpPr>
        <p:spPr>
          <a:xfrm>
            <a:off x="777240" y="4937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dashboard</a:t>
            </a:r>
            <a:endParaRPr b="0" lang="fr-FR" sz="1700" spc="-1" strike="noStrike">
              <a:solidFill>
                <a:srgbClr val="000000"/>
              </a:solidFill>
              <a:latin typeface="Arial"/>
            </a:endParaRPr>
          </a:p>
        </p:txBody>
      </p:sp>
      <p:sp>
        <p:nvSpPr>
          <p:cNvPr id="305" name="Text 29"/>
          <p:cNvSpPr/>
          <p:nvPr/>
        </p:nvSpPr>
        <p:spPr>
          <a:xfrm>
            <a:off x="777240" y="5285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React 19 + nginx</a:t>
            </a:r>
            <a:endParaRPr b="0" lang="fr-FR" sz="1400" spc="-1" strike="noStrike">
              <a:solidFill>
                <a:srgbClr val="000000"/>
              </a:solidFill>
              <a:latin typeface="Arial"/>
            </a:endParaRPr>
          </a:p>
        </p:txBody>
      </p:sp>
      <p:sp>
        <p:nvSpPr>
          <p:cNvPr id="306" name="Text 30"/>
          <p:cNvSpPr/>
          <p:nvPr/>
        </p:nvSpPr>
        <p:spPr>
          <a:xfrm>
            <a:off x="777240" y="5577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127.0.0.1:10443</a:t>
            </a:r>
            <a:endParaRPr b="0" lang="fr-FR" sz="1400" spc="-1" strike="noStrike">
              <a:solidFill>
                <a:srgbClr val="000000"/>
              </a:solidFill>
              <a:latin typeface="Arial"/>
            </a:endParaRPr>
          </a:p>
        </p:txBody>
      </p:sp>
      <p:sp>
        <p:nvSpPr>
          <p:cNvPr id="307" name="Service ia-prediction"/>
          <p:cNvSpPr/>
          <p:nvPr/>
        </p:nvSpPr>
        <p:spPr>
          <a:xfrm>
            <a:off x="3364920" y="4069080"/>
            <a:ext cx="2605680" cy="2102760"/>
          </a:xfrm>
          <a:prstGeom prst="roundRect">
            <a:avLst>
              <a:gd name="adj" fmla="val 6522"/>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08" name="Pastille FaBrain"/>
          <p:cNvSpPr/>
          <p:nvPr/>
        </p:nvSpPr>
        <p:spPr>
          <a:xfrm>
            <a:off x="3593520" y="4251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09" name="Image 5" descr="FaBrain"/>
          <p:cNvPicPr/>
          <p:nvPr/>
        </p:nvPicPr>
        <p:blipFill>
          <a:blip r:embed="rId6"/>
          <a:stretch/>
        </p:blipFill>
        <p:spPr>
          <a:xfrm>
            <a:off x="3730680" y="4389120"/>
            <a:ext cx="273960" cy="273960"/>
          </a:xfrm>
          <a:prstGeom prst="rect">
            <a:avLst/>
          </a:prstGeom>
          <a:ln w="0">
            <a:noFill/>
          </a:ln>
        </p:spPr>
      </p:pic>
      <p:sp>
        <p:nvSpPr>
          <p:cNvPr id="310" name="Text 33"/>
          <p:cNvSpPr/>
          <p:nvPr/>
        </p:nvSpPr>
        <p:spPr>
          <a:xfrm>
            <a:off x="3593520" y="4937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ia-prediction</a:t>
            </a:r>
            <a:endParaRPr b="0" lang="fr-FR" sz="1700" spc="-1" strike="noStrike">
              <a:solidFill>
                <a:srgbClr val="000000"/>
              </a:solidFill>
              <a:latin typeface="Arial"/>
            </a:endParaRPr>
          </a:p>
        </p:txBody>
      </p:sp>
      <p:sp>
        <p:nvSpPr>
          <p:cNvPr id="311" name="Text 34"/>
          <p:cNvSpPr/>
          <p:nvPr/>
        </p:nvSpPr>
        <p:spPr>
          <a:xfrm>
            <a:off x="3593520" y="5285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Isolation Forest</a:t>
            </a:r>
            <a:endParaRPr b="0" lang="fr-FR" sz="1400" spc="-1" strike="noStrike">
              <a:solidFill>
                <a:srgbClr val="000000"/>
              </a:solidFill>
              <a:latin typeface="Arial"/>
            </a:endParaRPr>
          </a:p>
        </p:txBody>
      </p:sp>
      <p:sp>
        <p:nvSpPr>
          <p:cNvPr id="312" name="Text 35"/>
          <p:cNvSpPr/>
          <p:nvPr/>
        </p:nvSpPr>
        <p:spPr>
          <a:xfrm>
            <a:off x="3593520" y="5577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scikit-learn, temps réel</a:t>
            </a:r>
            <a:endParaRPr b="0" lang="fr-FR" sz="1400" spc="-1" strike="noStrike">
              <a:solidFill>
                <a:srgbClr val="000000"/>
              </a:solidFill>
              <a:latin typeface="Arial"/>
            </a:endParaRPr>
          </a:p>
        </p:txBody>
      </p:sp>
      <p:sp>
        <p:nvSpPr>
          <p:cNvPr id="313" name="Service ia-vision"/>
          <p:cNvSpPr/>
          <p:nvPr/>
        </p:nvSpPr>
        <p:spPr>
          <a:xfrm>
            <a:off x="6181200" y="4069080"/>
            <a:ext cx="2605680" cy="2102760"/>
          </a:xfrm>
          <a:prstGeom prst="roundRect">
            <a:avLst>
              <a:gd name="adj" fmla="val 6522"/>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14" name="Pastille FaVideo"/>
          <p:cNvSpPr/>
          <p:nvPr/>
        </p:nvSpPr>
        <p:spPr>
          <a:xfrm>
            <a:off x="6409800" y="4251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15" name="Image 6" descr="FaVideo"/>
          <p:cNvPicPr/>
          <p:nvPr/>
        </p:nvPicPr>
        <p:blipFill>
          <a:blip r:embed="rId7"/>
          <a:stretch/>
        </p:blipFill>
        <p:spPr>
          <a:xfrm>
            <a:off x="6546960" y="4389120"/>
            <a:ext cx="273960" cy="273960"/>
          </a:xfrm>
          <a:prstGeom prst="rect">
            <a:avLst/>
          </a:prstGeom>
          <a:ln w="0">
            <a:noFill/>
          </a:ln>
        </p:spPr>
      </p:pic>
      <p:sp>
        <p:nvSpPr>
          <p:cNvPr id="316" name="Text 38"/>
          <p:cNvSpPr/>
          <p:nvPr/>
        </p:nvSpPr>
        <p:spPr>
          <a:xfrm>
            <a:off x="6409800" y="4937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ia-vision</a:t>
            </a:r>
            <a:endParaRPr b="0" lang="fr-FR" sz="1700" spc="-1" strike="noStrike">
              <a:solidFill>
                <a:srgbClr val="000000"/>
              </a:solidFill>
              <a:latin typeface="Arial"/>
            </a:endParaRPr>
          </a:p>
        </p:txBody>
      </p:sp>
      <p:sp>
        <p:nvSpPr>
          <p:cNvPr id="317" name="Text 39"/>
          <p:cNvSpPr/>
          <p:nvPr/>
        </p:nvSpPr>
        <p:spPr>
          <a:xfrm>
            <a:off x="6409800" y="5285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YOLOv8n · PyTorch CPU</a:t>
            </a:r>
            <a:endParaRPr b="0" lang="fr-FR" sz="1400" spc="-1" strike="noStrike">
              <a:solidFill>
                <a:srgbClr val="000000"/>
              </a:solidFill>
              <a:latin typeface="Arial"/>
            </a:endParaRPr>
          </a:p>
        </p:txBody>
      </p:sp>
      <p:sp>
        <p:nvSpPr>
          <p:cNvPr id="318" name="Text 40"/>
          <p:cNvSpPr/>
          <p:nvPr/>
        </p:nvSpPr>
        <p:spPr>
          <a:xfrm>
            <a:off x="6409800" y="5577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webcam, flux MJPEG</a:t>
            </a:r>
            <a:endParaRPr b="0" lang="fr-FR" sz="1400" spc="-1" strike="noStrike">
              <a:solidFill>
                <a:srgbClr val="000000"/>
              </a:solidFill>
              <a:latin typeface="Arial"/>
            </a:endParaRPr>
          </a:p>
        </p:txBody>
      </p:sp>
      <p:sp>
        <p:nvSpPr>
          <p:cNvPr id="319" name="Commande de déploiement"/>
          <p:cNvSpPr/>
          <p:nvPr/>
        </p:nvSpPr>
        <p:spPr>
          <a:xfrm>
            <a:off x="8997840" y="4069080"/>
            <a:ext cx="2605680" cy="2102760"/>
          </a:xfrm>
          <a:prstGeom prst="roundRect">
            <a:avLst>
              <a:gd name="adj" fmla="val 6522"/>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20" name="Text 42"/>
          <p:cNvSpPr/>
          <p:nvPr/>
        </p:nvSpPr>
        <p:spPr>
          <a:xfrm>
            <a:off x="9226440" y="4297680"/>
            <a:ext cx="219420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pc="-1" strike="noStrike">
                <a:solidFill>
                  <a:srgbClr val="00c9b7"/>
                </a:solidFill>
                <a:latin typeface="Courier New"/>
                <a:ea typeface="Courier New"/>
              </a:rPr>
              <a:t>docker compose</a:t>
            </a:r>
            <a:endParaRPr b="0" lang="fr-FR" sz="1600" spc="-1" strike="noStrike">
              <a:solidFill>
                <a:srgbClr val="000000"/>
              </a:solidFill>
              <a:latin typeface="Arial"/>
            </a:endParaRPr>
          </a:p>
          <a:p>
            <a:pPr defTabSz="914400">
              <a:lnSpc>
                <a:spcPct val="100000"/>
              </a:lnSpc>
              <a:tabLst>
                <a:tab algn="l" pos="0"/>
              </a:tabLst>
            </a:pPr>
            <a:r>
              <a:rPr b="1" lang="en-US" sz="1600" spc="-1" strike="noStrike">
                <a:solidFill>
                  <a:srgbClr val="00c9b7"/>
                </a:solidFill>
                <a:latin typeface="Courier New"/>
                <a:ea typeface="Courier New"/>
              </a:rPr>
              <a:t>up -d</a:t>
            </a:r>
            <a:endParaRPr b="0" lang="fr-FR" sz="1600" spc="-1" strike="noStrike">
              <a:solidFill>
                <a:srgbClr val="000000"/>
              </a:solidFill>
              <a:latin typeface="Arial"/>
            </a:endParaRPr>
          </a:p>
        </p:txBody>
      </p:sp>
      <p:sp>
        <p:nvSpPr>
          <p:cNvPr id="321" name="Text 43"/>
          <p:cNvSpPr/>
          <p:nvPr/>
        </p:nvSpPr>
        <p:spPr>
          <a:xfrm>
            <a:off x="9226440" y="4983480"/>
            <a:ext cx="2194200" cy="1096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chemeClr val="lt1"/>
                </a:solidFill>
                <a:latin typeface="Calibri"/>
              </a:rPr>
              <a:t>Build avec Internet, puis 100 % hors ligne. Images épinglées @sha256, services non root.</a:t>
            </a:r>
            <a:endParaRPr b="0" lang="fr-FR" sz="1400" spc="-1" strike="noStrike">
              <a:solidFill>
                <a:srgbClr val="000000"/>
              </a:solidFill>
              <a:latin typeface="Arial"/>
            </a:endParaRPr>
          </a:p>
        </p:txBody>
      </p:sp>
      <p:sp>
        <p:nvSpPr>
          <p:cNvPr id="322" name="PlaceHolder 2"/>
          <p:cNvSpPr>
            <a:spLocks noGrp="1"/>
          </p:cNvSpPr>
          <p:nvPr>
            <p:ph type="sldNum" idx="12"/>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95E30987-0D48-4A5E-9320-619A1E61D156}"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Surtitre"/>
          <p:cNvSpPr/>
          <p:nvPr/>
        </p:nvSpPr>
        <p:spPr>
          <a:xfrm>
            <a:off x="548640" y="384120"/>
            <a:ext cx="1140840" cy="29232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24" name="Text 1"/>
          <p:cNvSpPr/>
          <p:nvPr/>
        </p:nvSpPr>
        <p:spPr>
          <a:xfrm>
            <a:off x="548640" y="384120"/>
            <a:ext cx="114084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IA · VISION</a:t>
            </a:r>
            <a:endParaRPr b="0" lang="fr-FR" sz="1100" spc="-1" strike="noStrike">
              <a:solidFill>
                <a:srgbClr val="ffffff"/>
              </a:solidFill>
              <a:latin typeface="Arial"/>
            </a:endParaRPr>
          </a:p>
        </p:txBody>
      </p:sp>
      <p:sp>
        <p:nvSpPr>
          <p:cNvPr id="32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Détecter une intrusion en moins de 100 ms</a:t>
            </a:r>
            <a:endParaRPr b="0" lang="fr-FR" sz="3400" spc="-1" strike="noStrike">
              <a:solidFill>
                <a:schemeClr val="dk1"/>
              </a:solidFill>
              <a:latin typeface="Calibri"/>
            </a:endParaRPr>
          </a:p>
        </p:txBody>
      </p:sp>
      <p:sp>
        <p:nvSpPr>
          <p:cNvPr id="326" name="Étape 1 · Webcam"/>
          <p:cNvSpPr/>
          <p:nvPr/>
        </p:nvSpPr>
        <p:spPr>
          <a:xfrm>
            <a:off x="54864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27" name="Pastille FaCamera"/>
          <p:cNvSpPr/>
          <p:nvPr/>
        </p:nvSpPr>
        <p:spPr>
          <a:xfrm>
            <a:off x="777240" y="2011680"/>
            <a:ext cx="685440" cy="68544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328" name="Image 0" descr="FaCamera"/>
          <p:cNvPicPr/>
          <p:nvPr/>
        </p:nvPicPr>
        <p:blipFill>
          <a:blip r:embed="rId1"/>
          <a:stretch/>
        </p:blipFill>
        <p:spPr>
          <a:xfrm>
            <a:off x="948600" y="2183040"/>
            <a:ext cx="342720" cy="342720"/>
          </a:xfrm>
          <a:prstGeom prst="rect">
            <a:avLst/>
          </a:prstGeom>
          <a:ln w="0">
            <a:noFill/>
          </a:ln>
        </p:spPr>
      </p:pic>
      <p:sp>
        <p:nvSpPr>
          <p:cNvPr id="329" name="Text 5"/>
          <p:cNvSpPr/>
          <p:nvPr/>
        </p:nvSpPr>
        <p:spPr>
          <a:xfrm>
            <a:off x="77724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1 · Webcam</a:t>
            </a:r>
            <a:endParaRPr b="0" lang="fr-FR" sz="1900" spc="-1" strike="noStrike">
              <a:solidFill>
                <a:srgbClr val="ffffff"/>
              </a:solidFill>
              <a:latin typeface="Arial"/>
            </a:endParaRPr>
          </a:p>
        </p:txBody>
      </p:sp>
      <p:sp>
        <p:nvSpPr>
          <p:cNvPr id="330" name="Text 6"/>
          <p:cNvSpPr/>
          <p:nvPr/>
        </p:nvSpPr>
        <p:spPr>
          <a:xfrm>
            <a:off x="77724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Images 640×480, niveaux de gris, flou gaussien.</a:t>
            </a:r>
            <a:endParaRPr b="0" lang="fr-FR" sz="1400" spc="-1" strike="noStrike">
              <a:solidFill>
                <a:srgbClr val="ffffff"/>
              </a:solidFill>
              <a:latin typeface="Arial"/>
            </a:endParaRPr>
          </a:p>
        </p:txBody>
      </p:sp>
      <p:sp>
        <p:nvSpPr>
          <p:cNvPr id="331" name="Flèche"/>
          <p:cNvSpPr/>
          <p:nvPr/>
        </p:nvSpPr>
        <p:spPr>
          <a:xfrm>
            <a:off x="3035520" y="3108960"/>
            <a:ext cx="356760" cy="360"/>
          </a:xfrm>
          <a:prstGeom prst="line">
            <a:avLst/>
          </a:prstGeom>
          <a:ln w="31750">
            <a:solidFill>
              <a:srgbClr val="00c9b7"/>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ffffff"/>
              </a:solidFill>
              <a:latin typeface="Arial"/>
            </a:endParaRPr>
          </a:p>
        </p:txBody>
      </p:sp>
      <p:sp>
        <p:nvSpPr>
          <p:cNvPr id="332" name="Étape 2 · MOG2"/>
          <p:cNvSpPr/>
          <p:nvPr/>
        </p:nvSpPr>
        <p:spPr>
          <a:xfrm>
            <a:off x="341064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33" name="Pastille FaEye"/>
          <p:cNvSpPr/>
          <p:nvPr/>
        </p:nvSpPr>
        <p:spPr>
          <a:xfrm>
            <a:off x="3639240" y="2011680"/>
            <a:ext cx="685440" cy="68544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334" name="Image 1" descr="FaEye"/>
          <p:cNvPicPr/>
          <p:nvPr/>
        </p:nvPicPr>
        <p:blipFill>
          <a:blip r:embed="rId2"/>
          <a:stretch/>
        </p:blipFill>
        <p:spPr>
          <a:xfrm>
            <a:off x="3810600" y="2183040"/>
            <a:ext cx="342720" cy="342720"/>
          </a:xfrm>
          <a:prstGeom prst="rect">
            <a:avLst/>
          </a:prstGeom>
          <a:ln w="0">
            <a:noFill/>
          </a:ln>
        </p:spPr>
      </p:pic>
      <p:sp>
        <p:nvSpPr>
          <p:cNvPr id="335" name="Text 10"/>
          <p:cNvSpPr/>
          <p:nvPr/>
        </p:nvSpPr>
        <p:spPr>
          <a:xfrm>
            <a:off x="363924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2 · MOG2</a:t>
            </a:r>
            <a:endParaRPr b="0" lang="fr-FR" sz="1900" spc="-1" strike="noStrike">
              <a:solidFill>
                <a:srgbClr val="ffffff"/>
              </a:solidFill>
              <a:latin typeface="Arial"/>
            </a:endParaRPr>
          </a:p>
        </p:txBody>
      </p:sp>
      <p:sp>
        <p:nvSpPr>
          <p:cNvPr id="336" name="Text 11"/>
          <p:cNvSpPr/>
          <p:nvPr/>
        </p:nvSpPr>
        <p:spPr>
          <a:xfrm>
            <a:off x="363924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On ne regarde que ce qui bouge. Lumière ignorée au-delà de 40 %.</a:t>
            </a:r>
            <a:endParaRPr b="0" lang="fr-FR" sz="1400" spc="-1" strike="noStrike">
              <a:solidFill>
                <a:srgbClr val="ffffff"/>
              </a:solidFill>
              <a:latin typeface="Arial"/>
            </a:endParaRPr>
          </a:p>
        </p:txBody>
      </p:sp>
      <p:sp>
        <p:nvSpPr>
          <p:cNvPr id="337" name="Flèche"/>
          <p:cNvSpPr/>
          <p:nvPr/>
        </p:nvSpPr>
        <p:spPr>
          <a:xfrm>
            <a:off x="5897880" y="3108960"/>
            <a:ext cx="356400" cy="360"/>
          </a:xfrm>
          <a:prstGeom prst="line">
            <a:avLst/>
          </a:prstGeom>
          <a:ln w="31750">
            <a:solidFill>
              <a:srgbClr val="3d8bff"/>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ffffff"/>
              </a:solidFill>
              <a:latin typeface="Arial"/>
            </a:endParaRPr>
          </a:p>
        </p:txBody>
      </p:sp>
      <p:sp>
        <p:nvSpPr>
          <p:cNvPr id="338" name="Étape 3 · YOLOv8n"/>
          <p:cNvSpPr/>
          <p:nvPr/>
        </p:nvSpPr>
        <p:spPr>
          <a:xfrm>
            <a:off x="627264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39" name="Pastille FaBullseye"/>
          <p:cNvSpPr/>
          <p:nvPr/>
        </p:nvSpPr>
        <p:spPr>
          <a:xfrm>
            <a:off x="6501240" y="2011680"/>
            <a:ext cx="685440" cy="6854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340" name="Image 2" descr="FaBullseye"/>
          <p:cNvPicPr/>
          <p:nvPr/>
        </p:nvPicPr>
        <p:blipFill>
          <a:blip r:embed="rId3"/>
          <a:stretch/>
        </p:blipFill>
        <p:spPr>
          <a:xfrm>
            <a:off x="6672960" y="2183040"/>
            <a:ext cx="342720" cy="342720"/>
          </a:xfrm>
          <a:prstGeom prst="rect">
            <a:avLst/>
          </a:prstGeom>
          <a:ln w="0">
            <a:noFill/>
          </a:ln>
        </p:spPr>
      </p:pic>
      <p:sp>
        <p:nvSpPr>
          <p:cNvPr id="341" name="Text 15"/>
          <p:cNvSpPr/>
          <p:nvPr/>
        </p:nvSpPr>
        <p:spPr>
          <a:xfrm>
            <a:off x="650124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3 · YOLOv8n</a:t>
            </a:r>
            <a:endParaRPr b="0" lang="fr-FR" sz="1900" spc="-1" strike="noStrike">
              <a:solidFill>
                <a:srgbClr val="ffffff"/>
              </a:solidFill>
              <a:latin typeface="Arial"/>
            </a:endParaRPr>
          </a:p>
        </p:txBody>
      </p:sp>
      <p:sp>
        <p:nvSpPr>
          <p:cNvPr id="342" name="Text 16"/>
          <p:cNvSpPr/>
          <p:nvPr/>
        </p:nvSpPr>
        <p:spPr>
          <a:xfrm>
            <a:off x="650124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Lancé si contour &gt; 20 000 px. Classe personne, confiance ≥ 0,5.</a:t>
            </a:r>
            <a:endParaRPr b="0" lang="fr-FR" sz="1400" spc="-1" strike="noStrike">
              <a:solidFill>
                <a:srgbClr val="ffffff"/>
              </a:solidFill>
              <a:latin typeface="Arial"/>
            </a:endParaRPr>
          </a:p>
        </p:txBody>
      </p:sp>
      <p:sp>
        <p:nvSpPr>
          <p:cNvPr id="343" name="Flèche"/>
          <p:cNvSpPr/>
          <p:nvPr/>
        </p:nvSpPr>
        <p:spPr>
          <a:xfrm>
            <a:off x="8759880" y="3108960"/>
            <a:ext cx="356400" cy="360"/>
          </a:xfrm>
          <a:prstGeom prst="line">
            <a:avLst/>
          </a:prstGeom>
          <a:ln w="31750">
            <a:solidFill>
              <a:srgbClr val="ff4f81"/>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ffffff"/>
              </a:solidFill>
              <a:latin typeface="Arial"/>
            </a:endParaRPr>
          </a:p>
        </p:txBody>
      </p:sp>
      <p:sp>
        <p:nvSpPr>
          <p:cNvPr id="344" name="Étape 4 · Alertes"/>
          <p:cNvSpPr/>
          <p:nvPr/>
        </p:nvSpPr>
        <p:spPr>
          <a:xfrm>
            <a:off x="913500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45" name="Pastille FaBell"/>
          <p:cNvSpPr/>
          <p:nvPr/>
        </p:nvSpPr>
        <p:spPr>
          <a:xfrm>
            <a:off x="9363600" y="2011680"/>
            <a:ext cx="685440" cy="68544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46" name="Image 3" descr="FaBell"/>
          <p:cNvPicPr/>
          <p:nvPr/>
        </p:nvPicPr>
        <p:blipFill>
          <a:blip r:embed="rId4"/>
          <a:stretch/>
        </p:blipFill>
        <p:spPr>
          <a:xfrm>
            <a:off x="9534960" y="2183040"/>
            <a:ext cx="342720" cy="342720"/>
          </a:xfrm>
          <a:prstGeom prst="rect">
            <a:avLst/>
          </a:prstGeom>
          <a:ln w="0">
            <a:noFill/>
          </a:ln>
        </p:spPr>
      </p:pic>
      <p:sp>
        <p:nvSpPr>
          <p:cNvPr id="347" name="Text 20"/>
          <p:cNvSpPr/>
          <p:nvPr/>
        </p:nvSpPr>
        <p:spPr>
          <a:xfrm>
            <a:off x="936360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4 · Alertes</a:t>
            </a:r>
            <a:endParaRPr b="0" lang="fr-FR" sz="1900" spc="-1" strike="noStrike">
              <a:solidFill>
                <a:srgbClr val="ffffff"/>
              </a:solidFill>
              <a:latin typeface="Arial"/>
            </a:endParaRPr>
          </a:p>
        </p:txBody>
      </p:sp>
      <p:sp>
        <p:nvSpPr>
          <p:cNvPr id="348" name="Text 21"/>
          <p:cNvSpPr/>
          <p:nvPr/>
        </p:nvSpPr>
        <p:spPr>
          <a:xfrm>
            <a:off x="936360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Warning dès la 1re personne. Confirmed après 3 s, la LED du nœud réagit.</a:t>
            </a:r>
            <a:endParaRPr b="0" lang="fr-FR" sz="1400" spc="-1" strike="noStrike">
              <a:solidFill>
                <a:srgbClr val="ffffff"/>
              </a:solidFill>
              <a:latin typeface="Arial"/>
            </a:endParaRPr>
          </a:p>
        </p:txBody>
      </p:sp>
      <p:sp>
        <p:nvSpPr>
          <p:cNvPr id="349" name="Performance vision"/>
          <p:cNvSpPr/>
          <p:nvPr/>
        </p:nvSpPr>
        <p:spPr>
          <a:xfrm>
            <a:off x="548640" y="4709160"/>
            <a:ext cx="6674760" cy="1508400"/>
          </a:xfrm>
          <a:prstGeom prst="roundRect">
            <a:avLst>
              <a:gd name="adj" fmla="val 9091"/>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50" name="Text 23"/>
          <p:cNvSpPr/>
          <p:nvPr/>
        </p:nvSpPr>
        <p:spPr>
          <a:xfrm>
            <a:off x="822960" y="493776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chemeClr val="lt1"/>
                </a:solidFill>
                <a:latin typeface="Calibri"/>
              </a:rPr>
              <a:t>Objectif</a:t>
            </a:r>
            <a:endParaRPr b="0" lang="fr-FR" sz="1400" spc="-1" strike="noStrike">
              <a:solidFill>
                <a:srgbClr val="ffffff"/>
              </a:solidFill>
              <a:latin typeface="Arial"/>
            </a:endParaRPr>
          </a:p>
        </p:txBody>
      </p:sp>
      <p:sp>
        <p:nvSpPr>
          <p:cNvPr id="351" name="Piste objectif"/>
          <p:cNvSpPr/>
          <p:nvPr/>
        </p:nvSpPr>
        <p:spPr>
          <a:xfrm>
            <a:off x="2103120" y="4937760"/>
            <a:ext cx="4480200" cy="273960"/>
          </a:xfrm>
          <a:prstGeom prst="roundRect">
            <a:avLst>
              <a:gd name="adj" fmla="val 50000"/>
            </a:avLst>
          </a:prstGeom>
          <a:solidFill>
            <a:srgbClr val="ffffff">
              <a:alpha val="20000"/>
            </a:srgbClr>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52" name="Text 25"/>
          <p:cNvSpPr/>
          <p:nvPr/>
        </p:nvSpPr>
        <p:spPr>
          <a:xfrm>
            <a:off x="2103120" y="4937760"/>
            <a:ext cx="429732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200" spc="-1" strike="noStrike">
                <a:solidFill>
                  <a:schemeClr val="lt1"/>
                </a:solidFill>
                <a:latin typeface="Calibri"/>
              </a:rPr>
              <a:t>&lt; 100 ms</a:t>
            </a:r>
            <a:endParaRPr b="0" lang="fr-FR" sz="1200" spc="-1" strike="noStrike">
              <a:solidFill>
                <a:srgbClr val="ffffff"/>
              </a:solidFill>
              <a:latin typeface="Arial"/>
            </a:endParaRPr>
          </a:p>
        </p:txBody>
      </p:sp>
      <p:sp>
        <p:nvSpPr>
          <p:cNvPr id="353" name="Text 26"/>
          <p:cNvSpPr/>
          <p:nvPr/>
        </p:nvSpPr>
        <p:spPr>
          <a:xfrm>
            <a:off x="822960" y="534924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00c9b7"/>
                </a:solidFill>
                <a:latin typeface="Calibri"/>
              </a:rPr>
              <a:t>Mesuré</a:t>
            </a:r>
            <a:endParaRPr b="0" lang="fr-FR" sz="1400" spc="-1" strike="noStrike">
              <a:solidFill>
                <a:srgbClr val="ffffff"/>
              </a:solidFill>
              <a:latin typeface="Arial"/>
            </a:endParaRPr>
          </a:p>
        </p:txBody>
      </p:sp>
      <p:sp>
        <p:nvSpPr>
          <p:cNvPr id="354" name="Barre mesurée"/>
          <p:cNvSpPr/>
          <p:nvPr/>
        </p:nvSpPr>
        <p:spPr>
          <a:xfrm>
            <a:off x="2103120" y="5349240"/>
            <a:ext cx="1657440" cy="27396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55" name="Text 28"/>
          <p:cNvSpPr/>
          <p:nvPr/>
        </p:nvSpPr>
        <p:spPr>
          <a:xfrm>
            <a:off x="3898080" y="5349240"/>
            <a:ext cx="137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pc="-1" strike="noStrike">
                <a:solidFill>
                  <a:srgbClr val="00c9b7"/>
                </a:solidFill>
                <a:latin typeface="Calibri"/>
              </a:rPr>
              <a:t>37 ms</a:t>
            </a:r>
            <a:endParaRPr b="0" lang="fr-FR" sz="1600" spc="-1" strike="noStrike">
              <a:solidFill>
                <a:srgbClr val="ffffff"/>
              </a:solidFill>
              <a:latin typeface="Arial"/>
            </a:endParaRPr>
          </a:p>
        </p:txBody>
      </p:sp>
      <p:sp>
        <p:nvSpPr>
          <p:cNvPr id="356" name="Text 29"/>
          <p:cNvSpPr/>
          <p:nvPr/>
        </p:nvSpPr>
        <p:spPr>
          <a:xfrm>
            <a:off x="822960" y="5806440"/>
            <a:ext cx="62175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200" spc="-1" strike="noStrike">
                <a:solidFill>
                  <a:srgbClr val="b9b3e6"/>
                </a:solidFill>
                <a:latin typeface="Calibri"/>
              </a:rPr>
              <a:t>24,5 images/s · tests CPU en conteneur</a:t>
            </a:r>
            <a:endParaRPr b="0" lang="fr-FR" sz="1200" spc="-1" strike="noStrike">
              <a:solidFill>
                <a:srgbClr val="ffffff"/>
              </a:solidFill>
              <a:latin typeface="Arial"/>
            </a:endParaRPr>
          </a:p>
        </p:txBody>
      </p:sp>
      <p:sp>
        <p:nvSpPr>
          <p:cNvPr id="357" name="Pourquoi deux étages"/>
          <p:cNvSpPr/>
          <p:nvPr/>
        </p:nvSpPr>
        <p:spPr>
          <a:xfrm>
            <a:off x="7498080" y="4709160"/>
            <a:ext cx="4114440" cy="1508400"/>
          </a:xfrm>
          <a:prstGeom prst="roundRect">
            <a:avLst>
              <a:gd name="adj" fmla="val 9091"/>
            </a:avLst>
          </a:prstGeom>
          <a:solidFill>
            <a:srgbClr val="7adb4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58" name="Text 31"/>
          <p:cNvSpPr/>
          <p:nvPr/>
        </p:nvSpPr>
        <p:spPr>
          <a:xfrm>
            <a:off x="7726680" y="4709160"/>
            <a:ext cx="3657240" cy="1508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20b2e"/>
                </a:solidFill>
                <a:latin typeface="Calibri"/>
              </a:rPr>
              <a:t>Pourquoi deux étages ? </a:t>
            </a:r>
            <a:r>
              <a:rPr b="0" lang="en-US" sz="1400" spc="-1" strike="noStrike">
                <a:solidFill>
                  <a:srgbClr val="120b2e"/>
                </a:solidFill>
                <a:latin typeface="Calibri"/>
              </a:rPr>
              <a:t>YOLO ne tourne que sur les grands mouvements : la latence reste sous 100 ms sans gaspiller le CPU.</a:t>
            </a:r>
            <a:endParaRPr b="0" lang="fr-FR" sz="1400" spc="-1" strike="noStrike">
              <a:solidFill>
                <a:srgbClr val="ffffff"/>
              </a:solidFill>
              <a:latin typeface="Arial"/>
            </a:endParaRPr>
          </a:p>
        </p:txBody>
      </p:sp>
      <p:sp>
        <p:nvSpPr>
          <p:cNvPr id="359" name="PlaceHolder 2"/>
          <p:cNvSpPr>
            <a:spLocks noGrp="1"/>
          </p:cNvSpPr>
          <p:nvPr>
            <p:ph type="sldNum" idx="13"/>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0E0F9AE2-EE69-4ED9-94C4-5D2F3F361DCF}"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1"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2"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3" name="Surtitre"/>
          <p:cNvSpPr/>
          <p:nvPr/>
        </p:nvSpPr>
        <p:spPr>
          <a:xfrm>
            <a:off x="548640" y="384120"/>
            <a:ext cx="2574720" cy="29232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64" name="Text 4"/>
          <p:cNvSpPr/>
          <p:nvPr/>
        </p:nvSpPr>
        <p:spPr>
          <a:xfrm>
            <a:off x="548640" y="384120"/>
            <a:ext cx="25747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IA · MAINTENANCE PRÉDICTIVE</a:t>
            </a:r>
            <a:endParaRPr b="0" lang="fr-FR" sz="1100" spc="-1" strike="noStrike">
              <a:solidFill>
                <a:srgbClr val="000000"/>
              </a:solidFill>
              <a:latin typeface="Arial"/>
            </a:endParaRPr>
          </a:p>
        </p:txBody>
      </p:sp>
      <p:sp>
        <p:nvSpPr>
          <p:cNvPr id="36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Prédire avant que ça casse</a:t>
            </a:r>
            <a:endParaRPr b="0" lang="fr-FR" sz="3400" spc="-1" strike="noStrike">
              <a:solidFill>
                <a:schemeClr val="dk1"/>
              </a:solidFill>
              <a:latin typeface="Calibri"/>
            </a:endParaRPr>
          </a:p>
        </p:txBody>
      </p:sp>
      <p:sp>
        <p:nvSpPr>
          <p:cNvPr id="366" name="Pipeline Fenêtres de 60 mesures"/>
          <p:cNvSpPr/>
          <p:nvPr/>
        </p:nvSpPr>
        <p:spPr>
          <a:xfrm>
            <a:off x="548640" y="1783080"/>
            <a:ext cx="5394600" cy="1005480"/>
          </a:xfrm>
          <a:prstGeom prst="roundRect">
            <a:avLst>
              <a:gd name="adj" fmla="val 13636"/>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7" name="Numéro"/>
          <p:cNvSpPr/>
          <p:nvPr/>
        </p:nvSpPr>
        <p:spPr>
          <a:xfrm>
            <a:off x="777240" y="2011680"/>
            <a:ext cx="548280" cy="54828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68" name="Text 8"/>
          <p:cNvSpPr/>
          <p:nvPr/>
        </p:nvSpPr>
        <p:spPr>
          <a:xfrm>
            <a:off x="777240" y="201168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 strike="noStrike">
                <a:solidFill>
                  <a:srgbClr val="120b2e"/>
                </a:solidFill>
                <a:latin typeface="Calibri"/>
              </a:rPr>
              <a:t>1</a:t>
            </a:r>
            <a:endParaRPr b="0" lang="fr-FR" sz="2000" spc="-1" strike="noStrike">
              <a:solidFill>
                <a:srgbClr val="000000"/>
              </a:solidFill>
              <a:latin typeface="Arial"/>
            </a:endParaRPr>
          </a:p>
        </p:txBody>
      </p:sp>
      <p:sp>
        <p:nvSpPr>
          <p:cNvPr id="369" name="Text 9"/>
          <p:cNvSpPr/>
          <p:nvPr/>
        </p:nvSpPr>
        <p:spPr>
          <a:xfrm>
            <a:off x="1554480" y="1892880"/>
            <a:ext cx="42058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Fenêtres de 60 mesures</a:t>
            </a:r>
            <a:endParaRPr b="0" lang="fr-FR" sz="1700" spc="-1" strike="noStrike">
              <a:solidFill>
                <a:srgbClr val="000000"/>
              </a:solidFill>
              <a:latin typeface="Arial"/>
            </a:endParaRPr>
          </a:p>
        </p:txBody>
      </p:sp>
      <p:sp>
        <p:nvSpPr>
          <p:cNvPr id="370" name="Text 10"/>
          <p:cNvSpPr/>
          <p:nvPr/>
        </p:nvSpPr>
        <p:spPr>
          <a:xfrm>
            <a:off x="1554480" y="2240280"/>
            <a:ext cx="42058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2 minutes, segments continus, jamais à cheval sur une coupure</a:t>
            </a:r>
            <a:endParaRPr b="0" lang="fr-FR" sz="1300" spc="-1" strike="noStrike">
              <a:solidFill>
                <a:srgbClr val="000000"/>
              </a:solidFill>
              <a:latin typeface="Arial"/>
            </a:endParaRPr>
          </a:p>
        </p:txBody>
      </p:sp>
      <p:sp>
        <p:nvSpPr>
          <p:cNvPr id="371" name="Pipeline 10 caractéristiques"/>
          <p:cNvSpPr/>
          <p:nvPr/>
        </p:nvSpPr>
        <p:spPr>
          <a:xfrm>
            <a:off x="548640" y="2971800"/>
            <a:ext cx="5394600" cy="1005480"/>
          </a:xfrm>
          <a:prstGeom prst="roundRect">
            <a:avLst>
              <a:gd name="adj" fmla="val 13636"/>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72" name="Numéro"/>
          <p:cNvSpPr/>
          <p:nvPr/>
        </p:nvSpPr>
        <p:spPr>
          <a:xfrm>
            <a:off x="777240" y="3200400"/>
            <a:ext cx="548280" cy="54828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73" name="Text 13"/>
          <p:cNvSpPr/>
          <p:nvPr/>
        </p:nvSpPr>
        <p:spPr>
          <a:xfrm>
            <a:off x="777240" y="320040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 strike="noStrike">
                <a:solidFill>
                  <a:srgbClr val="120b2e"/>
                </a:solidFill>
                <a:latin typeface="Calibri"/>
              </a:rPr>
              <a:t>2</a:t>
            </a:r>
            <a:endParaRPr b="0" lang="fr-FR" sz="2000" spc="-1" strike="noStrike">
              <a:solidFill>
                <a:srgbClr val="000000"/>
              </a:solidFill>
              <a:latin typeface="Arial"/>
            </a:endParaRPr>
          </a:p>
        </p:txBody>
      </p:sp>
      <p:sp>
        <p:nvSpPr>
          <p:cNvPr id="374" name="Text 14"/>
          <p:cNvSpPr/>
          <p:nvPr/>
        </p:nvSpPr>
        <p:spPr>
          <a:xfrm>
            <a:off x="1554480" y="3081600"/>
            <a:ext cx="42058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10 caractéristiques</a:t>
            </a:r>
            <a:endParaRPr b="0" lang="fr-FR" sz="1700" spc="-1" strike="noStrike">
              <a:solidFill>
                <a:srgbClr val="000000"/>
              </a:solidFill>
              <a:latin typeface="Arial"/>
            </a:endParaRPr>
          </a:p>
        </p:txBody>
      </p:sp>
      <p:sp>
        <p:nvSpPr>
          <p:cNvPr id="375" name="Text 15"/>
          <p:cNvSpPr/>
          <p:nvPr/>
        </p:nvSpPr>
        <p:spPr>
          <a:xfrm>
            <a:off x="1554480" y="3429000"/>
            <a:ext cx="42058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moyenne, écart-type, pente, corrélation température / gaz</a:t>
            </a:r>
            <a:endParaRPr b="0" lang="fr-FR" sz="1300" spc="-1" strike="noStrike">
              <a:solidFill>
                <a:srgbClr val="000000"/>
              </a:solidFill>
              <a:latin typeface="Arial"/>
            </a:endParaRPr>
          </a:p>
        </p:txBody>
      </p:sp>
      <p:sp>
        <p:nvSpPr>
          <p:cNvPr id="376" name="Pipeline Isolation Forest"/>
          <p:cNvSpPr/>
          <p:nvPr/>
        </p:nvSpPr>
        <p:spPr>
          <a:xfrm>
            <a:off x="548640" y="4160520"/>
            <a:ext cx="5394600" cy="1005480"/>
          </a:xfrm>
          <a:prstGeom prst="roundRect">
            <a:avLst>
              <a:gd name="adj" fmla="val 13636"/>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77" name="Numéro"/>
          <p:cNvSpPr/>
          <p:nvPr/>
        </p:nvSpPr>
        <p:spPr>
          <a:xfrm>
            <a:off x="777240" y="4389120"/>
            <a:ext cx="548280" cy="54828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78" name="Text 18"/>
          <p:cNvSpPr/>
          <p:nvPr/>
        </p:nvSpPr>
        <p:spPr>
          <a:xfrm>
            <a:off x="777240" y="438912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 strike="noStrike">
                <a:solidFill>
                  <a:srgbClr val="120b2e"/>
                </a:solidFill>
                <a:latin typeface="Calibri"/>
              </a:rPr>
              <a:t>3</a:t>
            </a:r>
            <a:endParaRPr b="0" lang="fr-FR" sz="2000" spc="-1" strike="noStrike">
              <a:solidFill>
                <a:srgbClr val="000000"/>
              </a:solidFill>
              <a:latin typeface="Arial"/>
            </a:endParaRPr>
          </a:p>
        </p:txBody>
      </p:sp>
      <p:sp>
        <p:nvSpPr>
          <p:cNvPr id="379" name="Text 19"/>
          <p:cNvSpPr/>
          <p:nvPr/>
        </p:nvSpPr>
        <p:spPr>
          <a:xfrm>
            <a:off x="1554480" y="4270320"/>
            <a:ext cx="42058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Isolation Forest</a:t>
            </a:r>
            <a:endParaRPr b="0" lang="fr-FR" sz="1700" spc="-1" strike="noStrike">
              <a:solidFill>
                <a:srgbClr val="000000"/>
              </a:solidFill>
              <a:latin typeface="Arial"/>
            </a:endParaRPr>
          </a:p>
        </p:txBody>
      </p:sp>
      <p:sp>
        <p:nvSpPr>
          <p:cNvPr id="380" name="Text 20"/>
          <p:cNvSpPr/>
          <p:nvPr/>
        </p:nvSpPr>
        <p:spPr>
          <a:xfrm>
            <a:off x="1554480" y="4617720"/>
            <a:ext cx="42058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200 arbres, non supervisé : il apprend le normal sur les vraies mesures</a:t>
            </a:r>
            <a:endParaRPr b="0" lang="fr-FR" sz="1300" spc="-1" strike="noStrike">
              <a:solidFill>
                <a:srgbClr val="000000"/>
              </a:solidFill>
              <a:latin typeface="Arial"/>
            </a:endParaRPr>
          </a:p>
        </p:txBody>
      </p:sp>
      <p:sp>
        <p:nvSpPr>
          <p:cNvPr id="381" name="Niveau Normal"/>
          <p:cNvSpPr/>
          <p:nvPr/>
        </p:nvSpPr>
        <p:spPr>
          <a:xfrm>
            <a:off x="6400800" y="1783080"/>
            <a:ext cx="5211720" cy="1005480"/>
          </a:xfrm>
          <a:prstGeom prst="roundRect">
            <a:avLst>
              <a:gd name="adj" fmla="val 13636"/>
            </a:avLst>
          </a:prstGeom>
          <a:solidFill>
            <a:srgbClr val="7adb4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82" name="Text 22"/>
          <p:cNvSpPr/>
          <p:nvPr/>
        </p:nvSpPr>
        <p:spPr>
          <a:xfrm>
            <a:off x="6675120" y="1911240"/>
            <a:ext cx="47545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rgbClr val="120b2e"/>
                </a:solidFill>
                <a:latin typeface="Calibri"/>
              </a:rPr>
              <a:t>Normal</a:t>
            </a:r>
            <a:endParaRPr b="0" lang="fr-FR" sz="1900" spc="-1" strike="noStrike">
              <a:solidFill>
                <a:srgbClr val="000000"/>
              </a:solidFill>
              <a:latin typeface="Arial"/>
            </a:endParaRPr>
          </a:p>
        </p:txBody>
      </p:sp>
      <p:sp>
        <p:nvSpPr>
          <p:cNvPr id="383" name="Text 23"/>
          <p:cNvSpPr/>
          <p:nvPr/>
        </p:nvSpPr>
        <p:spPr>
          <a:xfrm>
            <a:off x="6675120" y="2286000"/>
            <a:ext cx="475452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rien à signaler</a:t>
            </a:r>
            <a:endParaRPr b="0" lang="fr-FR" sz="1400" spc="-1" strike="noStrike">
              <a:solidFill>
                <a:srgbClr val="000000"/>
              </a:solidFill>
              <a:latin typeface="Arial"/>
            </a:endParaRPr>
          </a:p>
        </p:txBody>
      </p:sp>
      <p:sp>
        <p:nvSpPr>
          <p:cNvPr id="384" name="Niveau Avertissement"/>
          <p:cNvSpPr/>
          <p:nvPr/>
        </p:nvSpPr>
        <p:spPr>
          <a:xfrm>
            <a:off x="6720840" y="2971800"/>
            <a:ext cx="4891680" cy="1005480"/>
          </a:xfrm>
          <a:prstGeom prst="roundRect">
            <a:avLst>
              <a:gd name="adj" fmla="val 13636"/>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85" name="Text 25"/>
          <p:cNvSpPr/>
          <p:nvPr/>
        </p:nvSpPr>
        <p:spPr>
          <a:xfrm>
            <a:off x="6995160" y="3099960"/>
            <a:ext cx="44344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rgbClr val="120b2e"/>
                </a:solidFill>
                <a:latin typeface="Calibri"/>
              </a:rPr>
              <a:t>Avertissement</a:t>
            </a:r>
            <a:endParaRPr b="0" lang="fr-FR" sz="1900" spc="-1" strike="noStrike">
              <a:solidFill>
                <a:srgbClr val="000000"/>
              </a:solidFill>
              <a:latin typeface="Arial"/>
            </a:endParaRPr>
          </a:p>
        </p:txBody>
      </p:sp>
      <p:sp>
        <p:nvSpPr>
          <p:cNvPr id="386" name="Text 26"/>
          <p:cNvSpPr/>
          <p:nvPr/>
        </p:nvSpPr>
        <p:spPr>
          <a:xfrm>
            <a:off x="6995160" y="3474720"/>
            <a:ext cx="443448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2 fenêtres anormales d'affilée</a:t>
            </a:r>
            <a:endParaRPr b="0" lang="fr-FR" sz="1400" spc="-1" strike="noStrike">
              <a:solidFill>
                <a:srgbClr val="000000"/>
              </a:solidFill>
              <a:latin typeface="Arial"/>
            </a:endParaRPr>
          </a:p>
        </p:txBody>
      </p:sp>
      <p:sp>
        <p:nvSpPr>
          <p:cNvPr id="387" name="Niveau Confirmée"/>
          <p:cNvSpPr/>
          <p:nvPr/>
        </p:nvSpPr>
        <p:spPr>
          <a:xfrm>
            <a:off x="7040880" y="4160520"/>
            <a:ext cx="4571640" cy="1005480"/>
          </a:xfrm>
          <a:prstGeom prst="roundRect">
            <a:avLst>
              <a:gd name="adj" fmla="val 13636"/>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88" name="Text 28"/>
          <p:cNvSpPr/>
          <p:nvPr/>
        </p:nvSpPr>
        <p:spPr>
          <a:xfrm>
            <a:off x="7315200" y="4288680"/>
            <a:ext cx="41144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rgbClr val="120b2e"/>
                </a:solidFill>
                <a:latin typeface="Calibri"/>
              </a:rPr>
              <a:t>Confirmée</a:t>
            </a:r>
            <a:endParaRPr b="0" lang="fr-FR" sz="1900" spc="-1" strike="noStrike">
              <a:solidFill>
                <a:srgbClr val="000000"/>
              </a:solidFill>
              <a:latin typeface="Arial"/>
            </a:endParaRPr>
          </a:p>
        </p:txBody>
      </p:sp>
      <p:sp>
        <p:nvSpPr>
          <p:cNvPr id="389" name="Text 29"/>
          <p:cNvSpPr/>
          <p:nvPr/>
        </p:nvSpPr>
        <p:spPr>
          <a:xfrm>
            <a:off x="7315200" y="4663440"/>
            <a:ext cx="41144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5 fenêtres : la LED clignote</a:t>
            </a:r>
            <a:endParaRPr b="0" lang="fr-FR" sz="1400" spc="-1" strike="noStrike">
              <a:solidFill>
                <a:srgbClr val="000000"/>
              </a:solidFill>
              <a:latin typeface="Arial"/>
            </a:endParaRPr>
          </a:p>
        </p:txBody>
      </p:sp>
      <p:sp>
        <p:nvSpPr>
          <p:cNvPr id="390" name="Résultat 0,07 %"/>
          <p:cNvSpPr/>
          <p:nvPr/>
        </p:nvSpPr>
        <p:spPr>
          <a:xfrm>
            <a:off x="548640" y="5440680"/>
            <a:ext cx="3565800" cy="822600"/>
          </a:xfrm>
          <a:prstGeom prst="roundRect">
            <a:avLst>
              <a:gd name="adj" fmla="val 16667"/>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1" name="Text 31"/>
          <p:cNvSpPr/>
          <p:nvPr/>
        </p:nvSpPr>
        <p:spPr>
          <a:xfrm>
            <a:off x="777240" y="5440680"/>
            <a:ext cx="13712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00c9b7"/>
                </a:solidFill>
                <a:latin typeface="Arial"/>
                <a:ea typeface="Arial"/>
              </a:rPr>
              <a:t>0,07 %</a:t>
            </a:r>
            <a:endParaRPr b="0" lang="fr-FR" sz="2800" spc="-1" strike="noStrike">
              <a:solidFill>
                <a:srgbClr val="000000"/>
              </a:solidFill>
              <a:latin typeface="Arial"/>
            </a:endParaRPr>
          </a:p>
        </p:txBody>
      </p:sp>
      <p:sp>
        <p:nvSpPr>
          <p:cNvPr id="392" name="Text 32"/>
          <p:cNvSpPr/>
          <p:nvPr/>
        </p:nvSpPr>
        <p:spPr>
          <a:xfrm>
            <a:off x="2148840" y="5440680"/>
            <a:ext cx="1874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chemeClr val="lt1"/>
                </a:solidFill>
                <a:latin typeface="Calibri"/>
              </a:rPr>
              <a:t>de fausses alertes</a:t>
            </a:r>
            <a:endParaRPr b="0" lang="fr-FR" sz="1300" spc="-1" strike="noStrike">
              <a:solidFill>
                <a:srgbClr val="000000"/>
              </a:solidFill>
              <a:latin typeface="Arial"/>
            </a:endParaRPr>
          </a:p>
        </p:txBody>
      </p:sp>
      <p:sp>
        <p:nvSpPr>
          <p:cNvPr id="393" name="Résultat 10/10"/>
          <p:cNvSpPr/>
          <p:nvPr/>
        </p:nvSpPr>
        <p:spPr>
          <a:xfrm>
            <a:off x="4297680" y="5440680"/>
            <a:ext cx="3565800" cy="822600"/>
          </a:xfrm>
          <a:prstGeom prst="roundRect">
            <a:avLst>
              <a:gd name="adj" fmla="val 16667"/>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4" name="Text 34"/>
          <p:cNvSpPr/>
          <p:nvPr/>
        </p:nvSpPr>
        <p:spPr>
          <a:xfrm>
            <a:off x="4526280" y="5440680"/>
            <a:ext cx="13712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ffb400"/>
                </a:solidFill>
                <a:latin typeface="Arial"/>
                <a:ea typeface="Arial"/>
              </a:rPr>
              <a:t>10/10</a:t>
            </a:r>
            <a:endParaRPr b="0" lang="fr-FR" sz="2800" spc="-1" strike="noStrike">
              <a:solidFill>
                <a:srgbClr val="000000"/>
              </a:solidFill>
              <a:latin typeface="Arial"/>
            </a:endParaRPr>
          </a:p>
        </p:txBody>
      </p:sp>
      <p:sp>
        <p:nvSpPr>
          <p:cNvPr id="395" name="Text 35"/>
          <p:cNvSpPr/>
          <p:nvPr/>
        </p:nvSpPr>
        <p:spPr>
          <a:xfrm>
            <a:off x="5897880" y="5440680"/>
            <a:ext cx="1874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chemeClr val="lt1"/>
                </a:solidFill>
                <a:latin typeface="Calibri"/>
              </a:rPr>
              <a:t>dérives lentes, en 0,8 min</a:t>
            </a:r>
            <a:endParaRPr b="0" lang="fr-FR" sz="1300" spc="-1" strike="noStrike">
              <a:solidFill>
                <a:srgbClr val="000000"/>
              </a:solidFill>
              <a:latin typeface="Arial"/>
            </a:endParaRPr>
          </a:p>
        </p:txBody>
      </p:sp>
      <p:sp>
        <p:nvSpPr>
          <p:cNvPr id="396" name="Résultat 10/10"/>
          <p:cNvSpPr/>
          <p:nvPr/>
        </p:nvSpPr>
        <p:spPr>
          <a:xfrm>
            <a:off x="8046720" y="5440680"/>
            <a:ext cx="3565800" cy="822600"/>
          </a:xfrm>
          <a:prstGeom prst="roundRect">
            <a:avLst>
              <a:gd name="adj" fmla="val 16667"/>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7" name="Text 37"/>
          <p:cNvSpPr/>
          <p:nvPr/>
        </p:nvSpPr>
        <p:spPr>
          <a:xfrm>
            <a:off x="8275320" y="5440680"/>
            <a:ext cx="13712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ff4f81"/>
                </a:solidFill>
                <a:latin typeface="Arial"/>
                <a:ea typeface="Arial"/>
              </a:rPr>
              <a:t>10/10</a:t>
            </a:r>
            <a:endParaRPr b="0" lang="fr-FR" sz="2800" spc="-1" strike="noStrike">
              <a:solidFill>
                <a:srgbClr val="000000"/>
              </a:solidFill>
              <a:latin typeface="Arial"/>
            </a:endParaRPr>
          </a:p>
        </p:txBody>
      </p:sp>
      <p:sp>
        <p:nvSpPr>
          <p:cNvPr id="398" name="Text 38"/>
          <p:cNvSpPr/>
          <p:nvPr/>
        </p:nvSpPr>
        <p:spPr>
          <a:xfrm>
            <a:off x="9646920" y="5440680"/>
            <a:ext cx="1874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chemeClr val="lt1"/>
                </a:solidFill>
                <a:latin typeface="Calibri"/>
              </a:rPr>
              <a:t>pics de gaz, en 0,2 min</a:t>
            </a:r>
            <a:endParaRPr b="0" lang="fr-FR" sz="1300" spc="-1" strike="noStrike">
              <a:solidFill>
                <a:srgbClr val="000000"/>
              </a:solidFill>
              <a:latin typeface="Arial"/>
            </a:endParaRPr>
          </a:p>
        </p:txBody>
      </p:sp>
      <p:sp>
        <p:nvSpPr>
          <p:cNvPr id="399" name="PlaceHolder 2"/>
          <p:cNvSpPr>
            <a:spLocks noGrp="1"/>
          </p:cNvSpPr>
          <p:nvPr>
            <p:ph type="sldNum" idx="14"/>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356AC265-3EED-4C1A-B6A2-8F5888DE60AD}"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Surtitre"/>
          <p:cNvSpPr/>
          <p:nvPr/>
        </p:nvSpPr>
        <p:spPr>
          <a:xfrm>
            <a:off x="548640" y="384120"/>
            <a:ext cx="1320120" cy="29232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1" name="Text 1"/>
          <p:cNvSpPr/>
          <p:nvPr/>
        </p:nvSpPr>
        <p:spPr>
          <a:xfrm>
            <a:off x="548640" y="384120"/>
            <a:ext cx="13201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ffffff"/>
                </a:solidFill>
                <a:latin typeface="Calibri"/>
              </a:rPr>
              <a:t>CYBERSÉCURITÉ</a:t>
            </a:r>
            <a:endParaRPr b="0" lang="fr-FR" sz="1100" spc="-1" strike="noStrike">
              <a:solidFill>
                <a:srgbClr val="ffffff"/>
              </a:solidFill>
              <a:latin typeface="Arial"/>
            </a:endParaRPr>
          </a:p>
        </p:txBody>
      </p:sp>
      <p:sp>
        <p:nvSpPr>
          <p:cNvPr id="402"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Défense en profondeur</a:t>
            </a:r>
            <a:endParaRPr b="0" lang="fr-FR" sz="3400" spc="-1" strike="noStrike">
              <a:solidFill>
                <a:schemeClr val="dk1"/>
              </a:solidFill>
              <a:latin typeface="Calibri"/>
            </a:endParaRPr>
          </a:p>
        </p:txBody>
      </p:sp>
      <p:sp>
        <p:nvSpPr>
          <p:cNvPr id="403" name="TLS vérifié par le nœud"/>
          <p:cNvSpPr/>
          <p:nvPr/>
        </p:nvSpPr>
        <p:spPr>
          <a:xfrm>
            <a:off x="548640" y="178308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4" name="Pastille FaLock"/>
          <p:cNvSpPr/>
          <p:nvPr/>
        </p:nvSpPr>
        <p:spPr>
          <a:xfrm>
            <a:off x="777240" y="1984320"/>
            <a:ext cx="594000" cy="59400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05" name="Image 0" descr="FaLock"/>
          <p:cNvPicPr/>
          <p:nvPr/>
        </p:nvPicPr>
        <p:blipFill>
          <a:blip r:embed="rId1"/>
          <a:stretch/>
        </p:blipFill>
        <p:spPr>
          <a:xfrm>
            <a:off x="925920" y="2133000"/>
            <a:ext cx="297000" cy="297000"/>
          </a:xfrm>
          <a:prstGeom prst="rect">
            <a:avLst/>
          </a:prstGeom>
          <a:ln w="0">
            <a:noFill/>
          </a:ln>
        </p:spPr>
      </p:pic>
      <p:sp>
        <p:nvSpPr>
          <p:cNvPr id="406" name="Text 5"/>
          <p:cNvSpPr/>
          <p:nvPr/>
        </p:nvSpPr>
        <p:spPr>
          <a:xfrm>
            <a:off x="1554480" y="198432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TLS vérifié par le nœud</a:t>
            </a:r>
            <a:endParaRPr b="0" lang="fr-FR" sz="1700" spc="-1" strike="noStrike">
              <a:solidFill>
                <a:srgbClr val="ffffff"/>
              </a:solidFill>
              <a:latin typeface="Arial"/>
            </a:endParaRPr>
          </a:p>
        </p:txBody>
      </p:sp>
      <p:sp>
        <p:nvSpPr>
          <p:cNvPr id="407" name="Text 6"/>
          <p:cNvSpPr/>
          <p:nvPr/>
        </p:nvSpPr>
        <p:spPr>
          <a:xfrm>
            <a:off x="777240" y="274320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CA locale embarquée dans l'ESP32 : un faux broker est refusé.</a:t>
            </a:r>
            <a:endParaRPr b="0" lang="fr-FR" sz="1500" spc="-1" strike="noStrike">
              <a:solidFill>
                <a:srgbClr val="ffffff"/>
              </a:solidFill>
              <a:latin typeface="Arial"/>
            </a:endParaRPr>
          </a:p>
        </p:txBody>
      </p:sp>
      <p:sp>
        <p:nvSpPr>
          <p:cNvPr id="408" name="Un compte + ACL par nœud"/>
          <p:cNvSpPr/>
          <p:nvPr/>
        </p:nvSpPr>
        <p:spPr>
          <a:xfrm>
            <a:off x="4297680" y="178308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9" name="Pastille FaKey"/>
          <p:cNvSpPr/>
          <p:nvPr/>
        </p:nvSpPr>
        <p:spPr>
          <a:xfrm>
            <a:off x="4526280" y="1984320"/>
            <a:ext cx="594000" cy="59400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10" name="Image 1" descr="FaKey"/>
          <p:cNvPicPr/>
          <p:nvPr/>
        </p:nvPicPr>
        <p:blipFill>
          <a:blip r:embed="rId2"/>
          <a:stretch/>
        </p:blipFill>
        <p:spPr>
          <a:xfrm>
            <a:off x="4674960" y="2133000"/>
            <a:ext cx="297000" cy="297000"/>
          </a:xfrm>
          <a:prstGeom prst="rect">
            <a:avLst/>
          </a:prstGeom>
          <a:ln w="0">
            <a:noFill/>
          </a:ln>
        </p:spPr>
      </p:pic>
      <p:sp>
        <p:nvSpPr>
          <p:cNvPr id="411" name="Text 9"/>
          <p:cNvSpPr/>
          <p:nvPr/>
        </p:nvSpPr>
        <p:spPr>
          <a:xfrm>
            <a:off x="5303520" y="198432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Un compte + ACL par nœud</a:t>
            </a:r>
            <a:endParaRPr b="0" lang="fr-FR" sz="1700" spc="-1" strike="noStrike">
              <a:solidFill>
                <a:srgbClr val="ffffff"/>
              </a:solidFill>
              <a:latin typeface="Arial"/>
            </a:endParaRPr>
          </a:p>
        </p:txBody>
      </p:sp>
      <p:sp>
        <p:nvSpPr>
          <p:cNvPr id="412" name="Text 10"/>
          <p:cNvSpPr/>
          <p:nvPr/>
        </p:nvSpPr>
        <p:spPr>
          <a:xfrm>
            <a:off x="4526280" y="274320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Impossible de publier au nom d'un autre. Seul le backend écrit sur /cmd.</a:t>
            </a:r>
            <a:endParaRPr b="0" lang="fr-FR" sz="1500" spc="-1" strike="noStrike">
              <a:solidFill>
                <a:srgbClr val="ffffff"/>
              </a:solidFill>
              <a:latin typeface="Arial"/>
            </a:endParaRPr>
          </a:p>
        </p:txBody>
      </p:sp>
      <p:sp>
        <p:nvSpPr>
          <p:cNvPr id="413" name="Validation à l'entrée"/>
          <p:cNvSpPr/>
          <p:nvPr/>
        </p:nvSpPr>
        <p:spPr>
          <a:xfrm>
            <a:off x="8046720" y="178308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14" name="Pastille FaClipboardCheck"/>
          <p:cNvSpPr/>
          <p:nvPr/>
        </p:nvSpPr>
        <p:spPr>
          <a:xfrm>
            <a:off x="8275320" y="1984320"/>
            <a:ext cx="594000" cy="59400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15" name="Image 2" descr="FaClipboardCheck"/>
          <p:cNvPicPr/>
          <p:nvPr/>
        </p:nvPicPr>
        <p:blipFill>
          <a:blip r:embed="rId3"/>
          <a:stretch/>
        </p:blipFill>
        <p:spPr>
          <a:xfrm>
            <a:off x="8424000" y="2133000"/>
            <a:ext cx="297000" cy="297000"/>
          </a:xfrm>
          <a:prstGeom prst="rect">
            <a:avLst/>
          </a:prstGeom>
          <a:ln w="0">
            <a:noFill/>
          </a:ln>
        </p:spPr>
      </p:pic>
      <p:sp>
        <p:nvSpPr>
          <p:cNvPr id="416" name="Text 13"/>
          <p:cNvSpPr/>
          <p:nvPr/>
        </p:nvSpPr>
        <p:spPr>
          <a:xfrm>
            <a:off x="9052560" y="198432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Validation à l'entrée</a:t>
            </a:r>
            <a:endParaRPr b="0" lang="fr-FR" sz="1700" spc="-1" strike="noStrike">
              <a:solidFill>
                <a:srgbClr val="ffffff"/>
              </a:solidFill>
              <a:latin typeface="Arial"/>
            </a:endParaRPr>
          </a:p>
        </p:txBody>
      </p:sp>
      <p:sp>
        <p:nvSpPr>
          <p:cNvPr id="417" name="Text 14"/>
          <p:cNvSpPr/>
          <p:nvPr/>
        </p:nvSpPr>
        <p:spPr>
          <a:xfrm>
            <a:off x="8275320" y="274320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Format, plages, device_id = topic. Les messages louches sont rejetés et comptés.</a:t>
            </a:r>
            <a:endParaRPr b="0" lang="fr-FR" sz="1500" spc="-1" strike="noStrike">
              <a:solidFill>
                <a:srgbClr val="ffffff"/>
              </a:solidFill>
              <a:latin typeface="Arial"/>
            </a:endParaRPr>
          </a:p>
        </p:txBody>
      </p:sp>
      <p:sp>
        <p:nvSpPr>
          <p:cNvPr id="418" name="Moindre privilège"/>
          <p:cNvSpPr/>
          <p:nvPr/>
        </p:nvSpPr>
        <p:spPr>
          <a:xfrm>
            <a:off x="548640" y="397764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19" name="Pastille FaUserSecret"/>
          <p:cNvSpPr/>
          <p:nvPr/>
        </p:nvSpPr>
        <p:spPr>
          <a:xfrm>
            <a:off x="777240" y="4178880"/>
            <a:ext cx="594000" cy="59400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20" name="Image 3" descr="FaUserSecret"/>
          <p:cNvPicPr/>
          <p:nvPr/>
        </p:nvPicPr>
        <p:blipFill>
          <a:blip r:embed="rId4"/>
          <a:stretch/>
        </p:blipFill>
        <p:spPr>
          <a:xfrm>
            <a:off x="925920" y="4327560"/>
            <a:ext cx="297000" cy="297000"/>
          </a:xfrm>
          <a:prstGeom prst="rect">
            <a:avLst/>
          </a:prstGeom>
          <a:ln w="0">
            <a:noFill/>
          </a:ln>
        </p:spPr>
      </p:pic>
      <p:sp>
        <p:nvSpPr>
          <p:cNvPr id="421" name="Text 17"/>
          <p:cNvSpPr/>
          <p:nvPr/>
        </p:nvSpPr>
        <p:spPr>
          <a:xfrm>
            <a:off x="1554480" y="417888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Moindre privilège</a:t>
            </a:r>
            <a:endParaRPr b="0" lang="fr-FR" sz="1700" spc="-1" strike="noStrike">
              <a:solidFill>
                <a:srgbClr val="ffffff"/>
              </a:solidFill>
              <a:latin typeface="Arial"/>
            </a:endParaRPr>
          </a:p>
        </p:txBody>
      </p:sp>
      <p:sp>
        <p:nvSpPr>
          <p:cNvPr id="422" name="Text 18"/>
          <p:cNvSpPr/>
          <p:nvPr/>
        </p:nvSpPr>
        <p:spPr>
          <a:xfrm>
            <a:off x="777240" y="493776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Conteneurs non root, rôles writer / reader sur CouchDB, jetons opérateur / service.</a:t>
            </a:r>
            <a:endParaRPr b="0" lang="fr-FR" sz="1500" spc="-1" strike="noStrike">
              <a:solidFill>
                <a:srgbClr val="ffffff"/>
              </a:solidFill>
              <a:latin typeface="Arial"/>
            </a:endParaRPr>
          </a:p>
        </p:txBody>
      </p:sp>
      <p:sp>
        <p:nvSpPr>
          <p:cNvPr id="423" name="Surface minimale"/>
          <p:cNvSpPr/>
          <p:nvPr/>
        </p:nvSpPr>
        <p:spPr>
          <a:xfrm>
            <a:off x="4297680" y="397764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24" name="Pastille FaNetworkWired"/>
          <p:cNvSpPr/>
          <p:nvPr/>
        </p:nvSpPr>
        <p:spPr>
          <a:xfrm>
            <a:off x="4526280" y="4178880"/>
            <a:ext cx="594000" cy="59400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25" name="Image 4" descr="FaNetworkWired"/>
          <p:cNvPicPr/>
          <p:nvPr/>
        </p:nvPicPr>
        <p:blipFill>
          <a:blip r:embed="rId5"/>
          <a:stretch/>
        </p:blipFill>
        <p:spPr>
          <a:xfrm>
            <a:off x="4674960" y="4327560"/>
            <a:ext cx="297000" cy="297000"/>
          </a:xfrm>
          <a:prstGeom prst="rect">
            <a:avLst/>
          </a:prstGeom>
          <a:ln w="0">
            <a:noFill/>
          </a:ln>
        </p:spPr>
      </p:pic>
      <p:sp>
        <p:nvSpPr>
          <p:cNvPr id="426" name="Text 21"/>
          <p:cNvSpPr/>
          <p:nvPr/>
        </p:nvSpPr>
        <p:spPr>
          <a:xfrm>
            <a:off x="5303520" y="417888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Surface minimale</a:t>
            </a:r>
            <a:endParaRPr b="0" lang="fr-FR" sz="1700" spc="-1" strike="noStrike">
              <a:solidFill>
                <a:srgbClr val="ffffff"/>
              </a:solidFill>
              <a:latin typeface="Arial"/>
            </a:endParaRPr>
          </a:p>
        </p:txBody>
      </p:sp>
      <p:sp>
        <p:nvSpPr>
          <p:cNvPr id="427" name="Text 22"/>
          <p:cNvSpPr/>
          <p:nvPr/>
        </p:nvSpPr>
        <p:spPr>
          <a:xfrm>
            <a:off x="4526280" y="493776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1 seul port exposé, lié au hotspot. Dashboard sur la boucle locale.</a:t>
            </a:r>
            <a:endParaRPr b="0" lang="fr-FR" sz="1500" spc="-1" strike="noStrike">
              <a:solidFill>
                <a:srgbClr val="ffffff"/>
              </a:solidFill>
              <a:latin typeface="Arial"/>
            </a:endParaRPr>
          </a:p>
        </p:txBody>
      </p:sp>
      <p:sp>
        <p:nvSpPr>
          <p:cNvPr id="428" name="Chaîne d'approvisionnement"/>
          <p:cNvSpPr/>
          <p:nvPr/>
        </p:nvSpPr>
        <p:spPr>
          <a:xfrm>
            <a:off x="8046720" y="397764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29" name="Pastille FaShieldAlt"/>
          <p:cNvSpPr/>
          <p:nvPr/>
        </p:nvSpPr>
        <p:spPr>
          <a:xfrm>
            <a:off x="8275320" y="4178880"/>
            <a:ext cx="594000" cy="594000"/>
          </a:xfrm>
          <a:prstGeom prst="ellipse">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30" name="Image 5" descr="FaShieldAlt"/>
          <p:cNvPicPr/>
          <p:nvPr/>
        </p:nvPicPr>
        <p:blipFill>
          <a:blip r:embed="rId6"/>
          <a:stretch/>
        </p:blipFill>
        <p:spPr>
          <a:xfrm>
            <a:off x="8424000" y="4327560"/>
            <a:ext cx="297000" cy="297000"/>
          </a:xfrm>
          <a:prstGeom prst="rect">
            <a:avLst/>
          </a:prstGeom>
          <a:ln w="0">
            <a:noFill/>
          </a:ln>
        </p:spPr>
      </p:pic>
      <p:sp>
        <p:nvSpPr>
          <p:cNvPr id="431" name="Text 25"/>
          <p:cNvSpPr/>
          <p:nvPr/>
        </p:nvSpPr>
        <p:spPr>
          <a:xfrm>
            <a:off x="9052560" y="417888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Chaîne d'approvisionnement</a:t>
            </a:r>
            <a:endParaRPr b="0" lang="fr-FR" sz="1700" spc="-1" strike="noStrike">
              <a:solidFill>
                <a:srgbClr val="ffffff"/>
              </a:solidFill>
              <a:latin typeface="Arial"/>
            </a:endParaRPr>
          </a:p>
        </p:txBody>
      </p:sp>
      <p:sp>
        <p:nvSpPr>
          <p:cNvPr id="432" name="Text 26"/>
          <p:cNvSpPr/>
          <p:nvPr/>
        </p:nvSpPr>
        <p:spPr>
          <a:xfrm>
            <a:off x="8275320" y="493776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Images épinglées par @sha256, secrets hors dépôt git.</a:t>
            </a:r>
            <a:endParaRPr b="0" lang="fr-FR" sz="1500" spc="-1" strike="noStrike">
              <a:solidFill>
                <a:srgbClr val="ffffff"/>
              </a:solidFill>
              <a:latin typeface="Arial"/>
            </a:endParaRPr>
          </a:p>
        </p:txBody>
      </p:sp>
      <p:sp>
        <p:nvSpPr>
          <p:cNvPr id="433" name="PlaceHolder 2"/>
          <p:cNvSpPr>
            <a:spLocks noGrp="1"/>
          </p:cNvSpPr>
          <p:nvPr>
            <p:ph type="sldNum" idx="15"/>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C27FB8DF-FA2F-4F0F-957D-BECF8CBD4EE8}"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5"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6"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7" name="Surtitre"/>
          <p:cNvSpPr/>
          <p:nvPr/>
        </p:nvSpPr>
        <p:spPr>
          <a:xfrm>
            <a:off x="548640" y="384120"/>
            <a:ext cx="1051200" cy="29232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8" name="Text 4"/>
          <p:cNvSpPr/>
          <p:nvPr/>
        </p:nvSpPr>
        <p:spPr>
          <a:xfrm>
            <a:off x="548640" y="384120"/>
            <a:ext cx="10512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VALIDATION</a:t>
            </a:r>
            <a:endParaRPr b="0" lang="fr-FR" sz="1100" spc="-1" strike="noStrike">
              <a:solidFill>
                <a:srgbClr val="000000"/>
              </a:solidFill>
              <a:latin typeface="Arial"/>
            </a:endParaRPr>
          </a:p>
        </p:txBody>
      </p:sp>
      <p:sp>
        <p:nvSpPr>
          <p:cNvPr id="439"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Ce qu'on a essayé de casser</a:t>
            </a:r>
            <a:endParaRPr b="0" lang="fr-FR" sz="3400" spc="-1" strike="noStrike">
              <a:solidFill>
                <a:schemeClr val="dk1"/>
              </a:solidFill>
              <a:latin typeface="Calibri"/>
            </a:endParaRPr>
          </a:p>
        </p:txBody>
      </p:sp>
      <p:sp>
        <p:nvSpPr>
          <p:cNvPr id="440" name="Test Connexion TLS sans notre CA"/>
          <p:cNvSpPr/>
          <p:nvPr/>
        </p:nvSpPr>
        <p:spPr>
          <a:xfrm>
            <a:off x="548640" y="178308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41" name="Test réussi"/>
          <p:cNvSpPr/>
          <p:nvPr/>
        </p:nvSpPr>
        <p:spPr>
          <a:xfrm>
            <a:off x="731520" y="198432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42" name="Image 0" descr="Réussi"/>
          <p:cNvPicPr/>
          <p:nvPr/>
        </p:nvPicPr>
        <p:blipFill>
          <a:blip r:embed="rId1"/>
          <a:stretch/>
        </p:blipFill>
        <p:spPr>
          <a:xfrm>
            <a:off x="859680" y="2112120"/>
            <a:ext cx="255600" cy="255600"/>
          </a:xfrm>
          <a:prstGeom prst="rect">
            <a:avLst/>
          </a:prstGeom>
          <a:ln w="0">
            <a:noFill/>
          </a:ln>
        </p:spPr>
      </p:pic>
      <p:sp>
        <p:nvSpPr>
          <p:cNvPr id="443" name="Text 8"/>
          <p:cNvSpPr/>
          <p:nvPr/>
        </p:nvSpPr>
        <p:spPr>
          <a:xfrm>
            <a:off x="1417320" y="187452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Connexion TLS sans notre CA</a:t>
            </a:r>
            <a:endParaRPr b="0" lang="fr-FR" sz="1500" spc="-1" strike="noStrike">
              <a:solidFill>
                <a:srgbClr val="000000"/>
              </a:solidFill>
              <a:latin typeface="Arial"/>
            </a:endParaRPr>
          </a:p>
        </p:txBody>
      </p:sp>
      <p:sp>
        <p:nvSpPr>
          <p:cNvPr id="444" name="Étiquette"/>
          <p:cNvSpPr/>
          <p:nvPr/>
        </p:nvSpPr>
        <p:spPr>
          <a:xfrm>
            <a:off x="4297680" y="205740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45" name="Text 10"/>
          <p:cNvSpPr/>
          <p:nvPr/>
        </p:nvSpPr>
        <p:spPr>
          <a:xfrm>
            <a:off x="4297680" y="205740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refusée</a:t>
            </a:r>
            <a:endParaRPr b="0" lang="fr-FR" sz="1200" spc="-1" strike="noStrike">
              <a:solidFill>
                <a:srgbClr val="000000"/>
              </a:solidFill>
              <a:latin typeface="Arial"/>
            </a:endParaRPr>
          </a:p>
        </p:txBody>
      </p:sp>
      <p:sp>
        <p:nvSpPr>
          <p:cNvPr id="446" name="Test Broker : anonyme, mauvais mot de passe"/>
          <p:cNvSpPr/>
          <p:nvPr/>
        </p:nvSpPr>
        <p:spPr>
          <a:xfrm>
            <a:off x="6172200" y="178308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47" name="Test réussi"/>
          <p:cNvSpPr/>
          <p:nvPr/>
        </p:nvSpPr>
        <p:spPr>
          <a:xfrm>
            <a:off x="6355080" y="198432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48" name="Image 1" descr="Réussi"/>
          <p:cNvPicPr/>
          <p:nvPr/>
        </p:nvPicPr>
        <p:blipFill>
          <a:blip r:embed="rId2"/>
          <a:stretch/>
        </p:blipFill>
        <p:spPr>
          <a:xfrm>
            <a:off x="6483240" y="2112120"/>
            <a:ext cx="255600" cy="255600"/>
          </a:xfrm>
          <a:prstGeom prst="rect">
            <a:avLst/>
          </a:prstGeom>
          <a:ln w="0">
            <a:noFill/>
          </a:ln>
        </p:spPr>
      </p:pic>
      <p:sp>
        <p:nvSpPr>
          <p:cNvPr id="449" name="Text 13"/>
          <p:cNvSpPr/>
          <p:nvPr/>
        </p:nvSpPr>
        <p:spPr>
          <a:xfrm>
            <a:off x="7040880" y="187452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Broker : anonyme, mauvais mot de passe</a:t>
            </a:r>
            <a:endParaRPr b="0" lang="fr-FR" sz="1500" spc="-1" strike="noStrike">
              <a:solidFill>
                <a:srgbClr val="000000"/>
              </a:solidFill>
              <a:latin typeface="Arial"/>
            </a:endParaRPr>
          </a:p>
        </p:txBody>
      </p:sp>
      <p:sp>
        <p:nvSpPr>
          <p:cNvPr id="450" name="Étiquette"/>
          <p:cNvSpPr/>
          <p:nvPr/>
        </p:nvSpPr>
        <p:spPr>
          <a:xfrm>
            <a:off x="9921240" y="205740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51" name="Text 15"/>
          <p:cNvSpPr/>
          <p:nvPr/>
        </p:nvSpPr>
        <p:spPr>
          <a:xfrm>
            <a:off x="9921240" y="205740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refusés</a:t>
            </a:r>
            <a:endParaRPr b="0" lang="fr-FR" sz="1200" spc="-1" strike="noStrike">
              <a:solidFill>
                <a:srgbClr val="000000"/>
              </a:solidFill>
              <a:latin typeface="Arial"/>
            </a:endParaRPr>
          </a:p>
        </p:txBody>
      </p:sp>
      <p:sp>
        <p:nvSpPr>
          <p:cNvPr id="452" name="Test Un nœud publie au nom d'un autre"/>
          <p:cNvSpPr/>
          <p:nvPr/>
        </p:nvSpPr>
        <p:spPr>
          <a:xfrm>
            <a:off x="548640" y="288036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53" name="Test réussi"/>
          <p:cNvSpPr/>
          <p:nvPr/>
        </p:nvSpPr>
        <p:spPr>
          <a:xfrm>
            <a:off x="731520" y="308160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54" name="Image 2" descr="Réussi"/>
          <p:cNvPicPr/>
          <p:nvPr/>
        </p:nvPicPr>
        <p:blipFill>
          <a:blip r:embed="rId3"/>
          <a:stretch/>
        </p:blipFill>
        <p:spPr>
          <a:xfrm>
            <a:off x="859680" y="3209400"/>
            <a:ext cx="255600" cy="255600"/>
          </a:xfrm>
          <a:prstGeom prst="rect">
            <a:avLst/>
          </a:prstGeom>
          <a:ln w="0">
            <a:noFill/>
          </a:ln>
        </p:spPr>
      </p:pic>
      <p:sp>
        <p:nvSpPr>
          <p:cNvPr id="455" name="Text 18"/>
          <p:cNvSpPr/>
          <p:nvPr/>
        </p:nvSpPr>
        <p:spPr>
          <a:xfrm>
            <a:off x="1417320" y="297180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Un nœud publie au nom d'un autre</a:t>
            </a:r>
            <a:endParaRPr b="0" lang="fr-FR" sz="1500" spc="-1" strike="noStrike">
              <a:solidFill>
                <a:srgbClr val="000000"/>
              </a:solidFill>
              <a:latin typeface="Arial"/>
            </a:endParaRPr>
          </a:p>
        </p:txBody>
      </p:sp>
      <p:sp>
        <p:nvSpPr>
          <p:cNvPr id="456" name="Étiquette"/>
          <p:cNvSpPr/>
          <p:nvPr/>
        </p:nvSpPr>
        <p:spPr>
          <a:xfrm>
            <a:off x="4297680" y="315468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57" name="Text 20"/>
          <p:cNvSpPr/>
          <p:nvPr/>
        </p:nvSpPr>
        <p:spPr>
          <a:xfrm>
            <a:off x="4297680" y="315468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bloqué</a:t>
            </a:r>
            <a:endParaRPr b="0" lang="fr-FR" sz="1200" spc="-1" strike="noStrike">
              <a:solidFill>
                <a:srgbClr val="000000"/>
              </a:solidFill>
              <a:latin typeface="Arial"/>
            </a:endParaRPr>
          </a:p>
        </p:txBody>
      </p:sp>
      <p:sp>
        <p:nvSpPr>
          <p:cNvPr id="458" name="Test device_id différent du topic"/>
          <p:cNvSpPr/>
          <p:nvPr/>
        </p:nvSpPr>
        <p:spPr>
          <a:xfrm>
            <a:off x="6172200" y="288036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59" name="Test réussi"/>
          <p:cNvSpPr/>
          <p:nvPr/>
        </p:nvSpPr>
        <p:spPr>
          <a:xfrm>
            <a:off x="6355080" y="308160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60" name="Image 3" descr="Réussi"/>
          <p:cNvPicPr/>
          <p:nvPr/>
        </p:nvPicPr>
        <p:blipFill>
          <a:blip r:embed="rId4"/>
          <a:stretch/>
        </p:blipFill>
        <p:spPr>
          <a:xfrm>
            <a:off x="6483240" y="3209400"/>
            <a:ext cx="255600" cy="255600"/>
          </a:xfrm>
          <a:prstGeom prst="rect">
            <a:avLst/>
          </a:prstGeom>
          <a:ln w="0">
            <a:noFill/>
          </a:ln>
        </p:spPr>
      </p:pic>
      <p:sp>
        <p:nvSpPr>
          <p:cNvPr id="461" name="Text 23"/>
          <p:cNvSpPr/>
          <p:nvPr/>
        </p:nvSpPr>
        <p:spPr>
          <a:xfrm>
            <a:off x="7040880" y="297180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device_id différent du topic</a:t>
            </a:r>
            <a:endParaRPr b="0" lang="fr-FR" sz="1500" spc="-1" strike="noStrike">
              <a:solidFill>
                <a:srgbClr val="000000"/>
              </a:solidFill>
              <a:latin typeface="Arial"/>
            </a:endParaRPr>
          </a:p>
        </p:txBody>
      </p:sp>
      <p:sp>
        <p:nvSpPr>
          <p:cNvPr id="462" name="Étiquette"/>
          <p:cNvSpPr/>
          <p:nvPr/>
        </p:nvSpPr>
        <p:spPr>
          <a:xfrm>
            <a:off x="9921240" y="315468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63" name="Text 25"/>
          <p:cNvSpPr/>
          <p:nvPr/>
        </p:nvSpPr>
        <p:spPr>
          <a:xfrm>
            <a:off x="9921240" y="315468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rejeté + compté</a:t>
            </a:r>
            <a:endParaRPr b="0" lang="fr-FR" sz="1200" spc="-1" strike="noStrike">
              <a:solidFill>
                <a:srgbClr val="000000"/>
              </a:solidFill>
              <a:latin typeface="Arial"/>
            </a:endParaRPr>
          </a:p>
        </p:txBody>
      </p:sp>
      <p:sp>
        <p:nvSpPr>
          <p:cNvPr id="464" name="Test CouchDB : anonyme, écriture par ia"/>
          <p:cNvSpPr/>
          <p:nvPr/>
        </p:nvSpPr>
        <p:spPr>
          <a:xfrm>
            <a:off x="548640" y="397764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65" name="Test réussi"/>
          <p:cNvSpPr/>
          <p:nvPr/>
        </p:nvSpPr>
        <p:spPr>
          <a:xfrm>
            <a:off x="731520" y="417888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66" name="Image 4" descr="Réussi"/>
          <p:cNvPicPr/>
          <p:nvPr/>
        </p:nvPicPr>
        <p:blipFill>
          <a:blip r:embed="rId5"/>
          <a:stretch/>
        </p:blipFill>
        <p:spPr>
          <a:xfrm>
            <a:off x="859680" y="4306680"/>
            <a:ext cx="255600" cy="255600"/>
          </a:xfrm>
          <a:prstGeom prst="rect">
            <a:avLst/>
          </a:prstGeom>
          <a:ln w="0">
            <a:noFill/>
          </a:ln>
        </p:spPr>
      </p:pic>
      <p:sp>
        <p:nvSpPr>
          <p:cNvPr id="467" name="Text 28"/>
          <p:cNvSpPr/>
          <p:nvPr/>
        </p:nvSpPr>
        <p:spPr>
          <a:xfrm>
            <a:off x="1417320" y="406908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CouchDB : anonyme, écriture par ia</a:t>
            </a:r>
            <a:endParaRPr b="0" lang="fr-FR" sz="1500" spc="-1" strike="noStrike">
              <a:solidFill>
                <a:srgbClr val="000000"/>
              </a:solidFill>
              <a:latin typeface="Arial"/>
            </a:endParaRPr>
          </a:p>
        </p:txBody>
      </p:sp>
      <p:sp>
        <p:nvSpPr>
          <p:cNvPr id="468" name="Étiquette"/>
          <p:cNvSpPr/>
          <p:nvPr/>
        </p:nvSpPr>
        <p:spPr>
          <a:xfrm>
            <a:off x="4297680" y="425196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69" name="Text 30"/>
          <p:cNvSpPr/>
          <p:nvPr/>
        </p:nvSpPr>
        <p:spPr>
          <a:xfrm>
            <a:off x="4297680" y="425196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 403</a:t>
            </a:r>
            <a:endParaRPr b="0" lang="fr-FR" sz="1200" spc="-1" strike="noStrike">
              <a:solidFill>
                <a:srgbClr val="000000"/>
              </a:solidFill>
              <a:latin typeface="Arial"/>
            </a:endParaRPr>
          </a:p>
        </p:txBody>
      </p:sp>
      <p:sp>
        <p:nvSpPr>
          <p:cNvPr id="470" name="Test API : sans jeton, jeton service sur commande"/>
          <p:cNvSpPr/>
          <p:nvPr/>
        </p:nvSpPr>
        <p:spPr>
          <a:xfrm>
            <a:off x="6172200" y="397764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71" name="Test réussi"/>
          <p:cNvSpPr/>
          <p:nvPr/>
        </p:nvSpPr>
        <p:spPr>
          <a:xfrm>
            <a:off x="6355080" y="417888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72" name="Image 5" descr="Réussi"/>
          <p:cNvPicPr/>
          <p:nvPr/>
        </p:nvPicPr>
        <p:blipFill>
          <a:blip r:embed="rId6"/>
          <a:stretch/>
        </p:blipFill>
        <p:spPr>
          <a:xfrm>
            <a:off x="6483240" y="4306680"/>
            <a:ext cx="255600" cy="255600"/>
          </a:xfrm>
          <a:prstGeom prst="rect">
            <a:avLst/>
          </a:prstGeom>
          <a:ln w="0">
            <a:noFill/>
          </a:ln>
        </p:spPr>
      </p:pic>
      <p:sp>
        <p:nvSpPr>
          <p:cNvPr id="473" name="Text 33"/>
          <p:cNvSpPr/>
          <p:nvPr/>
        </p:nvSpPr>
        <p:spPr>
          <a:xfrm>
            <a:off x="7040880" y="406908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API : sans jeton, jeton service sur commande</a:t>
            </a:r>
            <a:endParaRPr b="0" lang="fr-FR" sz="1500" spc="-1" strike="noStrike">
              <a:solidFill>
                <a:srgbClr val="000000"/>
              </a:solidFill>
              <a:latin typeface="Arial"/>
            </a:endParaRPr>
          </a:p>
        </p:txBody>
      </p:sp>
      <p:sp>
        <p:nvSpPr>
          <p:cNvPr id="474" name="Étiquette"/>
          <p:cNvSpPr/>
          <p:nvPr/>
        </p:nvSpPr>
        <p:spPr>
          <a:xfrm>
            <a:off x="9921240" y="425196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75" name="Text 35"/>
          <p:cNvSpPr/>
          <p:nvPr/>
        </p:nvSpPr>
        <p:spPr>
          <a:xfrm>
            <a:off x="9921240" y="425196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 403</a:t>
            </a:r>
            <a:endParaRPr b="0" lang="fr-FR" sz="1200" spc="-1" strike="noStrike">
              <a:solidFill>
                <a:srgbClr val="000000"/>
              </a:solidFill>
              <a:latin typeface="Arial"/>
            </a:endParaRPr>
          </a:p>
        </p:txBody>
      </p:sp>
      <p:sp>
        <p:nvSpPr>
          <p:cNvPr id="476" name="Test WebSocket : mauvais jeton, origine étrangère"/>
          <p:cNvSpPr/>
          <p:nvPr/>
        </p:nvSpPr>
        <p:spPr>
          <a:xfrm>
            <a:off x="548640" y="507492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77" name="Test réussi"/>
          <p:cNvSpPr/>
          <p:nvPr/>
        </p:nvSpPr>
        <p:spPr>
          <a:xfrm>
            <a:off x="731520" y="527616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78" name="Image 6" descr="Réussi"/>
          <p:cNvPicPr/>
          <p:nvPr/>
        </p:nvPicPr>
        <p:blipFill>
          <a:blip r:embed="rId7"/>
          <a:stretch/>
        </p:blipFill>
        <p:spPr>
          <a:xfrm>
            <a:off x="859680" y="5403960"/>
            <a:ext cx="255600" cy="255600"/>
          </a:xfrm>
          <a:prstGeom prst="rect">
            <a:avLst/>
          </a:prstGeom>
          <a:ln w="0">
            <a:noFill/>
          </a:ln>
        </p:spPr>
      </p:pic>
      <p:sp>
        <p:nvSpPr>
          <p:cNvPr id="479" name="Text 38"/>
          <p:cNvSpPr/>
          <p:nvPr/>
        </p:nvSpPr>
        <p:spPr>
          <a:xfrm>
            <a:off x="1417320" y="516636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WebSocket : mauvais jeton, origine étrangère</a:t>
            </a:r>
            <a:endParaRPr b="0" lang="fr-FR" sz="1500" spc="-1" strike="noStrike">
              <a:solidFill>
                <a:srgbClr val="000000"/>
              </a:solidFill>
              <a:latin typeface="Arial"/>
            </a:endParaRPr>
          </a:p>
        </p:txBody>
      </p:sp>
      <p:sp>
        <p:nvSpPr>
          <p:cNvPr id="480" name="Étiquette"/>
          <p:cNvSpPr/>
          <p:nvPr/>
        </p:nvSpPr>
        <p:spPr>
          <a:xfrm>
            <a:off x="4297680" y="534924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81" name="Text 40"/>
          <p:cNvSpPr/>
          <p:nvPr/>
        </p:nvSpPr>
        <p:spPr>
          <a:xfrm>
            <a:off x="4297680" y="534924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 403</a:t>
            </a:r>
            <a:endParaRPr b="0" lang="fr-FR" sz="1200" spc="-1" strike="noStrike">
              <a:solidFill>
                <a:srgbClr val="000000"/>
              </a:solidFill>
              <a:latin typeface="Arial"/>
            </a:endParaRPr>
          </a:p>
        </p:txBody>
      </p:sp>
      <p:sp>
        <p:nvSpPr>
          <p:cNvPr id="482" name="Test Flux caméra sans clé (avec clé)"/>
          <p:cNvSpPr/>
          <p:nvPr/>
        </p:nvSpPr>
        <p:spPr>
          <a:xfrm>
            <a:off x="6172200" y="507492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83" name="Test réussi"/>
          <p:cNvSpPr/>
          <p:nvPr/>
        </p:nvSpPr>
        <p:spPr>
          <a:xfrm>
            <a:off x="6355080" y="527616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84" name="Image 7" descr="Réussi"/>
          <p:cNvPicPr/>
          <p:nvPr/>
        </p:nvPicPr>
        <p:blipFill>
          <a:blip r:embed="rId8"/>
          <a:stretch/>
        </p:blipFill>
        <p:spPr>
          <a:xfrm>
            <a:off x="6483240" y="5403960"/>
            <a:ext cx="255600" cy="255600"/>
          </a:xfrm>
          <a:prstGeom prst="rect">
            <a:avLst/>
          </a:prstGeom>
          <a:ln w="0">
            <a:noFill/>
          </a:ln>
        </p:spPr>
      </p:pic>
      <p:sp>
        <p:nvSpPr>
          <p:cNvPr id="485" name="Text 43"/>
          <p:cNvSpPr/>
          <p:nvPr/>
        </p:nvSpPr>
        <p:spPr>
          <a:xfrm>
            <a:off x="7040880" y="516636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Flux caméra sans clé (avec clé)</a:t>
            </a:r>
            <a:endParaRPr b="0" lang="fr-FR" sz="1500" spc="-1" strike="noStrike">
              <a:solidFill>
                <a:srgbClr val="000000"/>
              </a:solidFill>
              <a:latin typeface="Arial"/>
            </a:endParaRPr>
          </a:p>
        </p:txBody>
      </p:sp>
      <p:sp>
        <p:nvSpPr>
          <p:cNvPr id="486" name="Étiquette"/>
          <p:cNvSpPr/>
          <p:nvPr/>
        </p:nvSpPr>
        <p:spPr>
          <a:xfrm>
            <a:off x="9921240" y="534924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87" name="Text 45"/>
          <p:cNvSpPr/>
          <p:nvPr/>
        </p:nvSpPr>
        <p:spPr>
          <a:xfrm>
            <a:off x="9921240" y="534924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(200)</a:t>
            </a:r>
            <a:endParaRPr b="0" lang="fr-FR" sz="1200" spc="-1" strike="noStrike">
              <a:solidFill>
                <a:srgbClr val="000000"/>
              </a:solidFill>
              <a:latin typeface="Arial"/>
            </a:endParaRPr>
          </a:p>
        </p:txBody>
      </p:sp>
      <p:sp>
        <p:nvSpPr>
          <p:cNvPr id="488" name="Text 46"/>
          <p:cNvSpPr/>
          <p:nvPr/>
        </p:nvSpPr>
        <p:spPr>
          <a:xfrm>
            <a:off x="548640" y="6126480"/>
            <a:ext cx="10332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200" spc="-1" strike="noStrike">
                <a:solidFill>
                  <a:srgbClr val="5b5780"/>
                </a:solidFill>
                <a:latin typeface="Calibri"/>
              </a:rPr>
              <a:t>Aussi : tests unitaires Go avec détection de courses, et pile complète validée avec un nœud ESP32 simulé en MQTTS.</a:t>
            </a:r>
            <a:endParaRPr b="0" lang="fr-FR" sz="1200" spc="-1" strike="noStrike">
              <a:solidFill>
                <a:srgbClr val="000000"/>
              </a:solidFill>
              <a:latin typeface="Arial"/>
            </a:endParaRPr>
          </a:p>
        </p:txBody>
      </p:sp>
      <p:sp>
        <p:nvSpPr>
          <p:cNvPr id="489" name="PlaceHolder 2"/>
          <p:cNvSpPr>
            <a:spLocks noGrp="1"/>
          </p:cNvSpPr>
          <p:nvPr>
            <p:ph type="sldNum" idx="16"/>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19FFFCB5-06B6-4BCD-B254-F02680077D24}"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1"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2"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3" name="Surtitre"/>
          <p:cNvSpPr/>
          <p:nvPr/>
        </p:nvSpPr>
        <p:spPr>
          <a:xfrm>
            <a:off x="548640" y="384120"/>
            <a:ext cx="87192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4" name="Text 4"/>
          <p:cNvSpPr/>
          <p:nvPr/>
        </p:nvSpPr>
        <p:spPr>
          <a:xfrm>
            <a:off x="548640" y="384120"/>
            <a:ext cx="8719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LUCIDITÉ</a:t>
            </a:r>
            <a:endParaRPr b="0" lang="fr-FR" sz="1100" spc="-1" strike="noStrike">
              <a:solidFill>
                <a:srgbClr val="000000"/>
              </a:solidFill>
              <a:latin typeface="Arial"/>
            </a:endParaRPr>
          </a:p>
        </p:txBody>
      </p:sp>
      <p:sp>
        <p:nvSpPr>
          <p:cNvPr id="49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Nos limites, nos prochaines étapes</a:t>
            </a:r>
            <a:endParaRPr b="0" lang="fr-FR" sz="3400" spc="-1" strike="noStrike">
              <a:solidFill>
                <a:schemeClr val="dk1"/>
              </a:solidFill>
              <a:latin typeface="Calibri"/>
            </a:endParaRPr>
          </a:p>
        </p:txBody>
      </p:sp>
      <p:sp>
        <p:nvSpPr>
          <p:cNvPr id="496" name="Limite Hôte non durci"/>
          <p:cNvSpPr/>
          <p:nvPr/>
        </p:nvSpPr>
        <p:spPr>
          <a:xfrm>
            <a:off x="548640" y="178308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7" name="Pastille limite"/>
          <p:cNvSpPr/>
          <p:nvPr/>
        </p:nvSpPr>
        <p:spPr>
          <a:xfrm>
            <a:off x="777240" y="2030040"/>
            <a:ext cx="237240" cy="23724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8" name="Text 8"/>
          <p:cNvSpPr/>
          <p:nvPr/>
        </p:nvSpPr>
        <p:spPr>
          <a:xfrm>
            <a:off x="1143000" y="196596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Hôte non durci</a:t>
            </a:r>
            <a:endParaRPr b="0" lang="fr-FR" sz="1700" spc="-1" strike="noStrike">
              <a:solidFill>
                <a:srgbClr val="000000"/>
              </a:solidFill>
              <a:latin typeface="Arial"/>
            </a:endParaRPr>
          </a:p>
        </p:txBody>
      </p:sp>
      <p:sp>
        <p:nvSpPr>
          <p:cNvPr id="499" name="Text 9"/>
          <p:cNvSpPr/>
          <p:nvPr/>
        </p:nvSpPr>
        <p:spPr>
          <a:xfrm>
            <a:off x="777240" y="251460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Portable utilisé sur place (option B).</a:t>
            </a:r>
            <a:endParaRPr b="0" lang="fr-FR" sz="1400" spc="-1" strike="noStrike">
              <a:solidFill>
                <a:srgbClr val="000000"/>
              </a:solidFill>
              <a:latin typeface="Arial"/>
            </a:endParaRPr>
          </a:p>
        </p:txBody>
      </p:sp>
      <p:sp>
        <p:nvSpPr>
          <p:cNvPr id="500" name="Text 10"/>
          <p:cNvSpPr/>
          <p:nvPr/>
        </p:nvSpPr>
        <p:spPr>
          <a:xfrm>
            <a:off x="777240" y="306324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UFW, SSH par clés, UID remappés (option A)</a:t>
            </a:r>
            <a:endParaRPr b="0" lang="fr-FR" sz="1400" spc="-1" strike="noStrike">
              <a:solidFill>
                <a:srgbClr val="000000"/>
              </a:solidFill>
              <a:latin typeface="Arial"/>
            </a:endParaRPr>
          </a:p>
        </p:txBody>
      </p:sp>
      <p:sp>
        <p:nvSpPr>
          <p:cNvPr id="501" name="Limite Wi-Fi WPA2 partagé"/>
          <p:cNvSpPr/>
          <p:nvPr/>
        </p:nvSpPr>
        <p:spPr>
          <a:xfrm>
            <a:off x="4297680" y="178308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02" name="Pastille limite"/>
          <p:cNvSpPr/>
          <p:nvPr/>
        </p:nvSpPr>
        <p:spPr>
          <a:xfrm>
            <a:off x="4526280" y="2030040"/>
            <a:ext cx="237240" cy="23724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03" name="Text 13"/>
          <p:cNvSpPr/>
          <p:nvPr/>
        </p:nvSpPr>
        <p:spPr>
          <a:xfrm>
            <a:off x="4892040" y="196596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Wi-Fi WPA2 partagé</a:t>
            </a:r>
            <a:endParaRPr b="0" lang="fr-FR" sz="1700" spc="-1" strike="noStrike">
              <a:solidFill>
                <a:srgbClr val="000000"/>
              </a:solidFill>
              <a:latin typeface="Arial"/>
            </a:endParaRPr>
          </a:p>
        </p:txBody>
      </p:sp>
      <p:sp>
        <p:nvSpPr>
          <p:cNvPr id="504" name="Text 14"/>
          <p:cNvSpPr/>
          <p:nvPr/>
        </p:nvSpPr>
        <p:spPr>
          <a:xfrm>
            <a:off x="4526280" y="251460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Qui a le mot de passe rejoint le réseau.</a:t>
            </a:r>
            <a:endParaRPr b="0" lang="fr-FR" sz="1400" spc="-1" strike="noStrike">
              <a:solidFill>
                <a:srgbClr val="000000"/>
              </a:solidFill>
              <a:latin typeface="Arial"/>
            </a:endParaRPr>
          </a:p>
        </p:txBody>
      </p:sp>
      <p:sp>
        <p:nvSpPr>
          <p:cNvPr id="505" name="Text 15"/>
          <p:cNvSpPr/>
          <p:nvPr/>
        </p:nvSpPr>
        <p:spPr>
          <a:xfrm>
            <a:off x="4526280" y="306324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WPA3 ou isolation des clients</a:t>
            </a:r>
            <a:endParaRPr b="0" lang="fr-FR" sz="1400" spc="-1" strike="noStrike">
              <a:solidFill>
                <a:srgbClr val="000000"/>
              </a:solidFill>
              <a:latin typeface="Arial"/>
            </a:endParaRPr>
          </a:p>
        </p:txBody>
      </p:sp>
      <p:sp>
        <p:nvSpPr>
          <p:cNvPr id="506" name="Limite Mot de passe dans la flash"/>
          <p:cNvSpPr/>
          <p:nvPr/>
        </p:nvSpPr>
        <p:spPr>
          <a:xfrm>
            <a:off x="8046720" y="178308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07" name="Pastille limite"/>
          <p:cNvSpPr/>
          <p:nvPr/>
        </p:nvSpPr>
        <p:spPr>
          <a:xfrm>
            <a:off x="8275320" y="2030040"/>
            <a:ext cx="237240" cy="2372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08" name="Text 18"/>
          <p:cNvSpPr/>
          <p:nvPr/>
        </p:nvSpPr>
        <p:spPr>
          <a:xfrm>
            <a:off x="8641080" y="196596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Mot de passe dans la flash</a:t>
            </a:r>
            <a:endParaRPr b="0" lang="fr-FR" sz="1700" spc="-1" strike="noStrike">
              <a:solidFill>
                <a:srgbClr val="000000"/>
              </a:solidFill>
              <a:latin typeface="Arial"/>
            </a:endParaRPr>
          </a:p>
        </p:txBody>
      </p:sp>
      <p:sp>
        <p:nvSpPr>
          <p:cNvPr id="509" name="Text 19"/>
          <p:cNvSpPr/>
          <p:nvPr/>
        </p:nvSpPr>
        <p:spPr>
          <a:xfrm>
            <a:off x="8275320" y="251460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Lisible si l'ESP32 est volé.</a:t>
            </a:r>
            <a:endParaRPr b="0" lang="fr-FR" sz="1400" spc="-1" strike="noStrike">
              <a:solidFill>
                <a:srgbClr val="000000"/>
              </a:solidFill>
              <a:latin typeface="Arial"/>
            </a:endParaRPr>
          </a:p>
        </p:txBody>
      </p:sp>
      <p:sp>
        <p:nvSpPr>
          <p:cNvPr id="510" name="Text 20"/>
          <p:cNvSpPr/>
          <p:nvPr/>
        </p:nvSpPr>
        <p:spPr>
          <a:xfrm>
            <a:off x="8275320" y="306324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mTLS par nœud, flash chiffrée</a:t>
            </a:r>
            <a:endParaRPr b="0" lang="fr-FR" sz="1400" spc="-1" strike="noStrike">
              <a:solidFill>
                <a:srgbClr val="000000"/>
              </a:solidFill>
              <a:latin typeface="Arial"/>
            </a:endParaRPr>
          </a:p>
        </p:txBody>
      </p:sp>
      <p:sp>
        <p:nvSpPr>
          <p:cNvPr id="511" name="Limite MQ-2 sans pont diviseur"/>
          <p:cNvSpPr/>
          <p:nvPr/>
        </p:nvSpPr>
        <p:spPr>
          <a:xfrm>
            <a:off x="548640" y="402336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12" name="Pastille limite"/>
          <p:cNvSpPr/>
          <p:nvPr/>
        </p:nvSpPr>
        <p:spPr>
          <a:xfrm>
            <a:off x="777240" y="4270320"/>
            <a:ext cx="237240" cy="23724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13" name="Text 23"/>
          <p:cNvSpPr/>
          <p:nvPr/>
        </p:nvSpPr>
        <p:spPr>
          <a:xfrm>
            <a:off x="1143000" y="420624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MQ-2 sans pont diviseur</a:t>
            </a:r>
            <a:endParaRPr b="0" lang="fr-FR" sz="1700" spc="-1" strike="noStrike">
              <a:solidFill>
                <a:srgbClr val="000000"/>
              </a:solidFill>
              <a:latin typeface="Arial"/>
            </a:endParaRPr>
          </a:p>
        </p:txBody>
      </p:sp>
      <p:sp>
        <p:nvSpPr>
          <p:cNvPr id="514" name="Text 24"/>
          <p:cNvSpPr/>
          <p:nvPr/>
        </p:nvSpPr>
        <p:spPr>
          <a:xfrm>
            <a:off x="777240" y="475488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AO peut dépasser 3,3 V sous gaz fort.</a:t>
            </a:r>
            <a:endParaRPr b="0" lang="fr-FR" sz="1400" spc="-1" strike="noStrike">
              <a:solidFill>
                <a:srgbClr val="000000"/>
              </a:solidFill>
              <a:latin typeface="Arial"/>
            </a:endParaRPr>
          </a:p>
        </p:txBody>
      </p:sp>
      <p:sp>
        <p:nvSpPr>
          <p:cNvPr id="515" name="Text 25"/>
          <p:cNvSpPr/>
          <p:nvPr/>
        </p:nvSpPr>
        <p:spPr>
          <a:xfrm>
            <a:off x="777240" y="530352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Pont 10 kΩ / 20 kΩ, puis réentraînement</a:t>
            </a:r>
            <a:endParaRPr b="0" lang="fr-FR" sz="1400" spc="-1" strike="noStrike">
              <a:solidFill>
                <a:srgbClr val="000000"/>
              </a:solidFill>
              <a:latin typeface="Arial"/>
            </a:endParaRPr>
          </a:p>
        </p:txBody>
      </p:sp>
      <p:sp>
        <p:nvSpPr>
          <p:cNvPr id="516" name="Limite MQ-2 non étalonné"/>
          <p:cNvSpPr/>
          <p:nvPr/>
        </p:nvSpPr>
        <p:spPr>
          <a:xfrm>
            <a:off x="4297680" y="402336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17" name="Pastille limite"/>
          <p:cNvSpPr/>
          <p:nvPr/>
        </p:nvSpPr>
        <p:spPr>
          <a:xfrm>
            <a:off x="4526280" y="4270320"/>
            <a:ext cx="237240" cy="23724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18" name="Text 28"/>
          <p:cNvSpPr/>
          <p:nvPr/>
        </p:nvSpPr>
        <p:spPr>
          <a:xfrm>
            <a:off x="4892040" y="420624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MQ-2 non étalonné</a:t>
            </a:r>
            <a:endParaRPr b="0" lang="fr-FR" sz="1700" spc="-1" strike="noStrike">
              <a:solidFill>
                <a:srgbClr val="000000"/>
              </a:solidFill>
              <a:latin typeface="Arial"/>
            </a:endParaRPr>
          </a:p>
        </p:txBody>
      </p:sp>
      <p:sp>
        <p:nvSpPr>
          <p:cNvPr id="519" name="Text 29"/>
          <p:cNvSpPr/>
          <p:nvPr/>
        </p:nvSpPr>
        <p:spPr>
          <a:xfrm>
            <a:off x="4526280" y="475488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Des mV relatifs, pas de ppm.</a:t>
            </a:r>
            <a:endParaRPr b="0" lang="fr-FR" sz="1400" spc="-1" strike="noStrike">
              <a:solidFill>
                <a:srgbClr val="000000"/>
              </a:solidFill>
              <a:latin typeface="Arial"/>
            </a:endParaRPr>
          </a:p>
        </p:txBody>
      </p:sp>
      <p:sp>
        <p:nvSpPr>
          <p:cNvPr id="520" name="Text 30"/>
          <p:cNvSpPr/>
          <p:nvPr/>
        </p:nvSpPr>
        <p:spPr>
          <a:xfrm>
            <a:off x="4526280" y="530352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Étalonnage R0 en air propre</a:t>
            </a:r>
            <a:endParaRPr b="0" lang="fr-FR" sz="1400" spc="-1" strike="noStrike">
              <a:solidFill>
                <a:srgbClr val="000000"/>
              </a:solidFill>
              <a:latin typeface="Arial"/>
            </a:endParaRPr>
          </a:p>
        </p:txBody>
      </p:sp>
      <p:sp>
        <p:nvSpPr>
          <p:cNvPr id="521" name="Limite IA : peu de données"/>
          <p:cNvSpPr/>
          <p:nvPr/>
        </p:nvSpPr>
        <p:spPr>
          <a:xfrm>
            <a:off x="8046720" y="402336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22" name="Pastille limite"/>
          <p:cNvSpPr/>
          <p:nvPr/>
        </p:nvSpPr>
        <p:spPr>
          <a:xfrm>
            <a:off x="8275320" y="4270320"/>
            <a:ext cx="237240" cy="237240"/>
          </a:xfrm>
          <a:prstGeom prst="ellipse">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23" name="Text 33"/>
          <p:cNvSpPr/>
          <p:nvPr/>
        </p:nvSpPr>
        <p:spPr>
          <a:xfrm>
            <a:off x="8641080" y="420624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IA : peu de données</a:t>
            </a:r>
            <a:endParaRPr b="0" lang="fr-FR" sz="1700" spc="-1" strike="noStrike">
              <a:solidFill>
                <a:srgbClr val="000000"/>
              </a:solidFill>
              <a:latin typeface="Arial"/>
            </a:endParaRPr>
          </a:p>
        </p:txBody>
      </p:sp>
      <p:sp>
        <p:nvSpPr>
          <p:cNvPr id="524" name="Text 34"/>
          <p:cNvSpPr/>
          <p:nvPr/>
        </p:nvSpPr>
        <p:spPr>
          <a:xfrm>
            <a:off x="8275320" y="475488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Cycles jour / nuit pas encore appris.</a:t>
            </a:r>
            <a:endParaRPr b="0" lang="fr-FR" sz="1400" spc="-1" strike="noStrike">
              <a:solidFill>
                <a:srgbClr val="000000"/>
              </a:solidFill>
              <a:latin typeface="Arial"/>
            </a:endParaRPr>
          </a:p>
        </p:txBody>
      </p:sp>
      <p:sp>
        <p:nvSpPr>
          <p:cNvPr id="525" name="Text 35"/>
          <p:cNvSpPr/>
          <p:nvPr/>
        </p:nvSpPr>
        <p:spPr>
          <a:xfrm>
            <a:off x="8275320" y="530352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Collecte sur plusieurs jours</a:t>
            </a:r>
            <a:endParaRPr b="0" lang="fr-FR" sz="1400" spc="-1" strike="noStrike">
              <a:solidFill>
                <a:srgbClr val="000000"/>
              </a:solidFill>
              <a:latin typeface="Arial"/>
            </a:endParaRPr>
          </a:p>
        </p:txBody>
      </p:sp>
      <p:sp>
        <p:nvSpPr>
          <p:cNvPr id="526" name="PlaceHolder 2"/>
          <p:cNvSpPr>
            <a:spLocks noGrp="1"/>
          </p:cNvSpPr>
          <p:nvPr>
            <p:ph type="sldNum" idx="17"/>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5AE32338-555D-485B-97B6-0E558CD12F03}"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Anneau radar"/>
          <p:cNvSpPr/>
          <p:nvPr/>
        </p:nvSpPr>
        <p:spPr>
          <a:xfrm>
            <a:off x="7863840" y="2468880"/>
            <a:ext cx="2742840" cy="2742840"/>
          </a:xfrm>
          <a:prstGeom prst="ellipse">
            <a:avLst/>
          </a:prstGeom>
          <a:noFill/>
          <a:ln w="28575">
            <a:solidFill>
              <a:srgbClr val="00c9b7">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28" name="Anneau radar"/>
          <p:cNvSpPr/>
          <p:nvPr/>
        </p:nvSpPr>
        <p:spPr>
          <a:xfrm>
            <a:off x="7406640" y="2011680"/>
            <a:ext cx="3657240" cy="3657240"/>
          </a:xfrm>
          <a:prstGeom prst="ellipse">
            <a:avLst/>
          </a:prstGeom>
          <a:noFill/>
          <a:ln w="28575">
            <a:solidFill>
              <a:srgbClr val="ff4f81">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29" name="Anneau radar"/>
          <p:cNvSpPr/>
          <p:nvPr/>
        </p:nvSpPr>
        <p:spPr>
          <a:xfrm>
            <a:off x="6949440" y="1554480"/>
            <a:ext cx="4571640" cy="4571640"/>
          </a:xfrm>
          <a:prstGeom prst="ellipse">
            <a:avLst/>
          </a:prstGeom>
          <a:noFill/>
          <a:ln w="28575">
            <a:solidFill>
              <a:srgbClr val="6c3bff">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30" name="Point radar"/>
          <p:cNvSpPr/>
          <p:nvPr/>
        </p:nvSpPr>
        <p:spPr>
          <a:xfrm>
            <a:off x="10391400" y="2410200"/>
            <a:ext cx="273960" cy="27396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31" name="Point radar"/>
          <p:cNvSpPr/>
          <p:nvPr/>
        </p:nvSpPr>
        <p:spPr>
          <a:xfrm>
            <a:off x="6950160" y="4485240"/>
            <a:ext cx="273960" cy="2739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32" name="Point radar"/>
          <p:cNvSpPr/>
          <p:nvPr/>
        </p:nvSpPr>
        <p:spPr>
          <a:xfrm>
            <a:off x="9802440" y="4909320"/>
            <a:ext cx="237240" cy="2372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33" name="Disque central"/>
          <p:cNvSpPr/>
          <p:nvPr/>
        </p:nvSpPr>
        <p:spPr>
          <a:xfrm>
            <a:off x="8138160" y="2743200"/>
            <a:ext cx="2194200" cy="219420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34" name="Text 7"/>
          <p:cNvSpPr/>
          <p:nvPr/>
        </p:nvSpPr>
        <p:spPr>
          <a:xfrm>
            <a:off x="8138160" y="2743200"/>
            <a:ext cx="2194200" cy="2194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3400" spc="-1" strike="noStrike">
                <a:solidFill>
                  <a:srgbClr val="120b2e"/>
                </a:solidFill>
                <a:latin typeface="Arial"/>
                <a:ea typeface="Arial"/>
              </a:rPr>
              <a:t>Merci !</a:t>
            </a:r>
            <a:endParaRPr b="0" lang="fr-FR" sz="3400" spc="-1" strike="noStrike">
              <a:solidFill>
                <a:srgbClr val="ffffff"/>
              </a:solidFill>
              <a:latin typeface="Arial"/>
            </a:endParaRPr>
          </a:p>
          <a:p>
            <a:pPr algn="ctr" defTabSz="914400">
              <a:lnSpc>
                <a:spcPct val="100000"/>
              </a:lnSpc>
              <a:tabLst>
                <a:tab algn="l" pos="0"/>
              </a:tabLst>
            </a:pPr>
            <a:r>
              <a:rPr b="0" lang="en-US" sz="1600" spc="-1" strike="noStrike">
                <a:solidFill>
                  <a:srgbClr val="120b2e"/>
                </a:solidFill>
                <a:latin typeface="Arial"/>
                <a:ea typeface="Arial"/>
              </a:rPr>
              <a:t>Des questions ?</a:t>
            </a:r>
            <a:endParaRPr b="0" lang="fr-FR" sz="1600" spc="-1" strike="noStrike">
              <a:solidFill>
                <a:srgbClr val="ffffff"/>
              </a:solidFill>
              <a:latin typeface="Arial"/>
            </a:endParaRPr>
          </a:p>
        </p:txBody>
      </p:sp>
      <p:sp>
        <p:nvSpPr>
          <p:cNvPr id="535" name="Surtitre"/>
          <p:cNvSpPr/>
          <p:nvPr/>
        </p:nvSpPr>
        <p:spPr>
          <a:xfrm>
            <a:off x="548640" y="384120"/>
            <a:ext cx="105120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36" name="Text 9"/>
          <p:cNvSpPr/>
          <p:nvPr/>
        </p:nvSpPr>
        <p:spPr>
          <a:xfrm>
            <a:off x="548640" y="384120"/>
            <a:ext cx="10512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CONCLUSION</a:t>
            </a:r>
            <a:endParaRPr b="0" lang="fr-FR" sz="1100" spc="-1" strike="noStrike">
              <a:solidFill>
                <a:srgbClr val="ffffff"/>
              </a:solidFill>
              <a:latin typeface="Arial"/>
            </a:endParaRPr>
          </a:p>
        </p:txBody>
      </p:sp>
      <p:sp>
        <p:nvSpPr>
          <p:cNvPr id="537"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Livré, testé, verrouillé</a:t>
            </a:r>
            <a:endParaRPr b="0" lang="fr-FR" sz="3400" spc="-1" strike="noStrike">
              <a:solidFill>
                <a:schemeClr val="dk1"/>
              </a:solidFill>
              <a:latin typeface="Calibri"/>
            </a:endParaRPr>
          </a:p>
        </p:txBody>
      </p:sp>
      <p:sp>
        <p:nvSpPr>
          <p:cNvPr id="538" name="Pastille réussi"/>
          <p:cNvSpPr/>
          <p:nvPr/>
        </p:nvSpPr>
        <p:spPr>
          <a:xfrm>
            <a:off x="548640" y="1874520"/>
            <a:ext cx="502560" cy="50256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539" name="Image 0" descr="Fait"/>
          <p:cNvPicPr/>
          <p:nvPr/>
        </p:nvPicPr>
        <p:blipFill>
          <a:blip r:embed="rId1"/>
          <a:stretch/>
        </p:blipFill>
        <p:spPr>
          <a:xfrm>
            <a:off x="676800" y="2002680"/>
            <a:ext cx="246600" cy="246600"/>
          </a:xfrm>
          <a:prstGeom prst="rect">
            <a:avLst/>
          </a:prstGeom>
          <a:ln w="0">
            <a:noFill/>
          </a:ln>
        </p:spPr>
      </p:pic>
      <p:sp>
        <p:nvSpPr>
          <p:cNvPr id="540" name="Text 12"/>
          <p:cNvSpPr/>
          <p:nvPr/>
        </p:nvSpPr>
        <p:spPr>
          <a:xfrm>
            <a:off x="1280160" y="182880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Nœud ESP32  </a:t>
            </a:r>
            <a:r>
              <a:rPr b="0" lang="en-US" sz="1400" spc="-1" strike="noStrike">
                <a:solidFill>
                  <a:srgbClr val="b9b3e6"/>
                </a:solidFill>
                <a:latin typeface="Calibri"/>
              </a:rPr>
              <a:t>capteurs, JSON, MQTTS, LED d'alerte</a:t>
            </a:r>
            <a:endParaRPr b="0" lang="fr-FR" sz="1400" spc="-1" strike="noStrike">
              <a:solidFill>
                <a:srgbClr val="ffffff"/>
              </a:solidFill>
              <a:latin typeface="Arial"/>
            </a:endParaRPr>
          </a:p>
        </p:txBody>
      </p:sp>
      <p:sp>
        <p:nvSpPr>
          <p:cNvPr id="541" name="Pastille réussi"/>
          <p:cNvSpPr/>
          <p:nvPr/>
        </p:nvSpPr>
        <p:spPr>
          <a:xfrm>
            <a:off x="548640" y="2651760"/>
            <a:ext cx="502560" cy="50256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542" name="Image 1" descr="Fait"/>
          <p:cNvPicPr/>
          <p:nvPr/>
        </p:nvPicPr>
        <p:blipFill>
          <a:blip r:embed="rId2"/>
          <a:stretch/>
        </p:blipFill>
        <p:spPr>
          <a:xfrm>
            <a:off x="676800" y="2779920"/>
            <a:ext cx="246600" cy="246600"/>
          </a:xfrm>
          <a:prstGeom prst="rect">
            <a:avLst/>
          </a:prstGeom>
          <a:ln w="0">
            <a:noFill/>
          </a:ln>
        </p:spPr>
      </p:pic>
      <p:sp>
        <p:nvSpPr>
          <p:cNvPr id="543" name="Text 14"/>
          <p:cNvSpPr/>
          <p:nvPr/>
        </p:nvSpPr>
        <p:spPr>
          <a:xfrm>
            <a:off x="1280160" y="260604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Infra Docker  </a:t>
            </a:r>
            <a:r>
              <a:rPr b="0" lang="en-US" sz="1400" spc="-1" strike="noStrike">
                <a:solidFill>
                  <a:srgbClr val="b9b3e6"/>
                </a:solidFill>
                <a:latin typeface="Calibri"/>
              </a:rPr>
              <a:t>7 services, déploiement hors ligne</a:t>
            </a:r>
            <a:endParaRPr b="0" lang="fr-FR" sz="1400" spc="-1" strike="noStrike">
              <a:solidFill>
                <a:srgbClr val="ffffff"/>
              </a:solidFill>
              <a:latin typeface="Arial"/>
            </a:endParaRPr>
          </a:p>
        </p:txBody>
      </p:sp>
      <p:sp>
        <p:nvSpPr>
          <p:cNvPr id="544" name="Pastille réussi"/>
          <p:cNvSpPr/>
          <p:nvPr/>
        </p:nvSpPr>
        <p:spPr>
          <a:xfrm>
            <a:off x="548640" y="3429000"/>
            <a:ext cx="502560" cy="50256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545" name="Image 2" descr="Fait"/>
          <p:cNvPicPr/>
          <p:nvPr/>
        </p:nvPicPr>
        <p:blipFill>
          <a:blip r:embed="rId3"/>
          <a:stretch/>
        </p:blipFill>
        <p:spPr>
          <a:xfrm>
            <a:off x="676800" y="3557160"/>
            <a:ext cx="246600" cy="246600"/>
          </a:xfrm>
          <a:prstGeom prst="rect">
            <a:avLst/>
          </a:prstGeom>
          <a:ln w="0">
            <a:noFill/>
          </a:ln>
        </p:spPr>
      </p:pic>
      <p:sp>
        <p:nvSpPr>
          <p:cNvPr id="546" name="Text 16"/>
          <p:cNvSpPr/>
          <p:nvPr/>
        </p:nvSpPr>
        <p:spPr>
          <a:xfrm>
            <a:off x="1280160" y="338328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Backend &amp; dashboard  </a:t>
            </a:r>
            <a:r>
              <a:rPr b="0" lang="en-US" sz="1400" spc="-1" strike="noStrike">
                <a:solidFill>
                  <a:srgbClr val="b9b3e6"/>
                </a:solidFill>
                <a:latin typeface="Calibri"/>
              </a:rPr>
              <a:t>API, WebSocket, historique, alertes</a:t>
            </a:r>
            <a:endParaRPr b="0" lang="fr-FR" sz="1400" spc="-1" strike="noStrike">
              <a:solidFill>
                <a:srgbClr val="ffffff"/>
              </a:solidFill>
              <a:latin typeface="Arial"/>
            </a:endParaRPr>
          </a:p>
        </p:txBody>
      </p:sp>
      <p:sp>
        <p:nvSpPr>
          <p:cNvPr id="547" name="Pastille réussi"/>
          <p:cNvSpPr/>
          <p:nvPr/>
        </p:nvSpPr>
        <p:spPr>
          <a:xfrm>
            <a:off x="548640" y="4206240"/>
            <a:ext cx="502560" cy="50256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548" name="Image 3" descr="Fait"/>
          <p:cNvPicPr/>
          <p:nvPr/>
        </p:nvPicPr>
        <p:blipFill>
          <a:blip r:embed="rId4"/>
          <a:stretch/>
        </p:blipFill>
        <p:spPr>
          <a:xfrm>
            <a:off x="676800" y="4334400"/>
            <a:ext cx="246600" cy="246600"/>
          </a:xfrm>
          <a:prstGeom prst="rect">
            <a:avLst/>
          </a:prstGeom>
          <a:ln w="0">
            <a:noFill/>
          </a:ln>
        </p:spPr>
      </p:pic>
      <p:sp>
        <p:nvSpPr>
          <p:cNvPr id="549" name="Text 18"/>
          <p:cNvSpPr/>
          <p:nvPr/>
        </p:nvSpPr>
        <p:spPr>
          <a:xfrm>
            <a:off x="1280160" y="416052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Deux IA  </a:t>
            </a:r>
            <a:r>
              <a:rPr b="0" lang="en-US" sz="1400" spc="-1" strike="noStrike">
                <a:solidFill>
                  <a:srgbClr val="b9b3e6"/>
                </a:solidFill>
                <a:latin typeface="Calibri"/>
              </a:rPr>
              <a:t>vision YOLOv8n et prédiction Isolation Forest</a:t>
            </a:r>
            <a:endParaRPr b="0" lang="fr-FR" sz="1400" spc="-1" strike="noStrike">
              <a:solidFill>
                <a:srgbClr val="ffffff"/>
              </a:solidFill>
              <a:latin typeface="Arial"/>
            </a:endParaRPr>
          </a:p>
        </p:txBody>
      </p:sp>
      <p:sp>
        <p:nvSpPr>
          <p:cNvPr id="550" name="Pastille réussi"/>
          <p:cNvSpPr/>
          <p:nvPr/>
        </p:nvSpPr>
        <p:spPr>
          <a:xfrm>
            <a:off x="548640" y="4983480"/>
            <a:ext cx="502560" cy="502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551" name="Image 4" descr="Fait"/>
          <p:cNvPicPr/>
          <p:nvPr/>
        </p:nvPicPr>
        <p:blipFill>
          <a:blip r:embed="rId5"/>
          <a:stretch/>
        </p:blipFill>
        <p:spPr>
          <a:xfrm>
            <a:off x="676800" y="5111640"/>
            <a:ext cx="246600" cy="246600"/>
          </a:xfrm>
          <a:prstGeom prst="rect">
            <a:avLst/>
          </a:prstGeom>
          <a:ln w="0">
            <a:noFill/>
          </a:ln>
        </p:spPr>
      </p:pic>
      <p:sp>
        <p:nvSpPr>
          <p:cNvPr id="552" name="Text 20"/>
          <p:cNvSpPr/>
          <p:nvPr/>
        </p:nvSpPr>
        <p:spPr>
          <a:xfrm>
            <a:off x="1280160" y="493776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Sécurité  </a:t>
            </a:r>
            <a:r>
              <a:rPr b="0" lang="en-US" sz="1400" spc="-1" strike="noStrike">
                <a:solidFill>
                  <a:srgbClr val="b9b3e6"/>
                </a:solidFill>
                <a:latin typeface="Calibri"/>
              </a:rPr>
              <a:t>TLS, ACL par nœud, un seul port exposé</a:t>
            </a:r>
            <a:endParaRPr b="0" lang="fr-FR" sz="1400" spc="-1" strike="noStrike">
              <a:solidFill>
                <a:srgbClr val="ffffff"/>
              </a:solidFill>
              <a:latin typeface="Arial"/>
            </a:endParaRPr>
          </a:p>
        </p:txBody>
      </p:sp>
      <p:sp>
        <p:nvSpPr>
          <p:cNvPr id="553" name="Text 21"/>
          <p:cNvSpPr/>
          <p:nvPr/>
        </p:nvSpPr>
        <p:spPr>
          <a:xfrm>
            <a:off x="548640" y="5943600"/>
            <a:ext cx="612612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b9b3e6"/>
                </a:solidFill>
                <a:latin typeface="Calibri"/>
              </a:rPr>
              <a:t>Julien · Lucas · Rem · Latif  —  groupe 04 · consortium VIG1L-8</a:t>
            </a:r>
            <a:endParaRPr b="0" lang="fr-FR" sz="1200" spc="-1" strike="noStrike">
              <a:solidFill>
                <a:srgbClr val="ffffff"/>
              </a:solidFill>
              <a:latin typeface="Arial"/>
            </a:endParaRPr>
          </a:p>
        </p:txBody>
      </p:sp>
      <p:sp>
        <p:nvSpPr>
          <p:cNvPr id="554" name="PlaceHolder 2"/>
          <p:cNvSpPr>
            <a:spLocks noGrp="1"/>
          </p:cNvSpPr>
          <p:nvPr>
            <p:ph type="sldNum" idx="18"/>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9C8EFFCF-6703-46E6-956E-C04160D3C577}"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496000" y="579000"/>
            <a:ext cx="5200000" cy="5200000"/>
          </a:xfrm>
          <a:prstGeom prst="ellipse">
            <a:avLst/>
          </a:prstGeom>
          <a:noFill/>
          <a:ln w="15875">
            <a:solidFill>
              <a:srgbClr val="2B1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4096000" y="1179000"/>
            <a:ext cx="4000000" cy="4000000"/>
          </a:xfrm>
          <a:prstGeom prst="ellipse">
            <a:avLst/>
          </a:prstGeom>
          <a:noFill/>
          <a:ln w="15875">
            <a:solidFill>
              <a:srgbClr val="2B1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696000" y="1779000"/>
            <a:ext cx="2800000" cy="2800000"/>
          </a:xfrm>
          <a:prstGeom prst="ellipse">
            <a:avLst/>
          </a:prstGeom>
          <a:noFill/>
          <a:ln w="15875">
            <a:solidFill>
              <a:srgbClr val="2B1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46000" y="2350000"/>
            <a:ext cx="900000" cy="60000"/>
          </a:xfrm>
          <a:prstGeom prst="roundRect">
            <a:avLst/>
          </a:prstGeom>
          <a:solidFill>
            <a:srgbClr val="6C3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0000" y="2550000"/>
            <a:ext cx="10992000" cy="1000000"/>
          </a:xfrm>
          <a:prstGeom prst="rect">
            <a:avLst/>
          </a:prstGeom>
          <a:noFill/>
        </p:spPr>
        <p:txBody>
          <a:bodyPr wrap="square" anchor="ctr">
            <a:spAutoFit/>
          </a:bodyPr>
          <a:lstStyle/>
          <a:p>
            <a:pPr algn="ctr"/>
            <a:r>
              <a:rPr sz="4800" b="1">
                <a:solidFill>
                  <a:srgbClr val="FFFFFF"/>
                </a:solidFill>
                <a:latin typeface="Arial"/>
              </a:rPr>
              <a:t>Merci de votre attention</a:t>
            </a:r>
          </a:p>
        </p:txBody>
      </p:sp>
      <p:sp>
        <p:nvSpPr>
          <p:cNvPr id="7" name="TextBox 6"/>
          <p:cNvSpPr txBox="1"/>
          <p:nvPr/>
        </p:nvSpPr>
        <p:spPr>
          <a:xfrm>
            <a:off x="600000" y="3600000"/>
            <a:ext cx="10992000" cy="450000"/>
          </a:xfrm>
          <a:prstGeom prst="rect">
            <a:avLst/>
          </a:prstGeom>
          <a:noFill/>
        </p:spPr>
        <p:txBody>
          <a:bodyPr wrap="square" anchor="ctr">
            <a:spAutoFit/>
          </a:bodyPr>
          <a:lstStyle/>
          <a:p>
            <a:pPr algn="ctr"/>
            <a:r>
              <a:rPr sz="1800" b="1">
                <a:solidFill>
                  <a:srgbClr val="00C9B7"/>
                </a:solidFill>
                <a:latin typeface="Courier New"/>
              </a:rPr>
              <a:t>Sentinel-X · Groupe 04 · consortium VIG1L-8</a:t>
            </a:r>
          </a:p>
        </p:txBody>
      </p:sp>
      <p:sp>
        <p:nvSpPr>
          <p:cNvPr id="8" name="TextBox 7"/>
          <p:cNvSpPr txBox="1"/>
          <p:nvPr/>
        </p:nvSpPr>
        <p:spPr>
          <a:xfrm>
            <a:off x="600000" y="4100000"/>
            <a:ext cx="10992000" cy="400000"/>
          </a:xfrm>
          <a:prstGeom prst="rect">
            <a:avLst/>
          </a:prstGeom>
          <a:noFill/>
        </p:spPr>
        <p:txBody>
          <a:bodyPr wrap="square" anchor="ctr">
            <a:spAutoFit/>
          </a:bodyPr>
          <a:lstStyle/>
          <a:p>
            <a:pPr algn="ctr"/>
            <a:r>
              <a:rPr sz="1400" b="0">
                <a:solidFill>
                  <a:srgbClr val="B9B3E6"/>
                </a:solidFill>
                <a:latin typeface="Calibri"/>
              </a:rPr>
              <a:t>Julien DAUVERGNE · Lucas DIOT · Rem TSHIMANGA · Latif MOUINOU</a:t>
            </a:r>
          </a:p>
        </p:txBody>
      </p:sp>
    </p:spTree>
  </p:cSld>
  <p:clrMapOvr>
    <a:masterClrMapping/>
  </p:clrMapOvr>
</p:sld>
</file>

<file path=ppt/theme/theme1.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2026-10-08T08:28:36Z</dcterms:created>
  <dc:creator>Groupe GXX</dc:creator>
  <dc:description/>
  <dc:language>fr-FR</dc:language>
  <cp:lastModifiedBy/>
  <dcterms:modified xsi:type="dcterms:W3CDTF">2026-10-08T13:31:57Z</dcterms:modified>
  <cp:revision>2</cp:revision>
  <dc:subject>PptxGenJS Presentation</dc:subject>
  <dc:title>Sentinel-X — Workshop EPSI 2026</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15</vt:i4>
  </property>
  <property fmtid="{D5CDD505-2E9C-101B-9397-08002B2CF9AE}" pid="3" name="PresentationFormat">
    <vt:lpwstr>On-screen Show (16:9)</vt:lpwstr>
  </property>
  <property fmtid="{D5CDD505-2E9C-101B-9397-08002B2CF9AE}" pid="4" name="Slides">
    <vt:i4>14</vt:i4>
  </property>
</Properties>
</file>